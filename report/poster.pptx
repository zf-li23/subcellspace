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200000" cy="324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20000" y="540000"/>
            <a:ext cx="41760000" cy="25200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40000" y="720000"/>
            <a:ext cx="4032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SubCellSpace: A Unified Database for</a:t>
            </a:r>
            <a:br/>
            <a:r>
              <a:t>Subcellular Spatial Transcriptomics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1980000"/>
            <a:ext cx="40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DC3C7"/>
                </a:solidFill>
              </a:defRPr>
            </a:pPr>
            <a:r>
              <a:t>F. Li  ·  School of Life Sciences, Tsinghua University  · 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3420000"/>
            <a:ext cx="13320000" cy="324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000" y="3528000"/>
            <a:ext cx="12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3960000"/>
            <a:ext cx="1260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Spatial transcriptomics enables gene expression profiling within</a:t>
            </a:r>
            <a:br/>
            <a:r>
              <a:t>native tissue context. SubCellSpace builds a comprehensive,</a:t>
            </a:r>
            <a:br/>
            <a:r>
              <a:t>scverse-native database from three major platforms:</a:t>
            </a:r>
            <a:br/>
            <a:br/>
            <a:r>
              <a:t>  • NanoString CosMx — High-plex in situ RNA detection</a:t>
            </a:r>
            <a:br/>
            <a:r>
              <a:t>  • 10x Genomics Xenium — Subcellular + multimodal imaging</a:t>
            </a:r>
            <a:br/>
            <a:r>
              <a:t>  • Vizgen MERFISH — Multiplexed FISH, ultra-high plexity</a:t>
            </a:r>
            <a:br/>
            <a:br/>
            <a:r>
              <a:t>All data processed through a unified 6-step pipeline with</a:t>
            </a:r>
            <a:br/>
            <a:r>
              <a:t>21 standardized metadata columns per entry.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18720000"/>
            <a:ext cx="13320000" cy="1224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0000" y="18828000"/>
            <a:ext cx="12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Data Processing Pipeline</a:t>
            </a:r>
          </a:p>
        </p:txBody>
      </p:sp>
      <p:pic>
        <p:nvPicPr>
          <p:cNvPr id="10" name="Picture 9" descr="fig5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0" y="19440000"/>
            <a:ext cx="12960000" cy="5040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00000" y="24660000"/>
            <a:ext cx="12960000" cy="5760000"/>
          </a:xfrm>
          <a:prstGeom prst="round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0000" y="24840000"/>
            <a:ext cx="1260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Database Summary</a:t>
            </a:r>
            <a:br/>
            <a:br/>
            <a:r>
              <a:t>Total datasets indexed:      2,131</a:t>
            </a:r>
            <a:br/>
            <a:r>
              <a:t>Ready for analysis:            1,019</a:t>
            </a:r>
            <a:br/>
            <a:r>
              <a:t>Pending download:             1,055</a:t>
            </a:r>
            <a:br/>
            <a:r>
              <a:t>Platform breakdown:</a:t>
            </a:r>
            <a:br/>
            <a:r>
              <a:t>  CosMx   476  (186 ready)</a:t>
            </a:r>
            <a:br/>
            <a:r>
              <a:t>  Xenium  1,525 (717 ready)</a:t>
            </a:r>
            <a:br/>
            <a:r>
              <a:t>  MERFISH 130   (116 ready)</a:t>
            </a:r>
            <a:br/>
            <a:br/>
            <a:r>
              <a:t>Each entry: 21 columns (GEO metadata,</a:t>
            </a:r>
            <a:br/>
            <a:r>
              <a:t>LLM annotation, file info, statistics)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760000" y="3420000"/>
            <a:ext cx="13320000" cy="1368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120000" y="3528000"/>
            <a:ext cx="12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Database Scale &amp; Data Enrichment</a:t>
            </a:r>
          </a:p>
        </p:txBody>
      </p:sp>
      <p:pic>
        <p:nvPicPr>
          <p:cNvPr id="15" name="Picture 14" descr="fig1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8000" y="4068000"/>
            <a:ext cx="13104000" cy="126000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4760000" y="18720000"/>
            <a:ext cx="13320000" cy="1224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20000" y="18828000"/>
            <a:ext cx="12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Companion File Availability</a:t>
            </a:r>
          </a:p>
        </p:txBody>
      </p:sp>
      <p:pic>
        <p:nvPicPr>
          <p:cNvPr id="18" name="Picture 17" descr="fig2_optional_fi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8000" y="19368000"/>
            <a:ext cx="13104000" cy="111600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28800000" y="3420000"/>
            <a:ext cx="13320000" cy="1368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160000" y="3528000"/>
            <a:ext cx="12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Biological Coverage</a:t>
            </a:r>
          </a:p>
        </p:txBody>
      </p:sp>
      <p:pic>
        <p:nvPicPr>
          <p:cNvPr id="21" name="Picture 20" descr="fig3_tissue_dise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08000" y="4068000"/>
            <a:ext cx="13104000" cy="126000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28800000" y="18720000"/>
            <a:ext cx="13320000" cy="1224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160000" y="18828000"/>
            <a:ext cx="12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Dataset Statistics (CosMx)</a:t>
            </a:r>
          </a:p>
        </p:txBody>
      </p:sp>
      <p:pic>
        <p:nvPicPr>
          <p:cNvPr id="24" name="Picture 23" descr="fig4_stats_summa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08000" y="19368000"/>
            <a:ext cx="13104000" cy="111600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20000" y="31320000"/>
            <a:ext cx="41760000" cy="9000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40000" y="31500000"/>
            <a:ext cx="40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C3C7"/>
                </a:solidFill>
              </a:defRPr>
            </a:pPr>
            <a:r>
              <a:t>Tech Stack: Python · scanpy · squidpy · spatialdata · React · TypeScript · Slurm</a:t>
            </a:r>
            <a:br/>
            <a:r>
              <a:t>Data Sources: NCBI GEO · DeepSeek LLM · 10x Genomics · NanoString/Bruker · Vizgen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