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759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60000"/>
            <a:ext cx="20664000" cy="16200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468000"/>
            <a:ext cx="1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SubCellSpace: A Unified Database for Subcellular Spatial Transcriptomics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260000"/>
            <a:ext cx="19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DC3C7"/>
                </a:solidFill>
              </a:defRPr>
            </a:pPr>
            <a:r>
              <a:t>F. Li  ·  School of Life Sciences, Tsinghua University  · 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2340000"/>
            <a:ext cx="9720000" cy="1980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2448000"/>
            <a:ext cx="90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3E50"/>
                </a:solidFill>
              </a:defRPr>
            </a:pPr>
            <a:r>
              <a:t>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2808000"/>
            <a:ext cx="900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C3E50"/>
                </a:solidFill>
              </a:defRPr>
            </a:pPr>
            <a:r>
              <a:t>Spatial transcriptomics enables gene expression profiling within</a:t>
            </a:r>
            <a:br/>
            <a:r>
              <a:t>native tissue context. SubCellSpace builds a comprehensive,</a:t>
            </a:r>
            <a:br/>
            <a:r>
              <a:t>scverse-native database from three major platforms:</a:t>
            </a:r>
            <a:br/>
            <a:r>
              <a:t>  • NanoString CosMx — High-plex in situ RNA detection</a:t>
            </a:r>
            <a:br/>
            <a:r>
              <a:t>  • 10x Genomics Xenium — Subcellular + multi-modal imaging</a:t>
            </a:r>
            <a:br/>
            <a:r>
              <a:t>  • Vizgen MERFISH — Multiplexed FISH with ultra-high plexity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0000" y="4500000"/>
            <a:ext cx="9720000" cy="3060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0000" y="4608000"/>
            <a:ext cx="90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3E50"/>
                </a:solidFill>
              </a:defRPr>
            </a:pPr>
            <a:r>
              <a:t>Data Processing Pipeline</a:t>
            </a:r>
          </a:p>
        </p:txBody>
      </p:sp>
      <p:pic>
        <p:nvPicPr>
          <p:cNvPr id="10" name="Picture 9" descr="fig5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5040000"/>
            <a:ext cx="9360000" cy="2340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800000" y="2340000"/>
            <a:ext cx="10080000" cy="4680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60000" y="2448000"/>
            <a:ext cx="93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3E50"/>
                </a:solidFill>
              </a:defRPr>
            </a:pPr>
            <a:r>
              <a:t>Database Scale &amp; Enrichment</a:t>
            </a:r>
          </a:p>
        </p:txBody>
      </p:sp>
      <p:pic>
        <p:nvPicPr>
          <p:cNvPr id="13" name="Picture 12" descr="fig1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8000" y="2880000"/>
            <a:ext cx="9864000" cy="3960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10800000" y="7200000"/>
            <a:ext cx="10080000" cy="1260000"/>
          </a:xfrm>
          <a:prstGeom prst="roundRect">
            <a:avLst/>
          </a:prstGeom>
          <a:solidFill>
            <a:srgbClr val="E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60000" y="7380000"/>
            <a:ext cx="93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3E50"/>
                </a:solidFill>
              </a:defRPr>
            </a:pPr>
            <a:r>
              <a:t>Database Summary</a:t>
            </a:r>
            <a:br/>
            <a:r>
              <a:t>Total datasets: 2,131  |  Ready: 1,019</a:t>
            </a:r>
            <a:br/>
            <a:r>
              <a:t>CosMx: 476  |  Xenium: 1,525  |  MERFISH: 130</a:t>
            </a:r>
            <a:br/>
            <a:r>
              <a:t>21 data columns per entry: GEO metadata + LLM annotation</a:t>
            </a:r>
            <a:br/>
            <a:r>
              <a:t>+ file integrity (touch) + streaming statistics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800000" y="8640000"/>
            <a:ext cx="10080000" cy="3060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60000" y="8748000"/>
            <a:ext cx="93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3E50"/>
                </a:solidFill>
              </a:defRPr>
            </a:pPr>
            <a:r>
              <a:t>Companion File Availability</a:t>
            </a:r>
          </a:p>
        </p:txBody>
      </p:sp>
      <p:pic>
        <p:nvPicPr>
          <p:cNvPr id="18" name="Picture 17" descr="fig2_optional_fil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8000" y="9180000"/>
            <a:ext cx="9864000" cy="234000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540000" y="7740000"/>
            <a:ext cx="9720000" cy="3780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000" y="7848000"/>
            <a:ext cx="90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3E50"/>
                </a:solidFill>
              </a:defRPr>
            </a:pPr>
            <a:r>
              <a:t>Biological Coverage</a:t>
            </a:r>
          </a:p>
        </p:txBody>
      </p:sp>
      <p:pic>
        <p:nvPicPr>
          <p:cNvPr id="21" name="Picture 20" descr="fig3_tissue_dise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000" y="8280000"/>
            <a:ext cx="9504000" cy="3060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540000" y="11700000"/>
            <a:ext cx="9720000" cy="3780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0000" y="11808000"/>
            <a:ext cx="90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3E50"/>
                </a:solidFill>
              </a:defRPr>
            </a:pPr>
            <a:r>
              <a:t>Dataset Statistics (CosMx)</a:t>
            </a:r>
          </a:p>
        </p:txBody>
      </p:sp>
      <p:pic>
        <p:nvPicPr>
          <p:cNvPr id="24" name="Picture 23" descr="fig4_stats_summar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000" y="12240000"/>
            <a:ext cx="9504000" cy="306000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360000" y="28980000"/>
            <a:ext cx="20664000" cy="9000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0000" y="29160000"/>
            <a:ext cx="19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DC3C7"/>
                </a:solidFill>
              </a:defRPr>
            </a:pPr>
            <a:r>
              <a:t>Tech Stack: Python · scanpy · squidpy · spatialdata · React · TypeScript · Slurm</a:t>
            </a:r>
            <a:br/>
            <a:r>
              <a:t>Data: NCBI GEO · DeepSeek LLM · 10x Genomics · NanoString/Bruker · Vizgen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