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20000" y="540000"/>
            <a:ext cx="30960000" cy="2700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720000"/>
            <a:ext cx="3024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SubCellSpace: A Unified Database for</a:t>
            </a:r>
            <a:br/>
            <a:r>
              <a:t>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2160000"/>
            <a:ext cx="30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DC3C7"/>
                </a:solidFill>
              </a:defRPr>
            </a:pPr>
            <a:r>
              <a:t>F. Li  ·  School of Life Sciences, Tsinghua University  · 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3600000"/>
            <a:ext cx="15120000" cy="46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0000" y="3708000"/>
            <a:ext cx="14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1.  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4320000"/>
            <a:ext cx="144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SubCellSpace is a comprehensive subcellular spatial transcriptomics</a:t>
            </a:r>
            <a:br/>
            <a:r>
              <a:t>analysis platform. It integrates three key components:</a:t>
            </a:r>
            <a:br/>
            <a:br/>
            <a:r>
              <a:t>  • scverse-native analysis pipeline (6 steps)</a:t>
            </a:r>
            <a:br/>
            <a:r>
              <a:t>  • GEO database with 2,131 curated datasets</a:t>
            </a:r>
            <a:br/>
            <a:r>
              <a:t>  • Static web browser for data exploration</a:t>
            </a:r>
            <a:br/>
            <a:br/>
            <a:r>
              <a:t>Platforms supported:</a:t>
            </a:r>
            <a:br/>
            <a:r>
              <a:t>  NanoString CosMx  |  10x Genomics Xenium  |  Vizgen MERFISH</a:t>
            </a:r>
            <a:br/>
            <a:br/>
            <a:r>
              <a:t>All processing is unified under a single YAML config file,</a:t>
            </a:r>
            <a:br/>
            <a:r>
              <a:t>with plugin-style backends for each pipeline 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560000" y="3600000"/>
            <a:ext cx="15120000" cy="46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20000" y="3708000"/>
            <a:ext cx="14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2.  Analysis Pipeline</a:t>
            </a:r>
          </a:p>
        </p:txBody>
      </p:sp>
      <p:pic>
        <p:nvPicPr>
          <p:cNvPr id="10" name="Picture 9" descr="fig5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40000" y="4500000"/>
            <a:ext cx="14760000" cy="3420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0000" y="8640000"/>
            <a:ext cx="15120000" cy="86400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0" y="8748000"/>
            <a:ext cx="14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3.  Pipeline Steps &amp; Backends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9360000"/>
            <a:ext cx="14400000" cy="7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</a:defRPr>
            </a:pPr>
            <a:r>
              <a:t>Step 1 — Denoise:  Filter low-quality transcripts &amp; cells</a:t>
            </a:r>
            <a:br/>
            <a:r>
              <a:t>   Backends: basic, sparc</a:t>
            </a:r>
            <a:br/>
            <a:br/>
            <a:r>
              <a:t>Step 2 — Patchify:  Split large tissue into spatial patches</a:t>
            </a:r>
            <a:br/>
            <a:r>
              <a:t>   Backends: grid, hex</a:t>
            </a:r>
            <a:br/>
            <a:br/>
            <a:r>
              <a:t>Step 3 — Segmentation:  Assign transcripts to cells</a:t>
            </a:r>
            <a:br/>
            <a:r>
              <a:t>   Backends: fov_cell_id, cellpose, baysor, proseg, comseg</a:t>
            </a:r>
            <a:br/>
            <a:br/>
            <a:r>
              <a:t>Step 4 — Clustering:  Unsupervised cell clustering</a:t>
            </a:r>
            <a:br/>
            <a:r>
              <a:t>   Backends: leiden, louvain</a:t>
            </a:r>
            <a:br/>
            <a:br/>
            <a:r>
              <a:t>Step 5 — Annotation:  Cell type annotation</a:t>
            </a:r>
            <a:br/>
            <a:r>
              <a:t>   Backends: celltypist, scrin</a:t>
            </a:r>
            <a:br/>
            <a:br/>
            <a:r>
              <a:t>Step 6 — Spatial Analysis:  Spatial autocorrelation</a:t>
            </a:r>
            <a:br/>
            <a:r>
              <a:t>   Backends: moran, geary</a:t>
            </a:r>
            <a:br/>
            <a:br/>
            <a:r>
              <a:t>Subcellular Analysis:  RNA localization &amp; domain detection</a:t>
            </a:r>
            <a:br/>
            <a:r>
              <a:t>   Backends: scrin, hdbscan, dbscan, phenograph</a:t>
            </a:r>
            <a:br/>
            <a:br/>
            <a:r>
              <a:t>All backends are registered via @register_backend decorator</a:t>
            </a:r>
            <a:br/>
            <a:r>
              <a:t>and selected through config/pipeline.yaml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560000" y="8640000"/>
            <a:ext cx="15120000" cy="864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20000" y="8748000"/>
            <a:ext cx="14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4.  GEO Database System</a:t>
            </a:r>
          </a:p>
        </p:txBody>
      </p:sp>
      <p:pic>
        <p:nvPicPr>
          <p:cNvPr id="16" name="Picture 15" descr="fig1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2000" y="9360000"/>
            <a:ext cx="14976000" cy="39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20000" y="13500000"/>
            <a:ext cx="144000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Dual database architecture:</a:t>
            </a:r>
            <a:br/>
            <a:r>
              <a:t>  • datasets.csv: Legacy non-GEO metadata (998 rows)</a:t>
            </a:r>
            <a:br/>
            <a:r>
              <a:t>  • *_geo.csv: Per-platform GEO entries (2,131 rows)</a:t>
            </a:r>
            <a:br/>
            <a:br/>
            <a:r>
              <a:t>4-step enrichment pipeline:</a:t>
            </a:r>
            <a:br/>
            <a:r>
              <a:t>  1. GEO Crawl — NCBI E-utilities API → GSE metadata</a:t>
            </a:r>
            <a:br/>
            <a:r>
              <a:t>  2. LLM Annotation — DeepSeek → tissue + disease_state</a:t>
            </a:r>
            <a:br/>
            <a:r>
              <a:t>  3. File Integrity — Touch module → available_files</a:t>
            </a:r>
            <a:br/>
            <a:r>
              <a:t>  4. Streaming Stats — Count tx / cells / genes</a:t>
            </a:r>
            <a:br/>
            <a:br/>
            <a:r>
              <a:t>21 standardized columns per dataset entry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000" y="17640000"/>
            <a:ext cx="15120000" cy="1080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0000" y="17748000"/>
            <a:ext cx="14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5.  Database Statistics</a:t>
            </a:r>
          </a:p>
        </p:txBody>
      </p:sp>
      <p:pic>
        <p:nvPicPr>
          <p:cNvPr id="20" name="Picture 19" descr="fig3_tissue_dise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" y="18360000"/>
            <a:ext cx="14904000" cy="5040000"/>
          </a:xfrm>
          <a:prstGeom prst="rect">
            <a:avLst/>
          </a:prstGeom>
        </p:spPr>
      </p:pic>
      <p:pic>
        <p:nvPicPr>
          <p:cNvPr id="21" name="Picture 20" descr="fig4_stats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" y="23760000"/>
            <a:ext cx="14904000" cy="4320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16560000" y="17640000"/>
            <a:ext cx="15120000" cy="1080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20000" y="17748000"/>
            <a:ext cx="14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6.  File Coverage &amp; Frontend</a:t>
            </a:r>
          </a:p>
        </p:txBody>
      </p:sp>
      <p:pic>
        <p:nvPicPr>
          <p:cNvPr id="24" name="Picture 23" descr="fig2_optional_f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68000" y="18360000"/>
            <a:ext cx="14904000" cy="46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920000" y="23220000"/>
            <a:ext cx="144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</a:defRPr>
            </a:pPr>
            <a:r>
              <a:t>Companion file types tracked per platform:</a:t>
            </a:r>
            <a:br/>
            <a:br/>
            <a:r>
              <a:t>CosMx:  polygons, expr_matrix, cell_metadata, fov_positions</a:t>
            </a:r>
            <a:br/>
            <a:r>
              <a:t>Xenium: cell_boundaries, nucleus_boundaries,</a:t>
            </a:r>
            <a:br/>
            <a:r>
              <a:t>        expr_matrix (h5/mtx), cell_metadata, gene_panel</a:t>
            </a:r>
            <a:br/>
            <a:r>
              <a:t>MERFISH: expr_matrix, cell_metadata</a:t>
            </a:r>
            <a:br/>
            <a:br/>
            <a:r>
              <a:t>Frontend: Pure static React browser</a:t>
            </a:r>
            <a:br/>
            <a:r>
              <a:t>  • Platform tabs (CosMx / Xenium / MERFISH)</a:t>
            </a:r>
            <a:br/>
            <a:r>
              <a:t>  • 21-column sortable table with category headers</a:t>
            </a:r>
            <a:br/>
            <a:r>
              <a:t>  • Full-text search + status filtering</a:t>
            </a:r>
            <a:br/>
            <a:r>
              <a:t>  • GEO hyperlinks, row detail modals</a:t>
            </a:r>
            <a:br/>
            <a:r>
              <a:t>  • Pagination (25/50/100/All)</a:t>
            </a:r>
            <a:br/>
            <a:r>
              <a:t>  • No backend required — static JSON data source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28800000"/>
            <a:ext cx="30960000" cy="5400000"/>
          </a:xfrm>
          <a:prstGeom prst="roundRect">
            <a:avLst/>
          </a:prstGeom>
          <a:solidFill>
            <a:srgbClr val="FE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0000" y="28908000"/>
            <a:ext cx="30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7.  System Architecture &amp; 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000" y="29520000"/>
            <a:ext cx="147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</a:defRPr>
            </a:pPr>
            <a:r>
              <a:t>Core Stack:</a:t>
            </a:r>
            <a:br/>
            <a:r>
              <a:t>  • Python 3.12 + scverse ecosystem</a:t>
            </a:r>
            <a:br/>
            <a:r>
              <a:t>    (scanpy, squidpy, spatialdata, anndata)</a:t>
            </a:r>
            <a:br/>
            <a:r>
              <a:t>  • FastAPI server for database CRUD</a:t>
            </a:r>
            <a:br/>
            <a:r>
              <a:t>  • React 18 + TypeScript + Vite frontend</a:t>
            </a:r>
            <a:br/>
            <a:r>
              <a:t>  • Slurm HPC job arrays for batch processing</a:t>
            </a:r>
            <a:br/>
            <a:br/>
            <a:r>
              <a:t>Output Formats:</a:t>
            </a:r>
            <a:br/>
            <a:r>
              <a:t>  • cells.parquet + metadata.json  (container export)</a:t>
            </a:r>
            <a:br/>
            <a:r>
              <a:t>  • subcellspace_report.html  (interactive HTML report)</a:t>
            </a:r>
            <a:br/>
            <a:r>
              <a:t>  • subcellspace_results.h5ad  (full AnnData)</a:t>
            </a:r>
            <a:br/>
            <a:r>
              <a:t>  • subcellspace_touch_report.json  (file integrity)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20000" y="29520000"/>
            <a:ext cx="147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C3E50"/>
                </a:solidFill>
              </a:defRPr>
            </a:pPr>
            <a:r>
              <a:t>External Tools:</a:t>
            </a:r>
            <a:br/>
            <a:r>
              <a:t>  • SCRIN — Subcellular RNA localization &amp; interactivity</a:t>
            </a:r>
            <a:br/>
            <a:r>
              <a:t>  • SOPA — Segmentation pipeline (Cellpose, Baysor, etc.)</a:t>
            </a:r>
            <a:br/>
            <a:br/>
            <a:r>
              <a:t>Infrastructure:</a:t>
            </a:r>
            <a:br/>
            <a:r>
              <a:t>  • a-cluster (192.168.1.2, 377GB RAM, 80 CPU)</a:t>
            </a:r>
            <a:br/>
            <a:r>
              <a:t>  • gpu01 — NVIDIA GPU node for segmentation</a:t>
            </a:r>
            <a:br/>
            <a:r>
              <a:t>  • bio-download jumpbox for GEO data transfer</a:t>
            </a:r>
            <a:br/>
            <a:r>
              <a:t>  • /data3/yangxr002/ — 218TB shared storage</a:t>
            </a:r>
            <a:br/>
            <a:br/>
            <a:r>
              <a:t>Data Processing:</a:t>
            </a:r>
            <a:br/>
            <a:r>
              <a:t>  • 3+ million transcripts streamed per dataset</a:t>
            </a:r>
            <a:br/>
            <a:r>
              <a:t>  • Zero I/O-load streaming statistics module</a:t>
            </a:r>
            <a:br/>
            <a:r>
              <a:t>  • Incremental checkpoint saves for batch runs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0000" y="34560000"/>
            <a:ext cx="30960000" cy="900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40000" y="34740000"/>
            <a:ext cx="29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C3C7"/>
                </a:solidFill>
              </a:defRPr>
            </a:pPr>
            <a:r>
              <a:t>Tech Stack: Python · scanpy · squidpy · spatialdata · React · TypeScript · Slurm</a:t>
            </a:r>
            <a:br/>
            <a:r>
              <a:t>Data Sources: NCBI GEO · DeepSeek LLM · 10x Genomics · NanoString/Bruker · Vizgen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