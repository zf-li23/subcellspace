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32399605" cy="43199685"/>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66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33" d="100"/>
          <a:sy n="33" d="100"/>
        </p:scale>
        <p:origin x="112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2.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78535" rtl="0" eaLnBrk="1" latinLnBrk="0" hangingPunct="1">
        <a:lnSpc>
          <a:spcPct val="90000"/>
        </a:lnSpc>
        <a:spcBef>
          <a:spcPct val="0"/>
        </a:spcBef>
        <a:buNone/>
        <a:defRPr sz="4710" kern="1200">
          <a:solidFill>
            <a:schemeClr val="tx1"/>
          </a:solidFill>
          <a:latin typeface="+mj-lt"/>
          <a:ea typeface="+mj-ea"/>
          <a:cs typeface="+mj-cs"/>
        </a:defRPr>
      </a:lvl1pPr>
    </p:titleStyle>
    <p:bodyStyle>
      <a:lvl1pPr marL="244475" indent="-244475" algn="l" defTabSz="978535" rtl="0" eaLnBrk="1" latinLnBrk="0" hangingPunct="1">
        <a:lnSpc>
          <a:spcPct val="90000"/>
        </a:lnSpc>
        <a:spcBef>
          <a:spcPts val="1070"/>
        </a:spcBef>
        <a:buFont typeface="Arial" panose="020B0604020202020204" pitchFamily="34" charset="0"/>
        <a:buChar char="•"/>
        <a:defRPr sz="2995" kern="1200">
          <a:solidFill>
            <a:schemeClr val="tx1"/>
          </a:solidFill>
          <a:latin typeface="+mn-lt"/>
          <a:ea typeface="+mn-ea"/>
          <a:cs typeface="+mn-cs"/>
        </a:defRPr>
      </a:lvl1pPr>
      <a:lvl2pPr marL="734060" indent="-244475" algn="l" defTabSz="978535" rtl="0" eaLnBrk="1" latinLnBrk="0" hangingPunct="1">
        <a:lnSpc>
          <a:spcPct val="90000"/>
        </a:lnSpc>
        <a:spcBef>
          <a:spcPts val="535"/>
        </a:spcBef>
        <a:buFont typeface="Arial" panose="020B0604020202020204" pitchFamily="34" charset="0"/>
        <a:buChar char="•"/>
        <a:defRPr sz="2570" kern="1200">
          <a:solidFill>
            <a:schemeClr val="tx1"/>
          </a:solidFill>
          <a:latin typeface="+mn-lt"/>
          <a:ea typeface="+mn-ea"/>
          <a:cs typeface="+mn-cs"/>
        </a:defRPr>
      </a:lvl2pPr>
      <a:lvl3pPr marL="1223010" indent="-244475" algn="l" defTabSz="978535" rtl="0" eaLnBrk="1" latinLnBrk="0" hangingPunct="1">
        <a:lnSpc>
          <a:spcPct val="90000"/>
        </a:lnSpc>
        <a:spcBef>
          <a:spcPts val="535"/>
        </a:spcBef>
        <a:buFont typeface="Arial" panose="020B0604020202020204" pitchFamily="34" charset="0"/>
        <a:buChar char="•"/>
        <a:defRPr sz="2140" kern="1200">
          <a:solidFill>
            <a:schemeClr val="tx1"/>
          </a:solidFill>
          <a:latin typeface="+mn-lt"/>
          <a:ea typeface="+mn-ea"/>
          <a:cs typeface="+mn-cs"/>
        </a:defRPr>
      </a:lvl3pPr>
      <a:lvl4pPr marL="1712595" indent="-244475" algn="l" defTabSz="978535" rtl="0" eaLnBrk="1" latinLnBrk="0" hangingPunct="1">
        <a:lnSpc>
          <a:spcPct val="90000"/>
        </a:lnSpc>
        <a:spcBef>
          <a:spcPts val="535"/>
        </a:spcBef>
        <a:buFont typeface="Arial" panose="020B0604020202020204" pitchFamily="34" charset="0"/>
        <a:buChar char="•"/>
        <a:defRPr sz="1925" kern="1200">
          <a:solidFill>
            <a:schemeClr val="tx1"/>
          </a:solidFill>
          <a:latin typeface="+mn-lt"/>
          <a:ea typeface="+mn-ea"/>
          <a:cs typeface="+mn-cs"/>
        </a:defRPr>
      </a:lvl4pPr>
      <a:lvl5pPr marL="2201545" indent="-244475" algn="l" defTabSz="978535" rtl="0" eaLnBrk="1" latinLnBrk="0" hangingPunct="1">
        <a:lnSpc>
          <a:spcPct val="90000"/>
        </a:lnSpc>
        <a:spcBef>
          <a:spcPts val="535"/>
        </a:spcBef>
        <a:buFont typeface="Arial" panose="020B0604020202020204" pitchFamily="34" charset="0"/>
        <a:buChar char="•"/>
        <a:defRPr sz="1925" kern="1200">
          <a:solidFill>
            <a:schemeClr val="tx1"/>
          </a:solidFill>
          <a:latin typeface="+mn-lt"/>
          <a:ea typeface="+mn-ea"/>
          <a:cs typeface="+mn-cs"/>
        </a:defRPr>
      </a:lvl5pPr>
      <a:lvl6pPr marL="2691130" indent="-244475" algn="l" defTabSz="978535" rtl="0" eaLnBrk="1" latinLnBrk="0" hangingPunct="1">
        <a:lnSpc>
          <a:spcPct val="90000"/>
        </a:lnSpc>
        <a:spcBef>
          <a:spcPts val="535"/>
        </a:spcBef>
        <a:buFont typeface="Arial" panose="020B0604020202020204" pitchFamily="34" charset="0"/>
        <a:buChar char="•"/>
        <a:defRPr sz="1925" kern="1200">
          <a:solidFill>
            <a:schemeClr val="tx1"/>
          </a:solidFill>
          <a:latin typeface="+mn-lt"/>
          <a:ea typeface="+mn-ea"/>
          <a:cs typeface="+mn-cs"/>
        </a:defRPr>
      </a:lvl6pPr>
      <a:lvl7pPr marL="3180715" indent="-244475" algn="l" defTabSz="978535" rtl="0" eaLnBrk="1" latinLnBrk="0" hangingPunct="1">
        <a:lnSpc>
          <a:spcPct val="90000"/>
        </a:lnSpc>
        <a:spcBef>
          <a:spcPts val="535"/>
        </a:spcBef>
        <a:buFont typeface="Arial" panose="020B0604020202020204" pitchFamily="34" charset="0"/>
        <a:buChar char="•"/>
        <a:defRPr sz="1925" kern="1200">
          <a:solidFill>
            <a:schemeClr val="tx1"/>
          </a:solidFill>
          <a:latin typeface="+mn-lt"/>
          <a:ea typeface="+mn-ea"/>
          <a:cs typeface="+mn-cs"/>
        </a:defRPr>
      </a:lvl7pPr>
      <a:lvl8pPr marL="3669665" indent="-244475" algn="l" defTabSz="978535" rtl="0" eaLnBrk="1" latinLnBrk="0" hangingPunct="1">
        <a:lnSpc>
          <a:spcPct val="90000"/>
        </a:lnSpc>
        <a:spcBef>
          <a:spcPts val="535"/>
        </a:spcBef>
        <a:buFont typeface="Arial" panose="020B0604020202020204" pitchFamily="34" charset="0"/>
        <a:buChar char="•"/>
        <a:defRPr sz="1925" kern="1200">
          <a:solidFill>
            <a:schemeClr val="tx1"/>
          </a:solidFill>
          <a:latin typeface="+mn-lt"/>
          <a:ea typeface="+mn-ea"/>
          <a:cs typeface="+mn-cs"/>
        </a:defRPr>
      </a:lvl8pPr>
      <a:lvl9pPr marL="4159250" indent="-244475" algn="l" defTabSz="978535" rtl="0" eaLnBrk="1" latinLnBrk="0" hangingPunct="1">
        <a:lnSpc>
          <a:spcPct val="90000"/>
        </a:lnSpc>
        <a:spcBef>
          <a:spcPts val="535"/>
        </a:spcBef>
        <a:buFont typeface="Arial" panose="020B0604020202020204" pitchFamily="34" charset="0"/>
        <a:buChar char="•"/>
        <a:defRPr sz="1925" kern="1200">
          <a:solidFill>
            <a:schemeClr val="tx1"/>
          </a:solidFill>
          <a:latin typeface="+mn-lt"/>
          <a:ea typeface="+mn-ea"/>
          <a:cs typeface="+mn-cs"/>
        </a:defRPr>
      </a:lvl9pPr>
    </p:bodyStyle>
    <p:otherStyle>
      <a:defPPr>
        <a:defRPr lang="zh-CN"/>
      </a:defPPr>
      <a:lvl1pPr marL="0" algn="l" defTabSz="978535" rtl="0" eaLnBrk="1" latinLnBrk="0" hangingPunct="1">
        <a:defRPr sz="1925" kern="1200">
          <a:solidFill>
            <a:schemeClr val="tx1"/>
          </a:solidFill>
          <a:latin typeface="+mn-lt"/>
          <a:ea typeface="+mn-ea"/>
          <a:cs typeface="+mn-cs"/>
        </a:defRPr>
      </a:lvl1pPr>
      <a:lvl2pPr marL="489585" algn="l" defTabSz="978535" rtl="0" eaLnBrk="1" latinLnBrk="0" hangingPunct="1">
        <a:defRPr sz="1925" kern="1200">
          <a:solidFill>
            <a:schemeClr val="tx1"/>
          </a:solidFill>
          <a:latin typeface="+mn-lt"/>
          <a:ea typeface="+mn-ea"/>
          <a:cs typeface="+mn-cs"/>
        </a:defRPr>
      </a:lvl2pPr>
      <a:lvl3pPr marL="978535" algn="l" defTabSz="978535" rtl="0" eaLnBrk="1" latinLnBrk="0" hangingPunct="1">
        <a:defRPr sz="1925" kern="1200">
          <a:solidFill>
            <a:schemeClr val="tx1"/>
          </a:solidFill>
          <a:latin typeface="+mn-lt"/>
          <a:ea typeface="+mn-ea"/>
          <a:cs typeface="+mn-cs"/>
        </a:defRPr>
      </a:lvl3pPr>
      <a:lvl4pPr marL="1468120" algn="l" defTabSz="978535" rtl="0" eaLnBrk="1" latinLnBrk="0" hangingPunct="1">
        <a:defRPr sz="1925" kern="1200">
          <a:solidFill>
            <a:schemeClr val="tx1"/>
          </a:solidFill>
          <a:latin typeface="+mn-lt"/>
          <a:ea typeface="+mn-ea"/>
          <a:cs typeface="+mn-cs"/>
        </a:defRPr>
      </a:lvl4pPr>
      <a:lvl5pPr marL="1957070" algn="l" defTabSz="978535" rtl="0" eaLnBrk="1" latinLnBrk="0" hangingPunct="1">
        <a:defRPr sz="1925" kern="1200">
          <a:solidFill>
            <a:schemeClr val="tx1"/>
          </a:solidFill>
          <a:latin typeface="+mn-lt"/>
          <a:ea typeface="+mn-ea"/>
          <a:cs typeface="+mn-cs"/>
        </a:defRPr>
      </a:lvl5pPr>
      <a:lvl6pPr marL="2446655" algn="l" defTabSz="978535" rtl="0" eaLnBrk="1" latinLnBrk="0" hangingPunct="1">
        <a:defRPr sz="1925" kern="1200">
          <a:solidFill>
            <a:schemeClr val="tx1"/>
          </a:solidFill>
          <a:latin typeface="+mn-lt"/>
          <a:ea typeface="+mn-ea"/>
          <a:cs typeface="+mn-cs"/>
        </a:defRPr>
      </a:lvl6pPr>
      <a:lvl7pPr marL="2935605" algn="l" defTabSz="978535" rtl="0" eaLnBrk="1" latinLnBrk="0" hangingPunct="1">
        <a:defRPr sz="1925" kern="1200">
          <a:solidFill>
            <a:schemeClr val="tx1"/>
          </a:solidFill>
          <a:latin typeface="+mn-lt"/>
          <a:ea typeface="+mn-ea"/>
          <a:cs typeface="+mn-cs"/>
        </a:defRPr>
      </a:lvl7pPr>
      <a:lvl8pPr marL="3425190" algn="l" defTabSz="978535" rtl="0" eaLnBrk="1" latinLnBrk="0" hangingPunct="1">
        <a:defRPr sz="1925" kern="1200">
          <a:solidFill>
            <a:schemeClr val="tx1"/>
          </a:solidFill>
          <a:latin typeface="+mn-lt"/>
          <a:ea typeface="+mn-ea"/>
          <a:cs typeface="+mn-cs"/>
        </a:defRPr>
      </a:lvl8pPr>
      <a:lvl9pPr marL="3914140" algn="l" defTabSz="978535" rtl="0" eaLnBrk="1" latinLnBrk="0" hangingPunct="1">
        <a:defRPr sz="19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6"/>
          <p:cNvSpPr/>
          <p:nvPr/>
        </p:nvSpPr>
        <p:spPr>
          <a:xfrm>
            <a:off x="2352040" y="1318895"/>
            <a:ext cx="26506170" cy="4150995"/>
          </a:xfrm>
          <a:prstGeom prst="rect">
            <a:avLst/>
          </a:prstGeom>
          <a:noFill/>
          <a:ln w="0" cap="flat">
            <a:noFill/>
            <a:prstDash val="solid"/>
            <a:miter lim="0"/>
          </a:ln>
        </p:spPr>
        <p:txBody>
          <a:bodyPr vert="horz" wrap="square" lIns="0" tIns="0" rIns="0" bIns="0"/>
          <a:p>
            <a:pPr algn="l" rtl="0" eaLnBrk="0">
              <a:lnSpc>
                <a:spcPct val="83000"/>
              </a:lnSpc>
            </a:pPr>
            <a:endParaRPr sz="100" dirty="0">
              <a:latin typeface="Times New Roman" panose="02020603050405020304" charset="0"/>
              <a:ea typeface="Arial" panose="020B0604020202020204"/>
              <a:cs typeface="Times New Roman" panose="02020603050405020304" charset="0"/>
            </a:endParaRPr>
          </a:p>
          <a:p>
            <a:pPr marL="90805" algn="l" rtl="0" eaLnBrk="0">
              <a:lnSpc>
                <a:spcPts val="6240"/>
              </a:lnSpc>
            </a:pPr>
            <a:r>
              <a:rPr sz="8480" b="1" kern="0" dirty="0">
                <a:solidFill>
                  <a:srgbClr val="2E3092">
                    <a:alpha val="100000"/>
                  </a:srgbClr>
                </a:solidFill>
                <a:latin typeface="Times New Roman" panose="02020603050405020304" charset="0"/>
                <a:ea typeface="Times New Roman" panose="02020603050405020304"/>
                <a:cs typeface="Times New Roman" panose="02020603050405020304" charset="0"/>
              </a:rPr>
              <a:t>Rabbit Creatine Kinase (MM) Purification</a:t>
            </a:r>
            <a:endParaRPr sz="8480" b="1" kern="0" dirty="0">
              <a:solidFill>
                <a:srgbClr val="2E3092">
                  <a:alpha val="100000"/>
                </a:srgbClr>
              </a:solidFill>
              <a:latin typeface="Times New Roman" panose="02020603050405020304" charset="0"/>
              <a:ea typeface="Times New Roman" panose="02020603050405020304"/>
              <a:cs typeface="Times New Roman" panose="02020603050405020304" charset="0"/>
            </a:endParaRPr>
          </a:p>
          <a:p>
            <a:pPr marL="24130" algn="l" rtl="0" eaLnBrk="0">
              <a:lnSpc>
                <a:spcPts val="4535"/>
              </a:lnSpc>
              <a:spcBef>
                <a:spcPts val="2400"/>
              </a:spcBef>
            </a:pPr>
            <a:r>
              <a:rPr sz="5955" kern="0" spc="-380" dirty="0">
                <a:solidFill>
                  <a:srgbClr val="231F20">
                    <a:alpha val="100000"/>
                  </a:srgbClr>
                </a:solidFill>
                <a:latin typeface="Times New Roman" panose="02020603050405020304" charset="0"/>
                <a:ea typeface="Arial" panose="020B0604020202020204"/>
                <a:cs typeface="Times New Roman" panose="02020603050405020304" charset="0"/>
              </a:rPr>
              <a:t>Student: </a:t>
            </a:r>
            <a:r>
              <a:rPr lang="en-US" sz="5955" kern="0" spc="-380" dirty="0">
                <a:solidFill>
                  <a:srgbClr val="231F20">
                    <a:alpha val="100000"/>
                  </a:srgbClr>
                </a:solidFill>
                <a:latin typeface="Times New Roman" panose="02020603050405020304" charset="0"/>
                <a:ea typeface="Arial" panose="020B0604020202020204"/>
                <a:cs typeface="Times New Roman" panose="02020603050405020304" charset="0"/>
              </a:rPr>
              <a:t>Zhefu Li  2023011400</a:t>
            </a:r>
            <a:r>
              <a:rPr lang="en-US" sz="5150" kern="0" spc="-380" dirty="0">
                <a:solidFill>
                  <a:srgbClr val="231F20">
                    <a:alpha val="100000"/>
                  </a:srgbClr>
                </a:solidFill>
                <a:latin typeface="Times New Roman" panose="02020603050405020304" charset="0"/>
                <a:ea typeface="Arial" panose="020B0604020202020204"/>
                <a:cs typeface="Times New Roman" panose="02020603050405020304" charset="0"/>
              </a:rPr>
              <a:t>                     Partener: Shengyue Zhang</a:t>
            </a:r>
            <a:endParaRPr lang="en-US" sz="5150" kern="0" spc="-380" dirty="0">
              <a:solidFill>
                <a:srgbClr val="231F20">
                  <a:alpha val="100000"/>
                </a:srgbClr>
              </a:solidFill>
              <a:latin typeface="Times New Roman" panose="02020603050405020304" charset="0"/>
              <a:ea typeface="Arial" panose="020B0604020202020204"/>
              <a:cs typeface="Times New Roman" panose="02020603050405020304" charset="0"/>
            </a:endParaRPr>
          </a:p>
          <a:p>
            <a:pPr marL="24130" algn="l" rtl="0" eaLnBrk="0">
              <a:lnSpc>
                <a:spcPts val="4535"/>
              </a:lnSpc>
              <a:spcBef>
                <a:spcPts val="2400"/>
              </a:spcBef>
            </a:pPr>
            <a:r>
              <a:rPr lang="en-US" sz="5145" dirty="0">
                <a:latin typeface="Times New Roman" panose="02020603050405020304" charset="0"/>
                <a:ea typeface="Arial" panose="020B0604020202020204"/>
                <a:cs typeface="Times New Roman" panose="02020603050405020304" charset="0"/>
              </a:rPr>
              <a:t>Instructor: Peng Li, Tian Wang</a:t>
            </a:r>
            <a:endParaRPr lang="en-US" sz="5145" dirty="0">
              <a:latin typeface="Times New Roman" panose="02020603050405020304" charset="0"/>
              <a:ea typeface="Arial" panose="020B0604020202020204"/>
              <a:cs typeface="Times New Roman" panose="02020603050405020304" charset="0"/>
            </a:endParaRPr>
          </a:p>
        </p:txBody>
      </p:sp>
      <p:pic>
        <p:nvPicPr>
          <p:cNvPr id="6" name="picture 250"/>
          <p:cNvPicPr>
            <a:picLocks noChangeAspect="1"/>
          </p:cNvPicPr>
          <p:nvPr/>
        </p:nvPicPr>
        <p:blipFill>
          <a:blip r:embed="rId1"/>
          <a:stretch>
            <a:fillRect/>
          </a:stretch>
        </p:blipFill>
        <p:spPr>
          <a:xfrm rot="21600000">
            <a:off x="16718739" y="1910304"/>
            <a:ext cx="128823" cy="109907"/>
          </a:xfrm>
          <a:prstGeom prst="rect">
            <a:avLst/>
          </a:prstGeom>
        </p:spPr>
      </p:pic>
      <p:pic>
        <p:nvPicPr>
          <p:cNvPr id="8" name="图片 7"/>
          <p:cNvPicPr>
            <a:picLocks noChangeAspect="1"/>
          </p:cNvPicPr>
          <p:nvPr/>
        </p:nvPicPr>
        <p:blipFill>
          <a:blip r:embed="rId2"/>
          <a:stretch>
            <a:fillRect/>
          </a:stretch>
        </p:blipFill>
        <p:spPr>
          <a:xfrm>
            <a:off x="22708785" y="364490"/>
            <a:ext cx="7007414" cy="4065761"/>
          </a:xfrm>
          <a:prstGeom prst="rect">
            <a:avLst/>
          </a:prstGeom>
        </p:spPr>
      </p:pic>
      <p:grpSp>
        <p:nvGrpSpPr>
          <p:cNvPr id="43" name="组合 42"/>
          <p:cNvGrpSpPr/>
          <p:nvPr/>
        </p:nvGrpSpPr>
        <p:grpSpPr>
          <a:xfrm>
            <a:off x="1561465" y="4839335"/>
            <a:ext cx="29196030" cy="3265170"/>
            <a:chOff x="2459" y="7257"/>
            <a:chExt cx="45978" cy="5142"/>
          </a:xfrm>
        </p:grpSpPr>
        <p:sp>
          <p:nvSpPr>
            <p:cNvPr id="39" name="同侧圆角矩形 38"/>
            <p:cNvSpPr/>
            <p:nvPr/>
          </p:nvSpPr>
          <p:spPr>
            <a:xfrm>
              <a:off x="2499" y="7257"/>
              <a:ext cx="45921" cy="5102"/>
            </a:xfrm>
            <a:prstGeom prst="round2SameRect">
              <a:avLst>
                <a:gd name="adj1" fmla="val 17467"/>
                <a:gd name="adj2" fmla="val 0"/>
              </a:avLst>
            </a:prstGeom>
            <a:solidFill>
              <a:srgbClr val="0166B3"/>
            </a:solidFill>
            <a:ln>
              <a:solidFill>
                <a:srgbClr val="0166B3"/>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fontAlgn="ctr"/>
              <a:r>
                <a:rPr lang="en-US" altLang="zh-CN" sz="4800" b="1">
                  <a:latin typeface="Times New Roman" panose="02020603050405020304" charset="0"/>
                  <a:cs typeface="Times New Roman" panose="02020603050405020304" charset="0"/>
                </a:rPr>
                <a:t>Abstract</a:t>
              </a:r>
              <a:endParaRPr lang="en-US" altLang="zh-CN" sz="4800" b="1">
                <a:latin typeface="Times New Roman" panose="02020603050405020304" charset="0"/>
                <a:cs typeface="Times New Roman" panose="02020603050405020304" charset="0"/>
              </a:endParaRPr>
            </a:p>
          </p:txBody>
        </p:sp>
        <p:sp>
          <p:nvSpPr>
            <p:cNvPr id="41" name="矩形 40"/>
            <p:cNvSpPr/>
            <p:nvPr/>
          </p:nvSpPr>
          <p:spPr>
            <a:xfrm>
              <a:off x="2459" y="8805"/>
              <a:ext cx="45978" cy="3594"/>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just">
                <a:buClrTx/>
                <a:buSzTx/>
                <a:buNone/>
              </a:pPr>
              <a:r>
                <a:rPr lang="en-US" altLang="zh-CN" sz="4000" kern="100" dirty="0">
                  <a:solidFill>
                    <a:schemeClr val="tx1"/>
                  </a:solidFill>
                  <a:effectLst/>
                  <a:latin typeface="Times New Roman" panose="02020603050405020304" charset="0"/>
                  <a:ea typeface="等线" panose="02010600030101010101" pitchFamily="2" charset="-122"/>
                  <a:cs typeface="Times New Roman" panose="02020603050405020304" charset="0"/>
                </a:rPr>
                <a:t>The experiment was designed to purify creatine kinase (CK-MM) from rabbit muscle and to evaluate the efficiency of the different purification steps, including ammonium sulfate precipitation, purification with ethanol, and  ion exchange chromatography. The fractions was collected during purification and tested for protein concentration, enzyme activity and SDS-PAGE in subsequent steps. </a:t>
              </a:r>
              <a:endParaRPr lang="en-US" altLang="zh-CN" sz="4000" kern="100" dirty="0">
                <a:solidFill>
                  <a:schemeClr val="tx1"/>
                </a:solidFill>
                <a:effectLst/>
                <a:latin typeface="Times New Roman" panose="02020603050405020304" charset="0"/>
                <a:ea typeface="等线" panose="02010600030101010101" pitchFamily="2" charset="-122"/>
                <a:cs typeface="Times New Roman" panose="02020603050405020304" charset="0"/>
              </a:endParaRPr>
            </a:p>
          </p:txBody>
        </p:sp>
        <p:sp>
          <p:nvSpPr>
            <p:cNvPr id="9" name="圆角矩形 8"/>
            <p:cNvSpPr/>
            <p:nvPr/>
          </p:nvSpPr>
          <p:spPr>
            <a:xfrm>
              <a:off x="2499" y="7257"/>
              <a:ext cx="45921" cy="5102"/>
            </a:xfrm>
            <a:prstGeom prst="roundRect">
              <a:avLst/>
            </a:prstGeom>
            <a:noFill/>
            <a:ln w="6350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grpSp>
      <p:grpSp>
        <p:nvGrpSpPr>
          <p:cNvPr id="71" name="组合 70"/>
          <p:cNvGrpSpPr/>
          <p:nvPr/>
        </p:nvGrpSpPr>
        <p:grpSpPr>
          <a:xfrm>
            <a:off x="1314094" y="8806815"/>
            <a:ext cx="14251164" cy="15024674"/>
            <a:chOff x="1681" y="7257"/>
            <a:chExt cx="46848" cy="5113"/>
          </a:xfrm>
        </p:grpSpPr>
        <p:sp>
          <p:nvSpPr>
            <p:cNvPr id="72" name="同侧圆角矩形 71"/>
            <p:cNvSpPr/>
            <p:nvPr/>
          </p:nvSpPr>
          <p:spPr>
            <a:xfrm>
              <a:off x="2499" y="7257"/>
              <a:ext cx="45921" cy="5102"/>
            </a:xfrm>
            <a:prstGeom prst="round2SameRect">
              <a:avLst>
                <a:gd name="adj1" fmla="val 5627"/>
                <a:gd name="adj2" fmla="val 0"/>
              </a:avLst>
            </a:prstGeom>
            <a:solidFill>
              <a:srgbClr val="0166B3"/>
            </a:solidFill>
            <a:ln>
              <a:solidFill>
                <a:srgbClr val="0166B3"/>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fontAlgn="ctr"/>
              <a:r>
                <a:rPr lang="en-US" altLang="zh-CN" sz="4800" b="1">
                  <a:latin typeface="Times New Roman" panose="02020603050405020304" charset="0"/>
                  <a:cs typeface="Times New Roman" panose="02020603050405020304" charset="0"/>
                </a:rPr>
                <a:t>Background</a:t>
              </a:r>
              <a:endParaRPr lang="en-US" altLang="zh-CN" sz="4800" b="1">
                <a:latin typeface="Times New Roman" panose="02020603050405020304" charset="0"/>
                <a:cs typeface="Times New Roman" panose="02020603050405020304" charset="0"/>
              </a:endParaRPr>
            </a:p>
          </p:txBody>
        </p:sp>
        <p:sp>
          <p:nvSpPr>
            <p:cNvPr id="73" name="矩形 72"/>
            <p:cNvSpPr/>
            <p:nvPr/>
          </p:nvSpPr>
          <p:spPr>
            <a:xfrm>
              <a:off x="1681" y="7665"/>
              <a:ext cx="46848" cy="470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en-US" altLang="zh-CN" sz="4000">
                <a:solidFill>
                  <a:schemeClr val="tx1"/>
                </a:solidFill>
                <a:latin typeface="Times New Roman" panose="02020603050405020304" charset="0"/>
                <a:cs typeface="Times New Roman" panose="02020603050405020304" charset="0"/>
              </a:endParaRPr>
            </a:p>
          </p:txBody>
        </p:sp>
        <p:sp>
          <p:nvSpPr>
            <p:cNvPr id="74" name="圆角矩形 73"/>
            <p:cNvSpPr/>
            <p:nvPr/>
          </p:nvSpPr>
          <p:spPr>
            <a:xfrm>
              <a:off x="2499" y="7257"/>
              <a:ext cx="45921" cy="5102"/>
            </a:xfrm>
            <a:prstGeom prst="roundRect">
              <a:avLst>
                <a:gd name="adj" fmla="val 5167"/>
              </a:avLst>
            </a:prstGeom>
            <a:noFill/>
            <a:ln w="6350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grpSp>
      <p:grpSp>
        <p:nvGrpSpPr>
          <p:cNvPr id="75" name="组合 74"/>
          <p:cNvGrpSpPr/>
          <p:nvPr/>
        </p:nvGrpSpPr>
        <p:grpSpPr>
          <a:xfrm>
            <a:off x="16830675" y="8806815"/>
            <a:ext cx="14019668" cy="15024674"/>
            <a:chOff x="2442" y="7257"/>
            <a:chExt cx="46087" cy="5113"/>
          </a:xfrm>
        </p:grpSpPr>
        <p:sp>
          <p:nvSpPr>
            <p:cNvPr id="76" name="同侧圆角矩形 75"/>
            <p:cNvSpPr/>
            <p:nvPr/>
          </p:nvSpPr>
          <p:spPr>
            <a:xfrm>
              <a:off x="2499" y="7257"/>
              <a:ext cx="45921" cy="5102"/>
            </a:xfrm>
            <a:prstGeom prst="round2SameRect">
              <a:avLst>
                <a:gd name="adj1" fmla="val 5627"/>
                <a:gd name="adj2" fmla="val 0"/>
              </a:avLst>
            </a:prstGeom>
            <a:solidFill>
              <a:srgbClr val="0166B3"/>
            </a:solidFill>
            <a:ln>
              <a:solidFill>
                <a:srgbClr val="0166B3"/>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fontAlgn="ctr"/>
              <a:r>
                <a:rPr lang="en-US" altLang="zh-CN" sz="4800" b="1">
                  <a:latin typeface="Times New Roman" panose="02020603050405020304" charset="0"/>
                  <a:cs typeface="Times New Roman" panose="02020603050405020304" charset="0"/>
                </a:rPr>
                <a:t>Methods</a:t>
              </a:r>
              <a:endParaRPr lang="en-US" altLang="zh-CN" sz="4800" b="1">
                <a:latin typeface="Times New Roman" panose="02020603050405020304" charset="0"/>
                <a:cs typeface="Times New Roman" panose="02020603050405020304" charset="0"/>
              </a:endParaRPr>
            </a:p>
          </p:txBody>
        </p:sp>
        <p:sp>
          <p:nvSpPr>
            <p:cNvPr id="77" name="矩形 76"/>
            <p:cNvSpPr/>
            <p:nvPr/>
          </p:nvSpPr>
          <p:spPr>
            <a:xfrm>
              <a:off x="2442" y="7665"/>
              <a:ext cx="45978" cy="470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4000">
                <a:solidFill>
                  <a:schemeClr val="tx1"/>
                </a:solidFill>
                <a:latin typeface="Times New Roman" panose="02020603050405020304" charset="0"/>
                <a:cs typeface="Times New Roman" panose="02020603050405020304" charset="0"/>
              </a:endParaRPr>
            </a:p>
          </p:txBody>
        </p:sp>
        <p:sp>
          <p:nvSpPr>
            <p:cNvPr id="78" name="圆角矩形 77"/>
            <p:cNvSpPr/>
            <p:nvPr/>
          </p:nvSpPr>
          <p:spPr>
            <a:xfrm>
              <a:off x="2607" y="7257"/>
              <a:ext cx="45922" cy="5102"/>
            </a:xfrm>
            <a:prstGeom prst="roundRect">
              <a:avLst>
                <a:gd name="adj" fmla="val 5403"/>
              </a:avLst>
            </a:prstGeom>
            <a:noFill/>
            <a:ln w="6350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grpSp>
      <p:grpSp>
        <p:nvGrpSpPr>
          <p:cNvPr id="79" name="组合 78"/>
          <p:cNvGrpSpPr/>
          <p:nvPr/>
        </p:nvGrpSpPr>
        <p:grpSpPr>
          <a:xfrm>
            <a:off x="1545590" y="24502745"/>
            <a:ext cx="29305337" cy="15021735"/>
            <a:chOff x="2442" y="7257"/>
            <a:chExt cx="46031" cy="5112"/>
          </a:xfrm>
        </p:grpSpPr>
        <p:sp>
          <p:nvSpPr>
            <p:cNvPr id="81" name="同侧圆角矩形 80"/>
            <p:cNvSpPr/>
            <p:nvPr/>
          </p:nvSpPr>
          <p:spPr>
            <a:xfrm>
              <a:off x="2499" y="7257"/>
              <a:ext cx="45921" cy="5102"/>
            </a:xfrm>
            <a:prstGeom prst="round2SameRect">
              <a:avLst>
                <a:gd name="adj1" fmla="val 5627"/>
                <a:gd name="adj2" fmla="val 0"/>
              </a:avLst>
            </a:prstGeom>
            <a:solidFill>
              <a:srgbClr val="0166B3"/>
            </a:solidFill>
            <a:ln>
              <a:solidFill>
                <a:srgbClr val="0166B3"/>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fontAlgn="ctr"/>
              <a:r>
                <a:rPr lang="en-US" altLang="zh-CN" sz="4800" b="1">
                  <a:latin typeface="Times New Roman" panose="02020603050405020304" charset="0"/>
                  <a:cs typeface="Times New Roman" panose="02020603050405020304" charset="0"/>
                </a:rPr>
                <a:t>Results &amp; Discussion</a:t>
              </a:r>
              <a:endParaRPr lang="en-US" altLang="zh-CN" sz="4800" b="1">
                <a:latin typeface="Times New Roman" panose="02020603050405020304" charset="0"/>
                <a:cs typeface="Times New Roman" panose="02020603050405020304" charset="0"/>
              </a:endParaRPr>
            </a:p>
          </p:txBody>
        </p:sp>
        <p:sp>
          <p:nvSpPr>
            <p:cNvPr id="83" name="矩形 82"/>
            <p:cNvSpPr/>
            <p:nvPr/>
          </p:nvSpPr>
          <p:spPr>
            <a:xfrm>
              <a:off x="2442" y="7694"/>
              <a:ext cx="46031" cy="467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4000">
                <a:solidFill>
                  <a:schemeClr val="tx1"/>
                </a:solidFill>
                <a:latin typeface="Times New Roman" panose="02020603050405020304" charset="0"/>
                <a:cs typeface="Times New Roman" panose="02020603050405020304" charset="0"/>
              </a:endParaRPr>
            </a:p>
          </p:txBody>
        </p:sp>
        <p:sp>
          <p:nvSpPr>
            <p:cNvPr id="85" name="圆角矩形 84"/>
            <p:cNvSpPr/>
            <p:nvPr/>
          </p:nvSpPr>
          <p:spPr>
            <a:xfrm>
              <a:off x="2499" y="7257"/>
              <a:ext cx="45921" cy="5102"/>
            </a:xfrm>
            <a:prstGeom prst="roundRect">
              <a:avLst>
                <a:gd name="adj" fmla="val 5403"/>
              </a:avLst>
            </a:prstGeom>
            <a:noFill/>
            <a:ln w="6350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grpSp>
      <p:grpSp>
        <p:nvGrpSpPr>
          <p:cNvPr id="101" name="组合 100"/>
          <p:cNvGrpSpPr/>
          <p:nvPr/>
        </p:nvGrpSpPr>
        <p:grpSpPr>
          <a:xfrm>
            <a:off x="1586865" y="40388540"/>
            <a:ext cx="29196030" cy="1840865"/>
            <a:chOff x="2459" y="7257"/>
            <a:chExt cx="45978" cy="5142"/>
          </a:xfrm>
        </p:grpSpPr>
        <p:sp>
          <p:nvSpPr>
            <p:cNvPr id="105" name="矩形 104"/>
            <p:cNvSpPr/>
            <p:nvPr/>
          </p:nvSpPr>
          <p:spPr>
            <a:xfrm>
              <a:off x="2459" y="7258"/>
              <a:ext cx="45978" cy="5141"/>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lvl="1" algn="l"/>
              <a:r>
                <a:rPr lang="en-US" altLang="zh-CN" sz="4000">
                  <a:solidFill>
                    <a:schemeClr val="tx1"/>
                  </a:solidFill>
                  <a:latin typeface="Times New Roman" panose="02020603050405020304" charset="0"/>
                  <a:cs typeface="Times New Roman" panose="02020603050405020304" charset="0"/>
                </a:rPr>
                <a:t>[1] Structure of human muscle creatine kinase. </a:t>
              </a:r>
              <a:r>
                <a:rPr lang="en-US" altLang="zh-CN" sz="4000" i="1">
                  <a:solidFill>
                    <a:schemeClr val="tx1"/>
                  </a:solidFill>
                  <a:latin typeface="Times New Roman" panose="02020603050405020304" charset="0"/>
                  <a:cs typeface="Times New Roman" panose="02020603050405020304" charset="0"/>
                </a:rPr>
                <a:t>Acta crystallographica. Section D, Biological crystallography, 57</a:t>
              </a:r>
              <a:r>
                <a:rPr lang="en-US" altLang="zh-CN" sz="4000">
                  <a:solidFill>
                    <a:schemeClr val="tx1"/>
                  </a:solidFill>
                  <a:latin typeface="Times New Roman" panose="02020603050405020304" charset="0"/>
                  <a:cs typeface="Times New Roman" panose="02020603050405020304" charset="0"/>
                </a:rPr>
                <a:t>(Pt 8), 1196–1200.</a:t>
              </a:r>
              <a:endParaRPr lang="en-US" altLang="zh-CN" sz="4000">
                <a:solidFill>
                  <a:schemeClr val="tx1"/>
                </a:solidFill>
                <a:latin typeface="Times New Roman" panose="02020603050405020304" charset="0"/>
                <a:cs typeface="Times New Roman" panose="02020603050405020304" charset="0"/>
              </a:endParaRPr>
            </a:p>
            <a:p>
              <a:pPr lvl="1" algn="l"/>
              <a:r>
                <a:rPr lang="en-US" altLang="zh-CN" sz="4000">
                  <a:solidFill>
                    <a:schemeClr val="tx1"/>
                  </a:solidFill>
                  <a:latin typeface="Times New Roman" panose="02020603050405020304" charset="0"/>
                  <a:cs typeface="Times New Roman" panose="02020603050405020304" charset="0"/>
                </a:rPr>
                <a:t>[2] Crystal structure of rabbit muscle creatine kinase. </a:t>
              </a:r>
              <a:r>
                <a:rPr lang="en-US" altLang="zh-CN" sz="4000" i="1">
                  <a:solidFill>
                    <a:schemeClr val="tx1"/>
                  </a:solidFill>
                  <a:latin typeface="Times New Roman" panose="02020603050405020304" charset="0"/>
                  <a:cs typeface="Times New Roman" panose="02020603050405020304" charset="0"/>
                </a:rPr>
                <a:t>FEBS Lett.</a:t>
              </a:r>
              <a:r>
                <a:rPr lang="en-US" altLang="zh-CN" sz="4000">
                  <a:solidFill>
                    <a:schemeClr val="tx1"/>
                  </a:solidFill>
                  <a:latin typeface="Times New Roman" panose="02020603050405020304" charset="0"/>
                  <a:cs typeface="Times New Roman" panose="02020603050405020304" charset="0"/>
                </a:rPr>
                <a:t> 1998;439(1-2):133-137.</a:t>
              </a:r>
              <a:endParaRPr lang="en-US" altLang="zh-CN" sz="4000">
                <a:solidFill>
                  <a:schemeClr val="tx1"/>
                </a:solidFill>
                <a:latin typeface="Times New Roman" panose="02020603050405020304" charset="0"/>
                <a:cs typeface="Times New Roman" panose="02020603050405020304" charset="0"/>
              </a:endParaRPr>
            </a:p>
          </p:txBody>
        </p:sp>
        <p:sp>
          <p:nvSpPr>
            <p:cNvPr id="107" name="圆角矩形 106"/>
            <p:cNvSpPr/>
            <p:nvPr/>
          </p:nvSpPr>
          <p:spPr>
            <a:xfrm>
              <a:off x="2499" y="7257"/>
              <a:ext cx="45921" cy="5102"/>
            </a:xfrm>
            <a:prstGeom prst="roundRect">
              <a:avLst>
                <a:gd name="adj" fmla="val 32992"/>
              </a:avLst>
            </a:prstGeom>
            <a:noFill/>
            <a:ln w="6350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grpSp>
      <p:cxnSp>
        <p:nvCxnSpPr>
          <p:cNvPr id="215" name="直接连接符 214"/>
          <p:cNvCxnSpPr/>
          <p:nvPr/>
        </p:nvCxnSpPr>
        <p:spPr>
          <a:xfrm>
            <a:off x="11301730" y="25758140"/>
            <a:ext cx="43180" cy="13634720"/>
          </a:xfrm>
          <a:prstGeom prst="line">
            <a:avLst/>
          </a:prstGeom>
          <a:ln w="88900">
            <a:solidFill>
              <a:schemeClr val="bg2">
                <a:lumMod val="7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a:off x="20947380" y="25758140"/>
            <a:ext cx="43180" cy="13634720"/>
          </a:xfrm>
          <a:prstGeom prst="line">
            <a:avLst/>
          </a:prstGeom>
          <a:ln w="88900">
            <a:solidFill>
              <a:schemeClr val="bg2">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217" name="圆角矩形 216"/>
          <p:cNvSpPr/>
          <p:nvPr/>
        </p:nvSpPr>
        <p:spPr>
          <a:xfrm>
            <a:off x="2153288" y="26079450"/>
            <a:ext cx="8524875" cy="825500"/>
          </a:xfrm>
          <a:prstGeom prst="roundRect">
            <a:avLst>
              <a:gd name="adj" fmla="val 50000"/>
            </a:avLst>
          </a:prstGeom>
          <a:solidFill>
            <a:srgbClr val="ACE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sz="4400" b="1" dirty="0">
                <a:solidFill>
                  <a:schemeClr val="tx1"/>
                </a:solidFill>
                <a:latin typeface="Times New Roman" panose="02020603050405020304" charset="0"/>
                <a:cs typeface="Times New Roman" panose="02020603050405020304" charset="0"/>
                <a:sym typeface="+mn-ea"/>
              </a:rPr>
              <a:t>Enzyme</a:t>
            </a:r>
            <a:r>
              <a:rPr lang="en-US" altLang="zh-CN" sz="4400" b="1" dirty="0">
                <a:solidFill>
                  <a:schemeClr val="tx1"/>
                </a:solidFill>
                <a:latin typeface="Times New Roman" panose="02020603050405020304" charset="0"/>
                <a:cs typeface="Times New Roman" panose="02020603050405020304" charset="0"/>
              </a:rPr>
              <a:t> Purification</a:t>
            </a:r>
            <a:endParaRPr lang="en-US" altLang="zh-CN" sz="4400" b="1" dirty="0">
              <a:solidFill>
                <a:schemeClr val="tx1"/>
              </a:solidFill>
              <a:latin typeface="Times New Roman" panose="02020603050405020304" charset="0"/>
              <a:cs typeface="Times New Roman" panose="02020603050405020304" charset="0"/>
            </a:endParaRPr>
          </a:p>
        </p:txBody>
      </p:sp>
      <p:sp>
        <p:nvSpPr>
          <p:cNvPr id="219" name="圆角矩形 218"/>
          <p:cNvSpPr/>
          <p:nvPr/>
        </p:nvSpPr>
        <p:spPr>
          <a:xfrm>
            <a:off x="11896728" y="26079450"/>
            <a:ext cx="8524875" cy="825500"/>
          </a:xfrm>
          <a:prstGeom prst="roundRect">
            <a:avLst>
              <a:gd name="adj" fmla="val 50000"/>
            </a:avLst>
          </a:prstGeom>
          <a:solidFill>
            <a:srgbClr val="ACE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sz="4400" b="1" dirty="0">
                <a:solidFill>
                  <a:schemeClr val="tx1"/>
                </a:solidFill>
                <a:latin typeface="Times New Roman" panose="02020603050405020304" charset="0"/>
                <a:cs typeface="Times New Roman" panose="02020603050405020304" charset="0"/>
              </a:rPr>
              <a:t>SDS-PAGE</a:t>
            </a:r>
            <a:endParaRPr lang="en-US" altLang="zh-CN" sz="4400" b="1" dirty="0">
              <a:solidFill>
                <a:schemeClr val="tx1"/>
              </a:solidFill>
              <a:latin typeface="Times New Roman" panose="02020603050405020304" charset="0"/>
              <a:cs typeface="Times New Roman" panose="02020603050405020304" charset="0"/>
            </a:endParaRPr>
          </a:p>
        </p:txBody>
      </p:sp>
      <p:sp>
        <p:nvSpPr>
          <p:cNvPr id="220" name="圆角矩形 219"/>
          <p:cNvSpPr/>
          <p:nvPr/>
        </p:nvSpPr>
        <p:spPr>
          <a:xfrm>
            <a:off x="21640168" y="26079450"/>
            <a:ext cx="8524875" cy="825500"/>
          </a:xfrm>
          <a:prstGeom prst="roundRect">
            <a:avLst>
              <a:gd name="adj" fmla="val 50000"/>
            </a:avLst>
          </a:prstGeom>
          <a:solidFill>
            <a:srgbClr val="ACE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sz="4400" b="1" dirty="0">
                <a:solidFill>
                  <a:schemeClr val="tx1"/>
                </a:solidFill>
                <a:latin typeface="Times New Roman" panose="02020603050405020304" charset="0"/>
                <a:cs typeface="Times New Roman" panose="02020603050405020304" charset="0"/>
                <a:sym typeface="+mn-ea"/>
              </a:rPr>
              <a:t>Discussion</a:t>
            </a:r>
            <a:endParaRPr lang="en-US" altLang="zh-CN" sz="4400" b="1" dirty="0">
              <a:solidFill>
                <a:schemeClr val="tx1"/>
              </a:solidFill>
              <a:latin typeface="Times New Roman" panose="02020603050405020304" charset="0"/>
              <a:cs typeface="Times New Roman" panose="02020603050405020304" charset="0"/>
            </a:endParaRPr>
          </a:p>
        </p:txBody>
      </p:sp>
      <p:sp>
        <p:nvSpPr>
          <p:cNvPr id="221" name="圆角矩形 220"/>
          <p:cNvSpPr/>
          <p:nvPr/>
        </p:nvSpPr>
        <p:spPr>
          <a:xfrm>
            <a:off x="21634453" y="35243770"/>
            <a:ext cx="8524875" cy="825500"/>
          </a:xfrm>
          <a:prstGeom prst="roundRect">
            <a:avLst>
              <a:gd name="adj" fmla="val 50000"/>
            </a:avLst>
          </a:prstGeom>
          <a:solidFill>
            <a:srgbClr val="ACE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sz="4400" b="1" dirty="0">
                <a:solidFill>
                  <a:schemeClr val="tx1"/>
                </a:solidFill>
                <a:latin typeface="Times New Roman" panose="02020603050405020304" charset="0"/>
                <a:cs typeface="Times New Roman" panose="02020603050405020304" charset="0"/>
                <a:sym typeface="+mn-ea"/>
              </a:rPr>
              <a:t>Improvement</a:t>
            </a:r>
            <a:endParaRPr lang="en-US" altLang="zh-CN" sz="4400" b="1" dirty="0">
              <a:solidFill>
                <a:schemeClr val="tx1"/>
              </a:solidFill>
              <a:latin typeface="Times New Roman" panose="02020603050405020304" charset="0"/>
              <a:cs typeface="Times New Roman" panose="02020603050405020304" charset="0"/>
              <a:sym typeface="+mn-ea"/>
            </a:endParaRPr>
          </a:p>
        </p:txBody>
      </p:sp>
      <p:sp>
        <p:nvSpPr>
          <p:cNvPr id="2" name="文本框 1"/>
          <p:cNvSpPr txBox="1"/>
          <p:nvPr/>
        </p:nvSpPr>
        <p:spPr>
          <a:xfrm>
            <a:off x="2153285" y="10598150"/>
            <a:ext cx="12655550" cy="2694305"/>
          </a:xfrm>
          <a:prstGeom prst="rect">
            <a:avLst/>
          </a:prstGeom>
          <a:noFill/>
        </p:spPr>
        <p:txBody>
          <a:bodyPr wrap="square" rtlCol="0">
            <a:noAutofit/>
          </a:bodyPr>
          <a:p>
            <a:pPr algn="just">
              <a:buClrTx/>
              <a:buSzTx/>
              <a:buFontTx/>
            </a:pPr>
            <a:r>
              <a:rPr lang="en-US" altLang="zh-CN" sz="4000" b="1">
                <a:latin typeface="Times New Roman" panose="02020603050405020304" charset="0"/>
                <a:cs typeface="Times New Roman" panose="02020603050405020304" charset="0"/>
              </a:rPr>
              <a:t>Creatine kinase</a:t>
            </a:r>
            <a:r>
              <a:rPr lang="en-US" altLang="zh-CN" sz="4000">
                <a:latin typeface="Times New Roman" panose="02020603050405020304" charset="0"/>
                <a:cs typeface="Times New Roman" panose="02020603050405020304" charset="0"/>
              </a:rPr>
              <a:t> (E.C. 2.7.3.2) reversibly catalyzes the phosphoryl transfer between ATP and creatine. It plays an important role in the rapid regeneration of ATP in cells and tissues with high and fluctuating energy demands.</a:t>
            </a:r>
            <a:r>
              <a:rPr lang="en-US" altLang="zh-CN" sz="4000" baseline="30000">
                <a:latin typeface="Times New Roman" panose="02020603050405020304" charset="0"/>
                <a:cs typeface="Times New Roman" panose="02020603050405020304" charset="0"/>
              </a:rPr>
              <a:t>[1]</a:t>
            </a:r>
            <a:endParaRPr lang="en-US" altLang="zh-CN" sz="4000" baseline="30000">
              <a:latin typeface="Times New Roman" panose="02020603050405020304" charset="0"/>
              <a:cs typeface="Times New Roman" panose="02020603050405020304" charset="0"/>
            </a:endParaRPr>
          </a:p>
        </p:txBody>
      </p:sp>
      <p:pic>
        <p:nvPicPr>
          <p:cNvPr id="3" name="图片 2" descr="reaction"/>
          <p:cNvPicPr>
            <a:picLocks noChangeAspect="1"/>
          </p:cNvPicPr>
          <p:nvPr/>
        </p:nvPicPr>
        <p:blipFill>
          <a:blip r:embed="rId3"/>
          <a:stretch>
            <a:fillRect/>
          </a:stretch>
        </p:blipFill>
        <p:spPr>
          <a:xfrm>
            <a:off x="2153285" y="13093065"/>
            <a:ext cx="12456160" cy="2960370"/>
          </a:xfrm>
          <a:prstGeom prst="rect">
            <a:avLst/>
          </a:prstGeom>
        </p:spPr>
      </p:pic>
      <p:sp>
        <p:nvSpPr>
          <p:cNvPr id="5" name="文本框 4"/>
          <p:cNvSpPr txBox="1"/>
          <p:nvPr/>
        </p:nvSpPr>
        <p:spPr>
          <a:xfrm>
            <a:off x="3147695" y="15514320"/>
            <a:ext cx="10800080" cy="706755"/>
          </a:xfrm>
          <a:prstGeom prst="rect">
            <a:avLst/>
          </a:prstGeom>
          <a:noFill/>
        </p:spPr>
        <p:txBody>
          <a:bodyPr wrap="square" rtlCol="0">
            <a:spAutoFit/>
          </a:bodyPr>
          <a:p>
            <a:r>
              <a:rPr lang="en-US" altLang="zh-CN" sz="4000" b="1">
                <a:latin typeface="Times New Roman" panose="02020603050405020304" charset="0"/>
                <a:cs typeface="Times New Roman" panose="02020603050405020304" charset="0"/>
              </a:rPr>
              <a:t>Fig 1. </a:t>
            </a:r>
            <a:r>
              <a:rPr lang="en-US" altLang="zh-CN" sz="4000">
                <a:latin typeface="Times New Roman" panose="02020603050405020304" charset="0"/>
                <a:cs typeface="Times New Roman" panose="02020603050405020304" charset="0"/>
              </a:rPr>
              <a:t>Reaction catalyzed by creatine kinase</a:t>
            </a:r>
            <a:endParaRPr lang="en-US" altLang="zh-CN" sz="4000">
              <a:latin typeface="Times New Roman" panose="02020603050405020304" charset="0"/>
              <a:cs typeface="Times New Roman" panose="02020603050405020304" charset="0"/>
            </a:endParaRPr>
          </a:p>
        </p:txBody>
      </p:sp>
      <p:pic>
        <p:nvPicPr>
          <p:cNvPr id="7" name="图片 6"/>
          <p:cNvPicPr/>
          <p:nvPr/>
        </p:nvPicPr>
        <p:blipFill>
          <a:blip r:embed="rId4"/>
        </p:blipFill>
        <p:spPr>
          <a:xfrm>
            <a:off x="9490710" y="16419830"/>
            <a:ext cx="5809615" cy="5809615"/>
          </a:xfrm>
          <a:prstGeom prst="rect">
            <a:avLst/>
          </a:prstGeom>
        </p:spPr>
      </p:pic>
      <p:sp>
        <p:nvSpPr>
          <p:cNvPr id="10" name="文本框 9"/>
          <p:cNvSpPr txBox="1"/>
          <p:nvPr/>
        </p:nvSpPr>
        <p:spPr>
          <a:xfrm>
            <a:off x="9939020" y="22229445"/>
            <a:ext cx="4869815" cy="706755"/>
          </a:xfrm>
          <a:prstGeom prst="rect">
            <a:avLst/>
          </a:prstGeom>
          <a:noFill/>
        </p:spPr>
        <p:txBody>
          <a:bodyPr wrap="square" rtlCol="0">
            <a:spAutoFit/>
          </a:bodyPr>
          <a:p>
            <a:r>
              <a:rPr lang="en-US" altLang="zh-CN" sz="4000" b="1">
                <a:latin typeface="Times New Roman" panose="02020603050405020304" charset="0"/>
                <a:cs typeface="Times New Roman" panose="02020603050405020304" charset="0"/>
              </a:rPr>
              <a:t>Fig 2. </a:t>
            </a:r>
            <a:r>
              <a:rPr lang="en-US" altLang="zh-CN" sz="4000">
                <a:latin typeface="Times New Roman" panose="02020603050405020304" charset="0"/>
                <a:cs typeface="Times New Roman" panose="02020603050405020304" charset="0"/>
              </a:rPr>
              <a:t>Structure of CK</a:t>
            </a:r>
            <a:endParaRPr lang="en-US" altLang="zh-CN" sz="4000">
              <a:latin typeface="Times New Roman" panose="02020603050405020304" charset="0"/>
              <a:cs typeface="Times New Roman" panose="02020603050405020304" charset="0"/>
            </a:endParaRPr>
          </a:p>
        </p:txBody>
      </p:sp>
      <p:sp>
        <p:nvSpPr>
          <p:cNvPr id="11" name="文本框 10"/>
          <p:cNvSpPr txBox="1"/>
          <p:nvPr/>
        </p:nvSpPr>
        <p:spPr>
          <a:xfrm>
            <a:off x="2153285" y="16564610"/>
            <a:ext cx="7569835" cy="7044690"/>
          </a:xfrm>
          <a:prstGeom prst="rect">
            <a:avLst/>
          </a:prstGeom>
          <a:noFill/>
        </p:spPr>
        <p:txBody>
          <a:bodyPr wrap="square" rtlCol="0">
            <a:noAutofit/>
          </a:bodyPr>
          <a:p>
            <a:pPr algn="just">
              <a:buClrTx/>
              <a:buSzTx/>
              <a:buFontTx/>
            </a:pPr>
            <a:r>
              <a:rPr lang="en-US" altLang="zh-CN" sz="4000">
                <a:latin typeface="Times New Roman" panose="02020603050405020304" charset="0"/>
                <a:cs typeface="Times New Roman" panose="02020603050405020304" charset="0"/>
              </a:rPr>
              <a:t>Mitochondrial CK exists both as a dimer and an octamer. Cytosolic CK exists as dimer </a:t>
            </a:r>
            <a:r>
              <a:rPr lang="en-US" altLang="zh-CN" sz="4000">
                <a:latin typeface="Times New Roman" panose="02020603050405020304" charset="0"/>
                <a:cs typeface="Times New Roman" panose="02020603050405020304" charset="0"/>
                <a:sym typeface="+mn-ea"/>
              </a:rPr>
              <a:t>with </a:t>
            </a:r>
            <a:r>
              <a:rPr lang="en-US" altLang="zh-CN" sz="4000" b="1">
                <a:latin typeface="Times New Roman" panose="02020603050405020304" charset="0"/>
                <a:cs typeface="Times New Roman" panose="02020603050405020304" charset="0"/>
                <a:sym typeface="+mn-ea"/>
              </a:rPr>
              <a:t>43kDa</a:t>
            </a:r>
            <a:r>
              <a:rPr lang="en-US" altLang="zh-CN" sz="4000">
                <a:latin typeface="Times New Roman" panose="02020603050405020304" charset="0"/>
                <a:cs typeface="Times New Roman" panose="02020603050405020304" charset="0"/>
                <a:sym typeface="+mn-ea"/>
              </a:rPr>
              <a:t> per subunit,</a:t>
            </a:r>
            <a:r>
              <a:rPr lang="en-US" altLang="zh-CN" sz="4000">
                <a:latin typeface="Times New Roman" panose="02020603050405020304" charset="0"/>
                <a:cs typeface="Times New Roman" panose="02020603050405020304" charset="0"/>
              </a:rPr>
              <a:t> and has three isoforms: MM, MB and BB, where M and B denote muscle and brain.</a:t>
            </a:r>
            <a:r>
              <a:rPr lang="en-US" altLang="zh-CN" sz="4000" baseline="30000">
                <a:latin typeface="Times New Roman" panose="02020603050405020304" charset="0"/>
                <a:cs typeface="Times New Roman" panose="02020603050405020304" charset="0"/>
              </a:rPr>
              <a:t>[2]</a:t>
            </a:r>
            <a:endParaRPr lang="en-US" altLang="zh-CN" sz="4000" baseline="30000">
              <a:latin typeface="Times New Roman" panose="02020603050405020304" charset="0"/>
              <a:cs typeface="Times New Roman" panose="02020603050405020304" charset="0"/>
            </a:endParaRPr>
          </a:p>
          <a:p>
            <a:pPr algn="just">
              <a:buClrTx/>
              <a:buSzTx/>
              <a:buFontTx/>
            </a:pPr>
            <a:r>
              <a:rPr lang="en-US" altLang="zh-CN" sz="4000">
                <a:latin typeface="Times New Roman" panose="02020603050405020304" charset="0"/>
                <a:cs typeface="Times New Roman" panose="02020603050405020304" charset="0"/>
              </a:rPr>
              <a:t>Rabbits are used as model for CK purification due to their low cost, suitable body size, and high skeletal muscle weight. </a:t>
            </a:r>
            <a:r>
              <a:rPr lang="en-US" altLang="zh-CN" sz="4000">
                <a:latin typeface="Times New Roman" panose="02020603050405020304" charset="0"/>
                <a:cs typeface="Times New Roman" panose="02020603050405020304" charset="0"/>
                <a:sym typeface="+mn-ea"/>
              </a:rPr>
              <a:t>In this experiment, we purify </a:t>
            </a:r>
            <a:r>
              <a:rPr lang="en-US" altLang="zh-CN" sz="4000" b="1">
                <a:latin typeface="Times New Roman" panose="02020603050405020304" charset="0"/>
                <a:cs typeface="Times New Roman" panose="02020603050405020304" charset="0"/>
                <a:sym typeface="+mn-ea"/>
              </a:rPr>
              <a:t>CK-MM</a:t>
            </a:r>
            <a:r>
              <a:rPr lang="en-US" altLang="zh-CN" sz="4000">
                <a:latin typeface="Times New Roman" panose="02020603050405020304" charset="0"/>
                <a:cs typeface="Times New Roman" panose="02020603050405020304" charset="0"/>
                <a:sym typeface="+mn-ea"/>
              </a:rPr>
              <a:t> from rabbits.</a:t>
            </a:r>
            <a:endParaRPr lang="en-US" altLang="zh-CN" sz="4000">
              <a:latin typeface="Times New Roman" panose="02020603050405020304" charset="0"/>
              <a:cs typeface="Times New Roman" panose="02020603050405020304" charset="0"/>
            </a:endParaRPr>
          </a:p>
        </p:txBody>
      </p:sp>
      <p:pic>
        <p:nvPicPr>
          <p:cNvPr id="31" name="图片 30" descr="method_01(1)"/>
          <p:cNvPicPr>
            <a:picLocks noChangeAspect="1"/>
          </p:cNvPicPr>
          <p:nvPr/>
        </p:nvPicPr>
        <p:blipFill>
          <a:blip r:embed="rId5"/>
          <a:stretch>
            <a:fillRect/>
          </a:stretch>
        </p:blipFill>
        <p:spPr>
          <a:xfrm>
            <a:off x="16979900" y="10269855"/>
            <a:ext cx="13782675" cy="6353810"/>
          </a:xfrm>
          <a:prstGeom prst="rect">
            <a:avLst/>
          </a:prstGeom>
        </p:spPr>
      </p:pic>
      <p:sp>
        <p:nvSpPr>
          <p:cNvPr id="32" name="文本框 31"/>
          <p:cNvSpPr txBox="1"/>
          <p:nvPr/>
        </p:nvSpPr>
        <p:spPr>
          <a:xfrm>
            <a:off x="19914235" y="16657955"/>
            <a:ext cx="7818755" cy="706755"/>
          </a:xfrm>
          <a:prstGeom prst="rect">
            <a:avLst/>
          </a:prstGeom>
          <a:noFill/>
        </p:spPr>
        <p:txBody>
          <a:bodyPr wrap="square" rtlCol="0">
            <a:spAutoFit/>
          </a:bodyPr>
          <a:p>
            <a:pPr algn="ctr"/>
            <a:r>
              <a:rPr lang="en-US" altLang="zh-CN" sz="4000" b="1">
                <a:latin typeface="Times New Roman" panose="02020603050405020304" charset="0"/>
                <a:cs typeface="Times New Roman" panose="02020603050405020304" charset="0"/>
              </a:rPr>
              <a:t>Fig 3. </a:t>
            </a:r>
            <a:r>
              <a:rPr lang="en-US" altLang="zh-CN" sz="4000">
                <a:latin typeface="Times New Roman" panose="02020603050405020304" charset="0"/>
                <a:cs typeface="Times New Roman" panose="02020603050405020304" charset="0"/>
              </a:rPr>
              <a:t>Method of CK purification</a:t>
            </a:r>
            <a:endParaRPr lang="en-US" altLang="zh-CN" sz="4000">
              <a:latin typeface="Times New Roman" panose="02020603050405020304" charset="0"/>
              <a:cs typeface="Times New Roman" panose="02020603050405020304" charset="0"/>
            </a:endParaRPr>
          </a:p>
        </p:txBody>
      </p:sp>
      <p:sp>
        <p:nvSpPr>
          <p:cNvPr id="33" name="文本框 32"/>
          <p:cNvSpPr txBox="1"/>
          <p:nvPr/>
        </p:nvSpPr>
        <p:spPr>
          <a:xfrm>
            <a:off x="17509490" y="17626330"/>
            <a:ext cx="12655550" cy="5774690"/>
          </a:xfrm>
          <a:prstGeom prst="rect">
            <a:avLst/>
          </a:prstGeom>
          <a:noFill/>
        </p:spPr>
        <p:txBody>
          <a:bodyPr wrap="square" rtlCol="0">
            <a:noAutofit/>
          </a:bodyPr>
          <a:p>
            <a:pPr algn="just">
              <a:buClrTx/>
              <a:buSzTx/>
              <a:buFontTx/>
            </a:pPr>
            <a:r>
              <a:rPr lang="en-US" altLang="zh-CN" sz="4000">
                <a:latin typeface="Times New Roman" panose="02020603050405020304" charset="0"/>
                <a:cs typeface="Times New Roman" panose="02020603050405020304" charset="0"/>
              </a:rPr>
              <a:t>During purification, s</a:t>
            </a:r>
            <a:r>
              <a:rPr lang="en-US" altLang="zh-CN" sz="4000">
                <a:latin typeface="Times New Roman" panose="02020603050405020304" charset="0"/>
                <a:cs typeface="Times New Roman" panose="02020603050405020304" charset="0"/>
                <a:sym typeface="+mn-ea"/>
              </a:rPr>
              <a:t>amples at different stages (</a:t>
            </a:r>
            <a:r>
              <a:rPr lang="en-US" altLang="zh-CN" sz="4000" b="1">
                <a:latin typeface="Times New Roman" panose="02020603050405020304" charset="0"/>
                <a:cs typeface="Times New Roman" panose="02020603050405020304" charset="0"/>
                <a:sym typeface="+mn-ea"/>
              </a:rPr>
              <a:t>F1, F2, F3</a:t>
            </a:r>
            <a:r>
              <a:rPr lang="en-US" altLang="zh-CN" sz="4000">
                <a:latin typeface="Times New Roman" panose="02020603050405020304" charset="0"/>
                <a:cs typeface="Times New Roman" panose="02020603050405020304" charset="0"/>
                <a:sym typeface="+mn-ea"/>
              </a:rPr>
              <a:t>) were retained for further analysis. </a:t>
            </a:r>
            <a:r>
              <a:rPr lang="en-US" altLang="zh-CN" sz="4000" b="1">
                <a:latin typeface="Times New Roman" panose="02020603050405020304" charset="0"/>
                <a:cs typeface="Times New Roman" panose="02020603050405020304" charset="0"/>
                <a:sym typeface="+mn-ea"/>
              </a:rPr>
              <a:t>Ion exchange chromatography</a:t>
            </a:r>
            <a:r>
              <a:rPr lang="en-US" altLang="zh-CN" sz="4000">
                <a:latin typeface="Times New Roman" panose="02020603050405020304" charset="0"/>
                <a:cs typeface="Times New Roman" panose="02020603050405020304" charset="0"/>
                <a:sym typeface="+mn-ea"/>
              </a:rPr>
              <a:t> will collect samples from all possible peaks to determine which is CK </a:t>
            </a:r>
            <a:r>
              <a:rPr lang="en-US" altLang="zh-CN" sz="4000">
                <a:latin typeface="Times New Roman" panose="02020603050405020304" charset="0"/>
                <a:cs typeface="Times New Roman" panose="02020603050405020304" charset="0"/>
                <a:sym typeface="+mn-ea"/>
              </a:rPr>
              <a:t>by electrophoresis.</a:t>
            </a:r>
            <a:endParaRPr lang="en-US" altLang="zh-CN" sz="4000">
              <a:latin typeface="Times New Roman" panose="02020603050405020304" charset="0"/>
              <a:cs typeface="Times New Roman" panose="02020603050405020304" charset="0"/>
              <a:sym typeface="+mn-ea"/>
            </a:endParaRPr>
          </a:p>
          <a:p>
            <a:pPr algn="just">
              <a:buClrTx/>
              <a:buSzTx/>
              <a:buFontTx/>
            </a:pPr>
            <a:r>
              <a:rPr lang="en-US" altLang="zh-CN" sz="4000">
                <a:latin typeface="Times New Roman" panose="02020603050405020304" charset="0"/>
                <a:cs typeface="Times New Roman" panose="02020603050405020304" charset="0"/>
                <a:sym typeface="+mn-ea"/>
              </a:rPr>
              <a:t>Afterwards, t</a:t>
            </a:r>
            <a:r>
              <a:rPr lang="en-US" altLang="zh-CN" sz="4000">
                <a:latin typeface="Times New Roman" panose="02020603050405020304" charset="0"/>
                <a:cs typeface="Times New Roman" panose="02020603050405020304" charset="0"/>
                <a:sym typeface="+mn-ea"/>
              </a:rPr>
              <a:t>he result of purification was also visualized by </a:t>
            </a:r>
            <a:r>
              <a:rPr lang="en-US" altLang="zh-CN" sz="4000" b="1">
                <a:latin typeface="Times New Roman" panose="02020603050405020304" charset="0"/>
                <a:cs typeface="Times New Roman" panose="02020603050405020304" charset="0"/>
                <a:sym typeface="+mn-ea"/>
              </a:rPr>
              <a:t>SDS-PAGE</a:t>
            </a:r>
            <a:r>
              <a:rPr lang="en-US" altLang="zh-CN" sz="4000">
                <a:latin typeface="Times New Roman" panose="02020603050405020304" charset="0"/>
                <a:cs typeface="Times New Roman" panose="02020603050405020304" charset="0"/>
                <a:sym typeface="+mn-ea"/>
              </a:rPr>
              <a:t>. T</a:t>
            </a:r>
            <a:r>
              <a:rPr lang="en-US" altLang="zh-CN" sz="4000">
                <a:latin typeface="Times New Roman" panose="02020603050405020304" charset="0"/>
                <a:cs typeface="Times New Roman" panose="02020603050405020304" charset="0"/>
                <a:sym typeface="+mn-ea"/>
              </a:rPr>
              <a:t>he </a:t>
            </a:r>
            <a:r>
              <a:rPr lang="en-US" altLang="zh-CN" sz="4000" b="1">
                <a:latin typeface="Times New Roman" panose="02020603050405020304" charset="0"/>
                <a:cs typeface="Times New Roman" panose="02020603050405020304" charset="0"/>
                <a:sym typeface="+mn-ea"/>
              </a:rPr>
              <a:t>enzyme activity</a:t>
            </a:r>
            <a:r>
              <a:rPr lang="en-US" altLang="zh-CN" sz="4000">
                <a:latin typeface="Times New Roman" panose="02020603050405020304" charset="0"/>
                <a:cs typeface="Times New Roman" panose="02020603050405020304" charset="0"/>
                <a:sym typeface="+mn-ea"/>
              </a:rPr>
              <a:t> and </a:t>
            </a:r>
            <a:r>
              <a:rPr lang="en-US" altLang="zh-CN" sz="4000" b="1">
                <a:latin typeface="Times New Roman" panose="02020603050405020304" charset="0"/>
                <a:cs typeface="Times New Roman" panose="02020603050405020304" charset="0"/>
                <a:sym typeface="+mn-ea"/>
              </a:rPr>
              <a:t>protein concentration </a:t>
            </a:r>
            <a:r>
              <a:rPr lang="en-US" altLang="zh-CN" sz="4000">
                <a:latin typeface="Times New Roman" panose="02020603050405020304" charset="0"/>
                <a:cs typeface="Times New Roman" panose="02020603050405020304" charset="0"/>
                <a:sym typeface="+mn-ea"/>
              </a:rPr>
              <a:t>of F1, F2 and F3 were measured using </a:t>
            </a:r>
            <a:r>
              <a:rPr lang="en-US" altLang="zh-CN" sz="4000" b="1">
                <a:latin typeface="Times New Roman" panose="02020603050405020304" charset="0"/>
                <a:cs typeface="Times New Roman" panose="02020603050405020304" charset="0"/>
                <a:sym typeface="+mn-ea"/>
              </a:rPr>
              <a:t>spectrophotometry </a:t>
            </a:r>
            <a:r>
              <a:rPr lang="en-US" altLang="zh-CN" sz="4000">
                <a:latin typeface="Times New Roman" panose="02020603050405020304" charset="0"/>
                <a:cs typeface="Times New Roman" panose="02020603050405020304" charset="0"/>
                <a:sym typeface="+mn-ea"/>
              </a:rPr>
              <a:t>respectively, which shows the efficiency of purification. </a:t>
            </a:r>
            <a:endParaRPr lang="en-US" altLang="zh-CN" sz="4000">
              <a:latin typeface="Times New Roman" panose="02020603050405020304" charset="0"/>
              <a:cs typeface="Times New Roman" panose="02020603050405020304" charset="0"/>
              <a:sym typeface="+mn-ea"/>
            </a:endParaRPr>
          </a:p>
        </p:txBody>
      </p:sp>
      <p:pic>
        <p:nvPicPr>
          <p:cNvPr id="56" name="图片 55" descr="IEx"/>
          <p:cNvPicPr>
            <a:picLocks noChangeAspect="1"/>
          </p:cNvPicPr>
          <p:nvPr/>
        </p:nvPicPr>
        <p:blipFill>
          <a:blip r:embed="rId6"/>
          <a:stretch>
            <a:fillRect/>
          </a:stretch>
        </p:blipFill>
        <p:spPr>
          <a:xfrm>
            <a:off x="1650365" y="31521400"/>
            <a:ext cx="9572625" cy="5354955"/>
          </a:xfrm>
          <a:prstGeom prst="rect">
            <a:avLst/>
          </a:prstGeom>
        </p:spPr>
      </p:pic>
      <p:sp>
        <p:nvSpPr>
          <p:cNvPr id="37" name="文本框 36"/>
          <p:cNvSpPr txBox="1"/>
          <p:nvPr/>
        </p:nvSpPr>
        <p:spPr>
          <a:xfrm>
            <a:off x="7312660" y="32193230"/>
            <a:ext cx="1728470" cy="706755"/>
          </a:xfrm>
          <a:prstGeom prst="rect">
            <a:avLst/>
          </a:prstGeom>
          <a:noFill/>
        </p:spPr>
        <p:txBody>
          <a:bodyPr wrap="square" rtlCol="0" anchor="t">
            <a:spAutoFit/>
          </a:bodyPr>
          <a:p>
            <a:r>
              <a:rPr lang="en-US" altLang="zh-CN" sz="4000" kern="100" dirty="0">
                <a:effectLst/>
                <a:latin typeface="Times New Roman" panose="02020603050405020304" charset="0"/>
                <a:ea typeface="等线" panose="02010600030101010101" pitchFamily="2" charset="-122"/>
                <a:cs typeface="Times New Roman" panose="02020603050405020304" charset="0"/>
                <a:sym typeface="+mn-ea"/>
              </a:rPr>
              <a:t>Peak 1</a:t>
            </a:r>
            <a:endParaRPr lang="en-US" altLang="zh-CN" sz="4000" kern="100" dirty="0">
              <a:effectLst/>
              <a:latin typeface="Times New Roman" panose="02020603050405020304" charset="0"/>
              <a:ea typeface="等线" panose="02010600030101010101" pitchFamily="2" charset="-122"/>
              <a:cs typeface="Times New Roman" panose="02020603050405020304" charset="0"/>
              <a:sym typeface="+mn-ea"/>
            </a:endParaRPr>
          </a:p>
        </p:txBody>
      </p:sp>
      <p:sp>
        <p:nvSpPr>
          <p:cNvPr id="38" name="左箭头 37"/>
          <p:cNvSpPr/>
          <p:nvPr/>
        </p:nvSpPr>
        <p:spPr>
          <a:xfrm>
            <a:off x="6683375" y="32403415"/>
            <a:ext cx="629285" cy="331470"/>
          </a:xfrm>
          <a:prstGeom prst="left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fontAlgn="ctr"/>
            <a:endParaRPr lang="en-US" altLang="zh-CN" sz="4000">
              <a:latin typeface="Times New Roman" panose="02020603050405020304" charset="0"/>
              <a:cs typeface="Times New Roman" panose="02020603050405020304" charset="0"/>
            </a:endParaRPr>
          </a:p>
        </p:txBody>
      </p:sp>
      <p:sp>
        <p:nvSpPr>
          <p:cNvPr id="42" name="文本框 41"/>
          <p:cNvSpPr txBox="1"/>
          <p:nvPr/>
        </p:nvSpPr>
        <p:spPr>
          <a:xfrm>
            <a:off x="8859520" y="34334450"/>
            <a:ext cx="1728470" cy="706755"/>
          </a:xfrm>
          <a:prstGeom prst="rect">
            <a:avLst/>
          </a:prstGeom>
          <a:noFill/>
        </p:spPr>
        <p:txBody>
          <a:bodyPr wrap="square" rtlCol="0" anchor="t">
            <a:spAutoFit/>
          </a:bodyPr>
          <a:p>
            <a:r>
              <a:rPr lang="en-US" altLang="zh-CN" sz="4000" kern="100" dirty="0">
                <a:effectLst/>
                <a:latin typeface="Times New Roman" panose="02020603050405020304" charset="0"/>
                <a:ea typeface="等线" panose="02010600030101010101" pitchFamily="2" charset="-122"/>
                <a:cs typeface="Times New Roman" panose="02020603050405020304" charset="0"/>
                <a:sym typeface="+mn-ea"/>
              </a:rPr>
              <a:t>Peak 2</a:t>
            </a:r>
            <a:endParaRPr lang="en-US" altLang="zh-CN" sz="4000" kern="100" dirty="0">
              <a:effectLst/>
              <a:latin typeface="Times New Roman" panose="02020603050405020304" charset="0"/>
              <a:ea typeface="等线" panose="02010600030101010101" pitchFamily="2" charset="-122"/>
              <a:cs typeface="Times New Roman" panose="02020603050405020304" charset="0"/>
              <a:sym typeface="+mn-ea"/>
            </a:endParaRPr>
          </a:p>
        </p:txBody>
      </p:sp>
      <p:sp>
        <p:nvSpPr>
          <p:cNvPr id="45" name="左箭头 44"/>
          <p:cNvSpPr/>
          <p:nvPr/>
        </p:nvSpPr>
        <p:spPr>
          <a:xfrm>
            <a:off x="8230235" y="34544635"/>
            <a:ext cx="629285" cy="331470"/>
          </a:xfrm>
          <a:prstGeom prst="left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fontAlgn="ctr"/>
            <a:endParaRPr lang="en-US" altLang="zh-CN" sz="4000">
              <a:latin typeface="Times New Roman" panose="02020603050405020304" charset="0"/>
              <a:cs typeface="Times New Roman" panose="02020603050405020304" charset="0"/>
            </a:endParaRPr>
          </a:p>
        </p:txBody>
      </p:sp>
      <p:sp>
        <p:nvSpPr>
          <p:cNvPr id="49" name="文本框 48"/>
          <p:cNvSpPr txBox="1"/>
          <p:nvPr/>
        </p:nvSpPr>
        <p:spPr>
          <a:xfrm>
            <a:off x="2352040" y="36763960"/>
            <a:ext cx="7818755" cy="706755"/>
          </a:xfrm>
          <a:prstGeom prst="rect">
            <a:avLst/>
          </a:prstGeom>
          <a:noFill/>
        </p:spPr>
        <p:txBody>
          <a:bodyPr wrap="square" rtlCol="0">
            <a:spAutoFit/>
          </a:bodyPr>
          <a:p>
            <a:pPr algn="ctr"/>
            <a:r>
              <a:rPr lang="en-US" altLang="zh-CN" sz="4000" b="1">
                <a:latin typeface="Times New Roman" panose="02020603050405020304" charset="0"/>
                <a:cs typeface="Times New Roman" panose="02020603050405020304" charset="0"/>
              </a:rPr>
              <a:t>Fig 4. </a:t>
            </a:r>
            <a:r>
              <a:rPr lang="en-US" altLang="zh-CN" sz="4000" dirty="0" err="1">
                <a:latin typeface="Times New Roman" panose="02020603050405020304" charset="0"/>
                <a:sym typeface="+mn-ea"/>
              </a:rPr>
              <a:t>IEx</a:t>
            </a:r>
            <a:r>
              <a:rPr lang="en-US" altLang="zh-CN" sz="4000" dirty="0">
                <a:latin typeface="Times New Roman" panose="02020603050405020304" charset="0"/>
                <a:sym typeface="+mn-ea"/>
              </a:rPr>
              <a:t> elution curve</a:t>
            </a:r>
            <a:endParaRPr lang="en-US" altLang="zh-CN" sz="4000">
              <a:latin typeface="Times New Roman" panose="02020603050405020304" charset="0"/>
              <a:cs typeface="Times New Roman" panose="02020603050405020304" charset="0"/>
            </a:endParaRPr>
          </a:p>
        </p:txBody>
      </p:sp>
      <p:sp>
        <p:nvSpPr>
          <p:cNvPr id="57" name="文本框 56"/>
          <p:cNvSpPr txBox="1"/>
          <p:nvPr/>
        </p:nvSpPr>
        <p:spPr>
          <a:xfrm>
            <a:off x="1861823" y="37444045"/>
            <a:ext cx="9330690" cy="1938020"/>
          </a:xfrm>
          <a:prstGeom prst="rect">
            <a:avLst/>
          </a:prstGeom>
          <a:noFill/>
        </p:spPr>
        <p:txBody>
          <a:bodyPr wrap="square" rtlCol="0">
            <a:spAutoFit/>
          </a:bodyPr>
          <a:p>
            <a:pPr algn="just"/>
            <a:r>
              <a:rPr lang="en-US" altLang="zh-CN" sz="4000" kern="100" dirty="0">
                <a:effectLst/>
                <a:latin typeface="Times New Roman" panose="02020603050405020304" charset="0"/>
                <a:ea typeface="等线" panose="02010600030101010101" pitchFamily="2" charset="-122"/>
                <a:cs typeface="Times New Roman" panose="02020603050405020304" charset="0"/>
                <a:sym typeface="+mn-ea"/>
              </a:rPr>
              <a:t>The results of IEx chromatography shows that purified proteins may appear in two possible peaks.</a:t>
            </a:r>
            <a:endParaRPr lang="en-US" altLang="zh-CN" sz="4000" kern="100" dirty="0">
              <a:effectLst/>
              <a:latin typeface="Times New Roman" panose="02020603050405020304" charset="0"/>
              <a:ea typeface="等线" panose="02010600030101010101" pitchFamily="2" charset="-122"/>
              <a:cs typeface="Times New Roman" panose="02020603050405020304" charset="0"/>
              <a:sym typeface="+mn-ea"/>
            </a:endParaRPr>
          </a:p>
        </p:txBody>
      </p:sp>
      <p:pic>
        <p:nvPicPr>
          <p:cNvPr id="58" name="图片 57" descr="Figure_01"/>
          <p:cNvPicPr>
            <a:picLocks noChangeAspect="1"/>
          </p:cNvPicPr>
          <p:nvPr/>
        </p:nvPicPr>
        <p:blipFill>
          <a:blip r:embed="rId7"/>
          <a:stretch>
            <a:fillRect/>
          </a:stretch>
        </p:blipFill>
        <p:spPr>
          <a:xfrm>
            <a:off x="11675745" y="26953210"/>
            <a:ext cx="8964295" cy="9911080"/>
          </a:xfrm>
          <a:prstGeom prst="rect">
            <a:avLst/>
          </a:prstGeom>
        </p:spPr>
      </p:pic>
      <p:sp>
        <p:nvSpPr>
          <p:cNvPr id="61" name="文本框 60"/>
          <p:cNvSpPr txBox="1"/>
          <p:nvPr/>
        </p:nvSpPr>
        <p:spPr>
          <a:xfrm>
            <a:off x="11464293" y="37504370"/>
            <a:ext cx="9330690" cy="1938020"/>
          </a:xfrm>
          <a:prstGeom prst="rect">
            <a:avLst/>
          </a:prstGeom>
          <a:noFill/>
        </p:spPr>
        <p:txBody>
          <a:bodyPr wrap="square" rtlCol="0">
            <a:spAutoFit/>
          </a:bodyPr>
          <a:p>
            <a:pPr algn="just"/>
            <a:r>
              <a:rPr lang="en-US" altLang="zh-CN" sz="4000" kern="100" dirty="0">
                <a:effectLst/>
                <a:latin typeface="Times New Roman" panose="02020603050405020304" charset="0"/>
                <a:ea typeface="等线" panose="02010600030101010101" pitchFamily="2" charset="-122"/>
                <a:cs typeface="Times New Roman" panose="02020603050405020304" charset="0"/>
                <a:sym typeface="+mn-ea"/>
              </a:rPr>
              <a:t>Considering the molecular weight of CK subunit (43kDa), </a:t>
            </a:r>
            <a:r>
              <a:rPr lang="en-US" altLang="zh-CN" sz="4000" kern="100" dirty="0">
                <a:effectLst/>
                <a:latin typeface="Times New Roman" panose="02020603050405020304" charset="0"/>
                <a:ea typeface="等线" panose="02010600030101010101" pitchFamily="2" charset="-122"/>
                <a:cs typeface="Times New Roman" panose="02020603050405020304" charset="0"/>
                <a:sym typeface="+mn-ea"/>
              </a:rPr>
              <a:t>the results of SDS-PAGE shows that </a:t>
            </a:r>
            <a:r>
              <a:rPr lang="en-US" altLang="zh-CN" sz="4000" b="1" kern="100" dirty="0">
                <a:effectLst/>
                <a:latin typeface="Times New Roman" panose="02020603050405020304" charset="0"/>
                <a:ea typeface="等线" panose="02010600030101010101" pitchFamily="2" charset="-122"/>
                <a:cs typeface="Times New Roman" panose="02020603050405020304" charset="0"/>
                <a:sym typeface="+mn-ea"/>
              </a:rPr>
              <a:t>Peak 1</a:t>
            </a:r>
            <a:r>
              <a:rPr lang="en-US" altLang="zh-CN" sz="4000" kern="100" dirty="0">
                <a:effectLst/>
                <a:latin typeface="Times New Roman" panose="02020603050405020304" charset="0"/>
                <a:ea typeface="等线" panose="02010600030101010101" pitchFamily="2" charset="-122"/>
                <a:cs typeface="Times New Roman" panose="02020603050405020304" charset="0"/>
                <a:sym typeface="+mn-ea"/>
              </a:rPr>
              <a:t> is purified CK</a:t>
            </a:r>
            <a:endParaRPr lang="en-US" altLang="zh-CN" sz="4000" kern="100" dirty="0">
              <a:effectLst/>
              <a:latin typeface="Times New Roman" panose="02020603050405020304" charset="0"/>
              <a:ea typeface="等线" panose="02010600030101010101" pitchFamily="2" charset="-122"/>
              <a:cs typeface="Times New Roman" panose="02020603050405020304" charset="0"/>
              <a:sym typeface="+mn-ea"/>
            </a:endParaRPr>
          </a:p>
        </p:txBody>
      </p:sp>
      <p:graphicFrame>
        <p:nvGraphicFramePr>
          <p:cNvPr id="63" name="表格 62"/>
          <p:cNvGraphicFramePr/>
          <p:nvPr>
            <p:custDataLst>
              <p:tags r:id="rId8"/>
            </p:custDataLst>
          </p:nvPr>
        </p:nvGraphicFramePr>
        <p:xfrm>
          <a:off x="1758950" y="27938730"/>
          <a:ext cx="9342120" cy="2945130"/>
        </p:xfrm>
        <a:graphic>
          <a:graphicData uri="http://schemas.openxmlformats.org/drawingml/2006/table">
            <a:tbl>
              <a:tblPr firstRow="1" bandRow="1">
                <a:tableStyleId>{5940675A-B579-460E-94D1-54222C63F5DA}</a:tableStyleId>
              </a:tblPr>
              <a:tblGrid>
                <a:gridCol w="948690"/>
                <a:gridCol w="895985"/>
                <a:gridCol w="1320165"/>
                <a:gridCol w="1120140"/>
                <a:gridCol w="1076325"/>
                <a:gridCol w="1391920"/>
                <a:gridCol w="1266825"/>
                <a:gridCol w="1322070"/>
              </a:tblGrid>
              <a:tr h="889635">
                <a:tc>
                  <a:txBody>
                    <a:bodyPr/>
                    <a:p>
                      <a:pPr algn="ctr">
                        <a:buNone/>
                      </a:pPr>
                      <a:r>
                        <a:rPr lang="zh-CN" altLang="en-US" sz="1800">
                          <a:latin typeface="Times New Roman" panose="02020603050405020304" charset="0"/>
                          <a:cs typeface="Times New Roman" panose="02020603050405020304" charset="0"/>
                        </a:rPr>
                        <a:t>Fraction</a:t>
                      </a:r>
                      <a:endParaRPr lang="zh-CN" altLang="en-US" sz="1800">
                        <a:latin typeface="Times New Roman" panose="02020603050405020304" charset="0"/>
                        <a:cs typeface="Times New Roman" panose="02020603050405020304" charset="0"/>
                      </a:endParaRPr>
                    </a:p>
                    <a:p>
                      <a:pPr algn="ctr">
                        <a:buNone/>
                      </a:pPr>
                      <a:r>
                        <a:rPr lang="zh-CN" altLang="en-US" sz="1800">
                          <a:latin typeface="Times New Roman" panose="02020603050405020304" charset="0"/>
                          <a:cs typeface="Times New Roman" panose="02020603050405020304" charset="0"/>
                        </a:rPr>
                        <a:t>No.</a:t>
                      </a:r>
                      <a:endParaRPr lang="zh-CN" altLang="en-US" sz="1800">
                        <a:latin typeface="Times New Roman" panose="02020603050405020304" charset="0"/>
                        <a:cs typeface="Times New Roman" panose="02020603050405020304" charset="0"/>
                      </a:endParaRPr>
                    </a:p>
                  </a:txBody>
                  <a:tcPr anchor="ctr" anchorCtr="0">
                    <a:lnL>
                      <a:noFill/>
                    </a:lnL>
                    <a:lnR>
                      <a:noFill/>
                    </a:lnR>
                    <a:lnT w="28575">
                      <a:solidFill>
                        <a:schemeClr val="accent1"/>
                      </a:solidFill>
                      <a:prstDash val="solid"/>
                    </a:lnT>
                    <a:lnB w="12700">
                      <a:solidFill>
                        <a:schemeClr val="accent1"/>
                      </a:solidFill>
                      <a:prstDash val="solid"/>
                    </a:lnB>
                    <a:lnTlToBr>
                      <a:noFill/>
                    </a:lnTlToBr>
                    <a:lnBlToTr>
                      <a:noFill/>
                    </a:lnBlToTr>
                  </a:tcPr>
                </a:tc>
                <a:tc>
                  <a:txBody>
                    <a:bodyPr/>
                    <a:p>
                      <a:pPr algn="ctr">
                        <a:buNone/>
                      </a:pPr>
                      <a:r>
                        <a:rPr lang="zh-CN" altLang="en-US" sz="1800">
                          <a:latin typeface="Times New Roman" panose="02020603050405020304" charset="0"/>
                          <a:cs typeface="Times New Roman" panose="02020603050405020304" charset="0"/>
                        </a:rPr>
                        <a:t>Volume</a:t>
                      </a:r>
                      <a:endParaRPr lang="zh-CN" altLang="en-US" sz="1800">
                        <a:latin typeface="Times New Roman" panose="02020603050405020304" charset="0"/>
                        <a:cs typeface="Times New Roman" panose="02020603050405020304" charset="0"/>
                      </a:endParaRPr>
                    </a:p>
                    <a:p>
                      <a:pPr algn="ctr">
                        <a:buNone/>
                      </a:pPr>
                      <a:r>
                        <a:rPr lang="zh-CN" altLang="en-US" sz="1800">
                          <a:latin typeface="Times New Roman" panose="02020603050405020304" charset="0"/>
                          <a:cs typeface="Times New Roman" panose="02020603050405020304" charset="0"/>
                        </a:rPr>
                        <a:t>(mL)</a:t>
                      </a:r>
                      <a:endParaRPr lang="zh-CN" altLang="en-US" sz="1800">
                        <a:latin typeface="Times New Roman" panose="02020603050405020304" charset="0"/>
                        <a:cs typeface="Times New Roman" panose="02020603050405020304" charset="0"/>
                      </a:endParaRPr>
                    </a:p>
                  </a:txBody>
                  <a:tcPr anchor="ctr" anchorCtr="0">
                    <a:lnL>
                      <a:noFill/>
                    </a:lnL>
                    <a:lnR>
                      <a:noFill/>
                    </a:lnR>
                    <a:lnT w="28575">
                      <a:solidFill>
                        <a:schemeClr val="accent1"/>
                      </a:solidFill>
                      <a:prstDash val="solid"/>
                    </a:lnT>
                    <a:lnB w="12700">
                      <a:solidFill>
                        <a:schemeClr val="accent1"/>
                      </a:solidFill>
                      <a:prstDash val="solid"/>
                    </a:lnB>
                    <a:lnTlToBr>
                      <a:noFill/>
                    </a:lnTlToBr>
                    <a:lnBlToTr>
                      <a:noFill/>
                    </a:lnBlToTr>
                  </a:tcPr>
                </a:tc>
                <a:tc>
                  <a:txBody>
                    <a:bodyPr/>
                    <a:p>
                      <a:pPr algn="ctr">
                        <a:buNone/>
                      </a:pPr>
                      <a:r>
                        <a:rPr lang="zh-CN" altLang="en-US" sz="1800">
                          <a:latin typeface="Times New Roman" panose="02020603050405020304" charset="0"/>
                          <a:cs typeface="Times New Roman" panose="02020603050405020304" charset="0"/>
                        </a:rPr>
                        <a:t>Protein</a:t>
                      </a:r>
                      <a:endParaRPr lang="zh-CN" altLang="en-US" sz="1800">
                        <a:latin typeface="Times New Roman" panose="02020603050405020304" charset="0"/>
                        <a:cs typeface="Times New Roman" panose="02020603050405020304" charset="0"/>
                      </a:endParaRPr>
                    </a:p>
                    <a:p>
                      <a:pPr algn="ctr">
                        <a:buNone/>
                      </a:pPr>
                      <a:r>
                        <a:rPr lang="zh-CN" altLang="en-US" sz="1600">
                          <a:latin typeface="Times New Roman" panose="02020603050405020304" charset="0"/>
                          <a:cs typeface="Times New Roman" panose="02020603050405020304" charset="0"/>
                        </a:rPr>
                        <a:t>concentration</a:t>
                      </a:r>
                      <a:endParaRPr lang="zh-CN" altLang="en-US" sz="1600">
                        <a:latin typeface="Times New Roman" panose="02020603050405020304" charset="0"/>
                        <a:cs typeface="Times New Roman" panose="02020603050405020304" charset="0"/>
                      </a:endParaRPr>
                    </a:p>
                    <a:p>
                      <a:pPr algn="ctr">
                        <a:buNone/>
                      </a:pPr>
                      <a:r>
                        <a:rPr lang="zh-CN" altLang="en-US" sz="1800">
                          <a:latin typeface="Times New Roman" panose="02020603050405020304" charset="0"/>
                          <a:cs typeface="Times New Roman" panose="02020603050405020304" charset="0"/>
                        </a:rPr>
                        <a:t>(mg/mL)</a:t>
                      </a:r>
                      <a:endParaRPr lang="zh-CN" altLang="en-US" sz="1800">
                        <a:latin typeface="Times New Roman" panose="02020603050405020304" charset="0"/>
                        <a:cs typeface="Times New Roman" panose="02020603050405020304" charset="0"/>
                      </a:endParaRPr>
                    </a:p>
                  </a:txBody>
                  <a:tcPr anchor="ctr" anchorCtr="0">
                    <a:lnL>
                      <a:noFill/>
                    </a:lnL>
                    <a:lnR>
                      <a:noFill/>
                    </a:lnR>
                    <a:lnT w="28575">
                      <a:solidFill>
                        <a:schemeClr val="accent1"/>
                      </a:solidFill>
                      <a:prstDash val="solid"/>
                    </a:lnT>
                    <a:lnB w="12700">
                      <a:solidFill>
                        <a:schemeClr val="accent1"/>
                      </a:solidFill>
                      <a:prstDash val="solid"/>
                    </a:lnB>
                    <a:lnTlToBr>
                      <a:noFill/>
                    </a:lnTlToBr>
                    <a:lnBlToTr>
                      <a:noFill/>
                    </a:lnBlToTr>
                  </a:tcPr>
                </a:tc>
                <a:tc>
                  <a:txBody>
                    <a:bodyPr/>
                    <a:p>
                      <a:pPr algn="ctr">
                        <a:buNone/>
                      </a:pPr>
                      <a:r>
                        <a:rPr lang="zh-CN" altLang="en-US" sz="1800">
                          <a:latin typeface="Times New Roman" panose="02020603050405020304" charset="0"/>
                          <a:cs typeface="Times New Roman" panose="02020603050405020304" charset="0"/>
                        </a:rPr>
                        <a:t>Total </a:t>
                      </a:r>
                      <a:endParaRPr lang="zh-CN" altLang="en-US" sz="1800">
                        <a:latin typeface="Times New Roman" panose="02020603050405020304" charset="0"/>
                        <a:cs typeface="Times New Roman" panose="02020603050405020304" charset="0"/>
                      </a:endParaRPr>
                    </a:p>
                    <a:p>
                      <a:pPr algn="ctr">
                        <a:buNone/>
                      </a:pPr>
                      <a:r>
                        <a:rPr lang="zh-CN" altLang="en-US" sz="1800">
                          <a:latin typeface="Times New Roman" panose="02020603050405020304" charset="0"/>
                          <a:cs typeface="Times New Roman" panose="02020603050405020304" charset="0"/>
                        </a:rPr>
                        <a:t>protein</a:t>
                      </a:r>
                      <a:endParaRPr lang="zh-CN" altLang="en-US" sz="1800">
                        <a:latin typeface="Times New Roman" panose="02020603050405020304" charset="0"/>
                        <a:cs typeface="Times New Roman" panose="02020603050405020304" charset="0"/>
                      </a:endParaRPr>
                    </a:p>
                    <a:p>
                      <a:pPr algn="ctr">
                        <a:buNone/>
                      </a:pPr>
                      <a:r>
                        <a:rPr lang="zh-CN" altLang="en-US" sz="1800">
                          <a:latin typeface="Times New Roman" panose="02020603050405020304" charset="0"/>
                          <a:cs typeface="Times New Roman" panose="02020603050405020304" charset="0"/>
                        </a:rPr>
                        <a:t>(mg)</a:t>
                      </a:r>
                      <a:endParaRPr lang="zh-CN" altLang="en-US" sz="1800">
                        <a:latin typeface="Times New Roman" panose="02020603050405020304" charset="0"/>
                        <a:cs typeface="Times New Roman" panose="02020603050405020304" charset="0"/>
                      </a:endParaRPr>
                    </a:p>
                  </a:txBody>
                  <a:tcPr anchor="ctr" anchorCtr="0">
                    <a:lnL>
                      <a:noFill/>
                    </a:lnL>
                    <a:lnR>
                      <a:noFill/>
                    </a:lnR>
                    <a:lnT w="28575">
                      <a:solidFill>
                        <a:schemeClr val="accent1"/>
                      </a:solidFill>
                      <a:prstDash val="solid"/>
                    </a:lnT>
                    <a:lnB w="12700">
                      <a:solidFill>
                        <a:schemeClr val="accent1"/>
                      </a:solidFill>
                      <a:prstDash val="solid"/>
                    </a:lnB>
                    <a:lnTlToBr>
                      <a:noFill/>
                    </a:lnTlToBr>
                    <a:lnBlToTr>
                      <a:noFill/>
                    </a:lnBlToTr>
                  </a:tcPr>
                </a:tc>
                <a:tc>
                  <a:txBody>
                    <a:bodyPr/>
                    <a:p>
                      <a:pPr algn="ctr">
                        <a:buNone/>
                      </a:pPr>
                      <a:r>
                        <a:rPr lang="zh-CN" altLang="en-US" sz="1800">
                          <a:latin typeface="Times New Roman" panose="02020603050405020304" charset="0"/>
                          <a:cs typeface="Times New Roman" panose="02020603050405020304" charset="0"/>
                        </a:rPr>
                        <a:t>Specific activity</a:t>
                      </a:r>
                      <a:endParaRPr lang="zh-CN" altLang="en-US" sz="1800">
                        <a:latin typeface="Times New Roman" panose="02020603050405020304" charset="0"/>
                        <a:cs typeface="Times New Roman" panose="02020603050405020304" charset="0"/>
                      </a:endParaRPr>
                    </a:p>
                    <a:p>
                      <a:pPr algn="ctr">
                        <a:buNone/>
                      </a:pPr>
                      <a:r>
                        <a:rPr lang="zh-CN" altLang="en-US" sz="1800">
                          <a:latin typeface="Times New Roman" panose="02020603050405020304" charset="0"/>
                          <a:cs typeface="Times New Roman" panose="02020603050405020304" charset="0"/>
                        </a:rPr>
                        <a:t>[μmol/(min·mg)]</a:t>
                      </a:r>
                      <a:endParaRPr lang="zh-CN" altLang="en-US" sz="1800">
                        <a:latin typeface="Times New Roman" panose="02020603050405020304" charset="0"/>
                        <a:cs typeface="Times New Roman" panose="02020603050405020304" charset="0"/>
                      </a:endParaRPr>
                    </a:p>
                  </a:txBody>
                  <a:tcPr anchor="ctr" anchorCtr="0">
                    <a:lnL>
                      <a:noFill/>
                    </a:lnL>
                    <a:lnR>
                      <a:noFill/>
                    </a:lnR>
                    <a:lnT w="28575">
                      <a:solidFill>
                        <a:schemeClr val="accent1"/>
                      </a:solidFill>
                      <a:prstDash val="solid"/>
                    </a:lnT>
                    <a:lnB w="12700">
                      <a:solidFill>
                        <a:schemeClr val="accent1"/>
                      </a:solidFill>
                      <a:prstDash val="solid"/>
                    </a:lnB>
                    <a:lnTlToBr>
                      <a:noFill/>
                    </a:lnTlToBr>
                    <a:lnBlToTr>
                      <a:noFill/>
                    </a:lnBlToTr>
                  </a:tcPr>
                </a:tc>
                <a:tc>
                  <a:txBody>
                    <a:bodyPr/>
                    <a:p>
                      <a:pPr algn="ctr">
                        <a:buNone/>
                      </a:pPr>
                      <a:r>
                        <a:rPr lang="zh-CN" altLang="en-US" sz="1800">
                          <a:latin typeface="Times New Roman" panose="02020603050405020304" charset="0"/>
                          <a:cs typeface="Times New Roman" panose="02020603050405020304" charset="0"/>
                        </a:rPr>
                        <a:t>Total activity</a:t>
                      </a:r>
                      <a:endParaRPr lang="zh-CN" altLang="en-US" sz="1800">
                        <a:latin typeface="Times New Roman" panose="02020603050405020304" charset="0"/>
                        <a:cs typeface="Times New Roman" panose="02020603050405020304" charset="0"/>
                      </a:endParaRPr>
                    </a:p>
                    <a:p>
                      <a:pPr algn="ctr">
                        <a:buNone/>
                      </a:pPr>
                      <a:r>
                        <a:rPr lang="zh-CN" altLang="en-US" sz="1800">
                          <a:latin typeface="Times New Roman" panose="02020603050405020304" charset="0"/>
                          <a:cs typeface="Times New Roman" panose="02020603050405020304" charset="0"/>
                        </a:rPr>
                        <a:t>(μmol/min)</a:t>
                      </a:r>
                      <a:endParaRPr lang="zh-CN" altLang="en-US" sz="1800">
                        <a:latin typeface="Times New Roman" panose="02020603050405020304" charset="0"/>
                        <a:cs typeface="Times New Roman" panose="02020603050405020304" charset="0"/>
                      </a:endParaRPr>
                    </a:p>
                  </a:txBody>
                  <a:tcPr anchor="ctr" anchorCtr="0">
                    <a:lnL>
                      <a:noFill/>
                    </a:lnL>
                    <a:lnR>
                      <a:noFill/>
                    </a:lnR>
                    <a:lnT w="28575">
                      <a:solidFill>
                        <a:schemeClr val="accent1"/>
                      </a:solidFill>
                      <a:prstDash val="solid"/>
                    </a:lnT>
                    <a:lnB w="12700">
                      <a:solidFill>
                        <a:schemeClr val="accent1"/>
                      </a:solidFill>
                      <a:prstDash val="solid"/>
                    </a:lnB>
                    <a:lnTlToBr>
                      <a:noFill/>
                    </a:lnTlToBr>
                    <a:lnBlToTr>
                      <a:noFill/>
                    </a:lnBlToTr>
                  </a:tcPr>
                </a:tc>
                <a:tc>
                  <a:txBody>
                    <a:bodyPr/>
                    <a:p>
                      <a:pPr algn="ctr">
                        <a:buNone/>
                      </a:pPr>
                      <a:r>
                        <a:rPr lang="zh-CN" altLang="en-US" sz="1800">
                          <a:latin typeface="Times New Roman" panose="02020603050405020304" charset="0"/>
                          <a:cs typeface="Times New Roman" panose="02020603050405020304" charset="0"/>
                        </a:rPr>
                        <a:t>Fold </a:t>
                      </a:r>
                      <a:endParaRPr lang="zh-CN" altLang="en-US" sz="1800">
                        <a:latin typeface="Times New Roman" panose="02020603050405020304" charset="0"/>
                        <a:cs typeface="Times New Roman" panose="02020603050405020304" charset="0"/>
                      </a:endParaRPr>
                    </a:p>
                    <a:p>
                      <a:pPr algn="ctr">
                        <a:buNone/>
                      </a:pPr>
                      <a:r>
                        <a:rPr lang="zh-CN" altLang="en-US" sz="1800">
                          <a:latin typeface="Times New Roman" panose="02020603050405020304" charset="0"/>
                          <a:cs typeface="Times New Roman" panose="02020603050405020304" charset="0"/>
                        </a:rPr>
                        <a:t>purification</a:t>
                      </a:r>
                      <a:endParaRPr lang="zh-CN" altLang="en-US" sz="1800">
                        <a:latin typeface="Times New Roman" panose="02020603050405020304" charset="0"/>
                        <a:cs typeface="Times New Roman" panose="02020603050405020304" charset="0"/>
                      </a:endParaRPr>
                    </a:p>
                  </a:txBody>
                  <a:tcPr anchor="ctr" anchorCtr="0">
                    <a:lnL>
                      <a:noFill/>
                    </a:lnL>
                    <a:lnR>
                      <a:noFill/>
                    </a:lnR>
                    <a:lnT w="28575">
                      <a:solidFill>
                        <a:schemeClr val="accent1"/>
                      </a:solidFill>
                      <a:prstDash val="solid"/>
                    </a:lnT>
                    <a:lnB w="12700">
                      <a:solidFill>
                        <a:schemeClr val="accent1"/>
                      </a:solidFill>
                      <a:prstDash val="solid"/>
                    </a:lnB>
                    <a:lnTlToBr>
                      <a:noFill/>
                    </a:lnTlToBr>
                    <a:lnBlToTr>
                      <a:noFill/>
                    </a:lnBlToTr>
                  </a:tcPr>
                </a:tc>
                <a:tc>
                  <a:txBody>
                    <a:bodyPr/>
                    <a:p>
                      <a:pPr algn="ctr">
                        <a:buNone/>
                      </a:pPr>
                      <a:r>
                        <a:rPr lang="zh-CN" altLang="en-US" sz="1800">
                          <a:latin typeface="Times New Roman" panose="02020603050405020304" charset="0"/>
                          <a:cs typeface="Times New Roman" panose="02020603050405020304" charset="0"/>
                        </a:rPr>
                        <a:t>%Recovery</a:t>
                      </a:r>
                      <a:endParaRPr lang="zh-CN" altLang="en-US" sz="1800">
                        <a:latin typeface="Times New Roman" panose="02020603050405020304" charset="0"/>
                        <a:cs typeface="Times New Roman" panose="02020603050405020304" charset="0"/>
                      </a:endParaRPr>
                    </a:p>
                  </a:txBody>
                  <a:tcPr anchor="ctr" anchorCtr="0">
                    <a:lnL>
                      <a:noFill/>
                    </a:lnL>
                    <a:lnR>
                      <a:noFill/>
                    </a:lnR>
                    <a:lnT w="28575">
                      <a:solidFill>
                        <a:schemeClr val="accent1"/>
                      </a:solidFill>
                      <a:prstDash val="solid"/>
                    </a:lnT>
                    <a:lnB w="12700">
                      <a:solidFill>
                        <a:schemeClr val="accent1"/>
                      </a:solidFill>
                      <a:prstDash val="solid"/>
                    </a:lnB>
                    <a:lnTlToBr>
                      <a:noFill/>
                    </a:lnTlToBr>
                    <a:lnBlToTr>
                      <a:noFill/>
                    </a:lnBlToTr>
                  </a:tcPr>
                </a:tc>
              </a:tr>
              <a:tr h="585470">
                <a:tc>
                  <a:txBody>
                    <a:bodyPr/>
                    <a:p>
                      <a:pPr algn="ctr">
                        <a:buNone/>
                      </a:pPr>
                      <a:r>
                        <a:rPr lang="en-US" altLang="zh-CN" sz="2400">
                          <a:latin typeface="Times New Roman" panose="02020603050405020304" charset="0"/>
                          <a:cs typeface="Times New Roman" panose="02020603050405020304" charset="0"/>
                        </a:rPr>
                        <a:t>F1</a:t>
                      </a:r>
                      <a:endParaRPr lang="en-US" altLang="zh-CN" sz="2400">
                        <a:latin typeface="Times New Roman" panose="02020603050405020304" charset="0"/>
                        <a:cs typeface="Times New Roman" panose="02020603050405020304" charset="0"/>
                      </a:endParaRPr>
                    </a:p>
                  </a:txBody>
                  <a:tcPr anchor="ctr" anchorCtr="0">
                    <a:lnL>
                      <a:noFill/>
                    </a:lnL>
                    <a:lnR>
                      <a:noFill/>
                    </a:lnR>
                    <a:lnT w="12700">
                      <a:solidFill>
                        <a:schemeClr val="accent1"/>
                      </a:solidFill>
                      <a:prstDash val="solid"/>
                    </a:lnT>
                    <a:lnB>
                      <a:noFill/>
                    </a:lnB>
                    <a:lnTlToBr>
                      <a:noFill/>
                    </a:lnTlToBr>
                    <a:lnBlToTr>
                      <a:noFill/>
                    </a:lnBlToTr>
                    <a:solidFill>
                      <a:schemeClr val="bg1"/>
                    </a:solidFill>
                  </a:tcPr>
                </a:tc>
                <a:tc>
                  <a:txBody>
                    <a:bodyPr/>
                    <a:p>
                      <a:pPr algn="ctr">
                        <a:buNone/>
                      </a:pPr>
                      <a:r>
                        <a:rPr lang="zh-CN" altLang="en-US" sz="2400">
                          <a:latin typeface="Times New Roman" panose="02020603050405020304" charset="0"/>
                          <a:cs typeface="Times New Roman" panose="02020603050405020304" charset="0"/>
                        </a:rPr>
                        <a:t>46.2</a:t>
                      </a:r>
                      <a:endParaRPr lang="zh-CN" altLang="en-US" sz="2400">
                        <a:latin typeface="Times New Roman" panose="02020603050405020304" charset="0"/>
                        <a:cs typeface="Times New Roman" panose="02020603050405020304" charset="0"/>
                      </a:endParaRPr>
                    </a:p>
                  </a:txBody>
                  <a:tcPr anchor="ctr" anchorCtr="0">
                    <a:lnL>
                      <a:noFill/>
                    </a:lnL>
                    <a:lnR>
                      <a:noFill/>
                    </a:lnR>
                    <a:lnT w="12700">
                      <a:solidFill>
                        <a:schemeClr val="accent1"/>
                      </a:solidFill>
                      <a:prstDash val="solid"/>
                    </a:lnT>
                    <a:lnB>
                      <a:noFill/>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12.95 </a:t>
                      </a:r>
                      <a:endParaRPr lang="zh-CN" altLang="en-US" sz="2400">
                        <a:latin typeface="Times New Roman" panose="02020603050405020304" charset="0"/>
                        <a:cs typeface="Times New Roman" panose="02020603050405020304" charset="0"/>
                      </a:endParaRPr>
                    </a:p>
                  </a:txBody>
                  <a:tcPr anchor="ctr" anchorCtr="0">
                    <a:lnL>
                      <a:noFill/>
                    </a:lnL>
                    <a:lnR>
                      <a:noFill/>
                    </a:lnR>
                    <a:lnT w="12700">
                      <a:solidFill>
                        <a:schemeClr val="accent1"/>
                      </a:solidFill>
                      <a:prstDash val="solid"/>
                    </a:lnT>
                    <a:lnB>
                      <a:noFill/>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598.4</a:t>
                      </a:r>
                      <a:r>
                        <a:rPr lang="en-US" altLang="zh-CN" sz="2400">
                          <a:latin typeface="Times New Roman" panose="02020603050405020304" charset="0"/>
                          <a:cs typeface="Times New Roman" panose="02020603050405020304" charset="0"/>
                        </a:rPr>
                        <a:t>3</a:t>
                      </a:r>
                      <a:endParaRPr lang="en-US" altLang="zh-CN" sz="2400">
                        <a:latin typeface="Times New Roman" panose="02020603050405020304" charset="0"/>
                        <a:cs typeface="Times New Roman" panose="02020603050405020304" charset="0"/>
                      </a:endParaRPr>
                    </a:p>
                  </a:txBody>
                  <a:tcPr anchor="ctr" anchorCtr="0">
                    <a:lnL>
                      <a:noFill/>
                    </a:lnL>
                    <a:lnR>
                      <a:noFill/>
                    </a:lnR>
                    <a:lnT w="12700">
                      <a:solidFill>
                        <a:schemeClr val="accent1"/>
                      </a:solidFill>
                      <a:prstDash val="solid"/>
                    </a:lnT>
                    <a:lnB>
                      <a:noFill/>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38.14 </a:t>
                      </a:r>
                      <a:endParaRPr lang="zh-CN" altLang="en-US" sz="2400">
                        <a:latin typeface="Times New Roman" panose="02020603050405020304" charset="0"/>
                        <a:cs typeface="Times New Roman" panose="02020603050405020304" charset="0"/>
                      </a:endParaRPr>
                    </a:p>
                  </a:txBody>
                  <a:tcPr anchor="ctr" anchorCtr="0">
                    <a:lnL>
                      <a:noFill/>
                    </a:lnL>
                    <a:lnR>
                      <a:noFill/>
                    </a:lnR>
                    <a:lnT w="12700">
                      <a:solidFill>
                        <a:schemeClr val="accent1"/>
                      </a:solidFill>
                      <a:prstDash val="solid"/>
                    </a:lnT>
                    <a:lnB>
                      <a:noFill/>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22822.80 </a:t>
                      </a:r>
                      <a:endParaRPr lang="zh-CN" altLang="en-US" sz="2400">
                        <a:latin typeface="Times New Roman" panose="02020603050405020304" charset="0"/>
                        <a:cs typeface="Times New Roman" panose="02020603050405020304" charset="0"/>
                      </a:endParaRPr>
                    </a:p>
                  </a:txBody>
                  <a:tcPr anchor="ctr" anchorCtr="0">
                    <a:lnL>
                      <a:noFill/>
                    </a:lnL>
                    <a:lnR>
                      <a:noFill/>
                    </a:lnR>
                    <a:lnT w="12700">
                      <a:solidFill>
                        <a:schemeClr val="accent1"/>
                      </a:solidFill>
                      <a:prstDash val="solid"/>
                    </a:lnT>
                    <a:lnB>
                      <a:noFill/>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1.00 </a:t>
                      </a:r>
                      <a:endParaRPr lang="zh-CN" altLang="en-US" sz="2400">
                        <a:latin typeface="Times New Roman" panose="02020603050405020304" charset="0"/>
                        <a:cs typeface="Times New Roman" panose="02020603050405020304" charset="0"/>
                      </a:endParaRPr>
                    </a:p>
                  </a:txBody>
                  <a:tcPr anchor="ctr" anchorCtr="0">
                    <a:lnL>
                      <a:noFill/>
                    </a:lnL>
                    <a:lnR>
                      <a:noFill/>
                    </a:lnR>
                    <a:lnT w="12700">
                      <a:solidFill>
                        <a:schemeClr val="accent1"/>
                      </a:solidFill>
                      <a:prstDash val="solid"/>
                    </a:lnT>
                    <a:lnB>
                      <a:noFill/>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100.00 </a:t>
                      </a:r>
                      <a:endParaRPr lang="zh-CN" altLang="en-US" sz="2400">
                        <a:latin typeface="Times New Roman" panose="02020603050405020304" charset="0"/>
                        <a:cs typeface="Times New Roman" panose="02020603050405020304" charset="0"/>
                      </a:endParaRPr>
                    </a:p>
                  </a:txBody>
                  <a:tcPr anchor="ctr" anchorCtr="0">
                    <a:lnL>
                      <a:noFill/>
                    </a:lnL>
                    <a:lnR>
                      <a:noFill/>
                    </a:lnR>
                    <a:lnT w="12700">
                      <a:solidFill>
                        <a:schemeClr val="accent1"/>
                      </a:solidFill>
                      <a:prstDash val="solid"/>
                    </a:lnT>
                    <a:lnB>
                      <a:noFill/>
                    </a:lnB>
                    <a:lnTlToBr>
                      <a:noFill/>
                    </a:lnTlToBr>
                    <a:lnBlToTr>
                      <a:noFill/>
                    </a:lnBlToTr>
                    <a:solidFill>
                      <a:schemeClr val="accent1">
                        <a:lumMod val="20000"/>
                        <a:lumOff val="80000"/>
                      </a:schemeClr>
                    </a:solidFill>
                  </a:tcPr>
                </a:tc>
              </a:tr>
              <a:tr h="585470">
                <a:tc>
                  <a:txBody>
                    <a:bodyPr/>
                    <a:p>
                      <a:pPr algn="ctr">
                        <a:buNone/>
                      </a:pPr>
                      <a:r>
                        <a:rPr lang="en-US" altLang="zh-CN" sz="2400">
                          <a:latin typeface="Times New Roman" panose="02020603050405020304" charset="0"/>
                          <a:cs typeface="Times New Roman" panose="02020603050405020304" charset="0"/>
                        </a:rPr>
                        <a:t>F2</a:t>
                      </a:r>
                      <a:endParaRPr lang="en-US" altLang="zh-CN" sz="2400">
                        <a:latin typeface="Times New Roman" panose="02020603050405020304" charset="0"/>
                        <a:cs typeface="Times New Roman" panose="02020603050405020304" charset="0"/>
                      </a:endParaRPr>
                    </a:p>
                  </a:txBody>
                  <a:tcPr anchor="ctr" anchorCtr="0">
                    <a:lnL>
                      <a:noFill/>
                    </a:lnL>
                    <a:lnR>
                      <a:noFill/>
                    </a:lnR>
                    <a:lnT>
                      <a:noFill/>
                    </a:lnT>
                    <a:lnB>
                      <a:noFill/>
                    </a:lnB>
                    <a:lnTlToBr>
                      <a:noFill/>
                    </a:lnTlToBr>
                    <a:lnBlToTr>
                      <a:noFill/>
                    </a:lnBlToTr>
                    <a:solidFill>
                      <a:schemeClr val="bg1"/>
                    </a:solidFill>
                  </a:tcPr>
                </a:tc>
                <a:tc>
                  <a:txBody>
                    <a:bodyPr/>
                    <a:p>
                      <a:pPr algn="ctr">
                        <a:buNone/>
                      </a:pPr>
                      <a:r>
                        <a:rPr lang="zh-CN" altLang="en-US" sz="2400">
                          <a:latin typeface="Times New Roman" panose="02020603050405020304" charset="0"/>
                          <a:cs typeface="Times New Roman" panose="02020603050405020304" charset="0"/>
                        </a:rPr>
                        <a:t>19.97</a:t>
                      </a:r>
                      <a:endParaRPr lang="zh-CN" altLang="en-US" sz="2400">
                        <a:latin typeface="Times New Roman" panose="02020603050405020304" charset="0"/>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algn="ctr">
                        <a:buNone/>
                      </a:pPr>
                      <a:r>
                        <a:rPr lang="zh-CN" altLang="en-US" sz="2400">
                          <a:latin typeface="Times New Roman" panose="02020603050405020304" charset="0"/>
                          <a:cs typeface="Times New Roman" panose="02020603050405020304" charset="0"/>
                        </a:rPr>
                        <a:t>6.01 </a:t>
                      </a:r>
                      <a:endParaRPr lang="zh-CN" altLang="en-US" sz="2400">
                        <a:latin typeface="Times New Roman" panose="02020603050405020304" charset="0"/>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algn="ctr">
                        <a:buNone/>
                      </a:pPr>
                      <a:r>
                        <a:rPr lang="zh-CN" altLang="en-US" sz="2400">
                          <a:latin typeface="Times New Roman" panose="02020603050405020304" charset="0"/>
                          <a:cs typeface="Times New Roman" panose="02020603050405020304" charset="0"/>
                        </a:rPr>
                        <a:t>120.0</a:t>
                      </a:r>
                      <a:r>
                        <a:rPr lang="en-US" altLang="zh-CN" sz="2400">
                          <a:latin typeface="Times New Roman" panose="02020603050405020304" charset="0"/>
                          <a:cs typeface="Times New Roman" panose="02020603050405020304" charset="0"/>
                        </a:rPr>
                        <a:t>1</a:t>
                      </a:r>
                      <a:endParaRPr lang="en-US" altLang="zh-CN" sz="2400">
                        <a:latin typeface="Times New Roman" panose="02020603050405020304" charset="0"/>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algn="ctr">
                        <a:buClrTx/>
                        <a:buSzTx/>
                        <a:buFontTx/>
                      </a:pPr>
                      <a:r>
                        <a:rPr lang="zh-CN" altLang="en-US" sz="2400" b="0" i="0">
                          <a:latin typeface="Times New Roman" panose="02020603050405020304" charset="0"/>
                          <a:cs typeface="Times New Roman" panose="02020603050405020304" charset="0"/>
                        </a:rPr>
                        <a:t>64.90 </a:t>
                      </a:r>
                      <a:endParaRPr lang="zh-CN" altLang="en-US" sz="2400" b="0" i="0">
                        <a:latin typeface="Times New Roman" panose="02020603050405020304" charset="0"/>
                        <a:cs typeface="Times New Roman" panose="02020603050405020304" charset="0"/>
                      </a:endParaRPr>
                    </a:p>
                  </a:txBody>
                  <a:tcPr marL="8268" marR="8268" marT="8268" anchor="ctr" anchorCtr="0">
                    <a:lnL>
                      <a:noFill/>
                    </a:lnL>
                    <a:lnR>
                      <a:noFill/>
                    </a:lnR>
                    <a:lnT>
                      <a:noFill/>
                    </a:lnT>
                    <a:lnB>
                      <a:noFill/>
                    </a:lnB>
                    <a:lnTlToBr>
                      <a:noFill/>
                    </a:lnTlToBr>
                    <a:lnBlToTr>
                      <a:noFill/>
                    </a:lnBlToTr>
                  </a:tcPr>
                </a:tc>
                <a:tc>
                  <a:txBody>
                    <a:bodyPr/>
                    <a:p>
                      <a:pPr algn="ctr">
                        <a:buClrTx/>
                        <a:buSzTx/>
                        <a:buFontTx/>
                      </a:pPr>
                      <a:r>
                        <a:rPr lang="zh-CN" altLang="en-US" sz="2400" b="0" i="0">
                          <a:latin typeface="Times New Roman" panose="02020603050405020304" charset="0"/>
                          <a:cs typeface="Times New Roman" panose="02020603050405020304" charset="0"/>
                        </a:rPr>
                        <a:t>7788.30 </a:t>
                      </a:r>
                      <a:endParaRPr lang="zh-CN" altLang="en-US" sz="2400" b="0" i="0">
                        <a:latin typeface="Times New Roman" panose="02020603050405020304" charset="0"/>
                        <a:cs typeface="Times New Roman" panose="02020603050405020304" charset="0"/>
                      </a:endParaRPr>
                    </a:p>
                  </a:txBody>
                  <a:tcPr marL="8268" marR="8268" marT="8268" anchor="ctr" anchorCtr="0">
                    <a:lnL>
                      <a:noFill/>
                    </a:lnL>
                    <a:lnR>
                      <a:noFill/>
                    </a:lnR>
                    <a:lnT>
                      <a:noFill/>
                    </a:lnT>
                    <a:lnB>
                      <a:noFill/>
                    </a:lnB>
                    <a:lnTlToBr>
                      <a:noFill/>
                    </a:lnTlToBr>
                    <a:lnBlToTr>
                      <a:noFill/>
                    </a:lnBlToTr>
                  </a:tcPr>
                </a:tc>
                <a:tc>
                  <a:txBody>
                    <a:bodyPr/>
                    <a:p>
                      <a:pPr algn="ctr">
                        <a:buClrTx/>
                        <a:buSzTx/>
                        <a:buFontTx/>
                      </a:pPr>
                      <a:r>
                        <a:rPr lang="zh-CN" altLang="en-US" sz="2400" b="0" i="0">
                          <a:latin typeface="Times New Roman" panose="02020603050405020304" charset="0"/>
                          <a:cs typeface="Times New Roman" panose="02020603050405020304" charset="0"/>
                        </a:rPr>
                        <a:t>1.70 </a:t>
                      </a:r>
                      <a:endParaRPr lang="zh-CN" altLang="en-US" sz="2400" b="0" i="0">
                        <a:latin typeface="Times New Roman" panose="02020603050405020304" charset="0"/>
                        <a:cs typeface="Times New Roman" panose="02020603050405020304" charset="0"/>
                      </a:endParaRPr>
                    </a:p>
                  </a:txBody>
                  <a:tcPr marL="8268" marR="8268" marT="8268" anchor="ctr" anchorCtr="0">
                    <a:lnL>
                      <a:noFill/>
                    </a:lnL>
                    <a:lnR>
                      <a:noFill/>
                    </a:lnR>
                    <a:lnT>
                      <a:noFill/>
                    </a:lnT>
                    <a:lnB>
                      <a:noFill/>
                    </a:lnB>
                    <a:lnTlToBr>
                      <a:noFill/>
                    </a:lnTlToBr>
                    <a:lnBlToTr>
                      <a:noFill/>
                    </a:lnBlToTr>
                  </a:tcPr>
                </a:tc>
                <a:tc>
                  <a:txBody>
                    <a:bodyPr/>
                    <a:p>
                      <a:pPr algn="ctr">
                        <a:buClrTx/>
                        <a:buSzTx/>
                        <a:buFontTx/>
                      </a:pPr>
                      <a:r>
                        <a:rPr lang="zh-CN" altLang="en-US" sz="2400" b="0" i="0">
                          <a:latin typeface="Times New Roman" panose="02020603050405020304" charset="0"/>
                          <a:cs typeface="Times New Roman" panose="02020603050405020304" charset="0"/>
                        </a:rPr>
                        <a:t>34.13 </a:t>
                      </a:r>
                      <a:endParaRPr lang="zh-CN" altLang="en-US" sz="2400" b="0" i="0">
                        <a:latin typeface="Times New Roman" panose="02020603050405020304" charset="0"/>
                        <a:cs typeface="Times New Roman" panose="02020603050405020304" charset="0"/>
                      </a:endParaRPr>
                    </a:p>
                  </a:txBody>
                  <a:tcPr marL="8268" marR="8268" marT="8268" anchor="ctr" anchorCtr="0">
                    <a:lnL>
                      <a:noFill/>
                    </a:lnL>
                    <a:lnR>
                      <a:noFill/>
                    </a:lnR>
                    <a:lnT>
                      <a:noFill/>
                    </a:lnT>
                    <a:lnB>
                      <a:noFill/>
                    </a:lnB>
                    <a:lnTlToBr>
                      <a:noFill/>
                    </a:lnTlToBr>
                    <a:lnBlToTr>
                      <a:noFill/>
                    </a:lnBlToTr>
                  </a:tcPr>
                </a:tc>
              </a:tr>
              <a:tr h="585470">
                <a:tc>
                  <a:txBody>
                    <a:bodyPr/>
                    <a:p>
                      <a:pPr algn="ctr">
                        <a:buNone/>
                      </a:pPr>
                      <a:r>
                        <a:rPr lang="en-US" altLang="zh-CN" sz="2400">
                          <a:latin typeface="Times New Roman" panose="02020603050405020304" charset="0"/>
                          <a:cs typeface="Times New Roman" panose="02020603050405020304" charset="0"/>
                        </a:rPr>
                        <a:t>F3</a:t>
                      </a:r>
                      <a:endParaRPr lang="en-US" altLang="zh-CN" sz="2400">
                        <a:latin typeface="Times New Roman" panose="02020603050405020304" charset="0"/>
                        <a:cs typeface="Times New Roman" panose="02020603050405020304" charset="0"/>
                      </a:endParaRPr>
                    </a:p>
                  </a:txBody>
                  <a:tcPr anchor="ctr" anchorCtr="0">
                    <a:lnL>
                      <a:noFill/>
                    </a:lnL>
                    <a:lnR>
                      <a:noFill/>
                    </a:lnR>
                    <a:lnT>
                      <a:noFill/>
                    </a:lnT>
                    <a:lnB w="28575">
                      <a:solidFill>
                        <a:schemeClr val="accent1"/>
                      </a:solidFill>
                      <a:prstDash val="solid"/>
                    </a:lnB>
                    <a:lnTlToBr>
                      <a:noFill/>
                    </a:lnTlToBr>
                    <a:lnBlToTr>
                      <a:noFill/>
                    </a:lnBlToTr>
                    <a:solidFill>
                      <a:schemeClr val="bg1"/>
                    </a:solidFill>
                  </a:tcPr>
                </a:tc>
                <a:tc>
                  <a:txBody>
                    <a:bodyPr/>
                    <a:p>
                      <a:pPr algn="ctr">
                        <a:buNone/>
                      </a:pPr>
                      <a:r>
                        <a:rPr lang="zh-CN" altLang="en-US" sz="2400">
                          <a:latin typeface="Times New Roman" panose="02020603050405020304" charset="0"/>
                          <a:cs typeface="Times New Roman" panose="02020603050405020304" charset="0"/>
                        </a:rPr>
                        <a:t>12</a:t>
                      </a:r>
                      <a:endParaRPr lang="zh-CN" altLang="en-US" sz="2400">
                        <a:latin typeface="Times New Roman" panose="02020603050405020304" charset="0"/>
                        <a:cs typeface="Times New Roman" panose="02020603050405020304" charset="0"/>
                      </a:endParaRPr>
                    </a:p>
                  </a:txBody>
                  <a:tcPr anchor="ctr" anchorCtr="0">
                    <a:lnL>
                      <a:noFill/>
                    </a:lnL>
                    <a:lnR>
                      <a:noFill/>
                    </a:lnR>
                    <a:lnT>
                      <a:noFill/>
                    </a:lnT>
                    <a:lnB w="28575">
                      <a:solidFill>
                        <a:schemeClr val="accent1"/>
                      </a:solidFill>
                      <a:prstDash val="solid"/>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1.13 </a:t>
                      </a:r>
                      <a:endParaRPr lang="zh-CN" altLang="en-US" sz="2400">
                        <a:latin typeface="Times New Roman" panose="02020603050405020304" charset="0"/>
                        <a:cs typeface="Times New Roman" panose="02020603050405020304" charset="0"/>
                      </a:endParaRPr>
                    </a:p>
                  </a:txBody>
                  <a:tcPr anchor="ctr" anchorCtr="0">
                    <a:lnL>
                      <a:noFill/>
                    </a:lnL>
                    <a:lnR>
                      <a:noFill/>
                    </a:lnR>
                    <a:lnT>
                      <a:noFill/>
                    </a:lnT>
                    <a:lnB w="28575">
                      <a:solidFill>
                        <a:schemeClr val="accent1"/>
                      </a:solidFill>
                      <a:prstDash val="solid"/>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13.5</a:t>
                      </a:r>
                      <a:r>
                        <a:rPr lang="en-US" altLang="zh-CN" sz="2400">
                          <a:latin typeface="Times New Roman" panose="02020603050405020304" charset="0"/>
                          <a:cs typeface="Times New Roman" panose="02020603050405020304" charset="0"/>
                        </a:rPr>
                        <a:t>1</a:t>
                      </a:r>
                      <a:endParaRPr lang="en-US" altLang="zh-CN" sz="2400">
                        <a:latin typeface="Times New Roman" panose="02020603050405020304" charset="0"/>
                        <a:cs typeface="Times New Roman" panose="02020603050405020304" charset="0"/>
                      </a:endParaRPr>
                    </a:p>
                  </a:txBody>
                  <a:tcPr anchor="ctr" anchorCtr="0">
                    <a:lnL>
                      <a:noFill/>
                    </a:lnL>
                    <a:lnR>
                      <a:noFill/>
                    </a:lnR>
                    <a:lnT>
                      <a:noFill/>
                    </a:lnT>
                    <a:lnB w="28575">
                      <a:solidFill>
                        <a:schemeClr val="accent1"/>
                      </a:solidFill>
                      <a:prstDash val="solid"/>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92.41 </a:t>
                      </a:r>
                      <a:endParaRPr lang="zh-CN" altLang="en-US" sz="2400">
                        <a:latin typeface="Times New Roman" panose="02020603050405020304" charset="0"/>
                        <a:cs typeface="Times New Roman" panose="02020603050405020304" charset="0"/>
                      </a:endParaRPr>
                    </a:p>
                  </a:txBody>
                  <a:tcPr anchor="ctr" anchorCtr="0">
                    <a:lnL>
                      <a:noFill/>
                    </a:lnL>
                    <a:lnR>
                      <a:noFill/>
                    </a:lnR>
                    <a:lnT>
                      <a:noFill/>
                    </a:lnT>
                    <a:lnB w="28575">
                      <a:solidFill>
                        <a:schemeClr val="accent1"/>
                      </a:solidFill>
                      <a:prstDash val="solid"/>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1248.00 </a:t>
                      </a:r>
                      <a:endParaRPr lang="zh-CN" altLang="en-US" sz="2400">
                        <a:latin typeface="Times New Roman" panose="02020603050405020304" charset="0"/>
                        <a:cs typeface="Times New Roman" panose="02020603050405020304" charset="0"/>
                      </a:endParaRPr>
                    </a:p>
                  </a:txBody>
                  <a:tcPr anchor="ctr" anchorCtr="0">
                    <a:lnL>
                      <a:noFill/>
                    </a:lnL>
                    <a:lnR>
                      <a:noFill/>
                    </a:lnR>
                    <a:lnT>
                      <a:noFill/>
                    </a:lnT>
                    <a:lnB w="28575">
                      <a:solidFill>
                        <a:schemeClr val="accent1"/>
                      </a:solidFill>
                      <a:prstDash val="solid"/>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2.42 </a:t>
                      </a:r>
                      <a:endParaRPr lang="zh-CN" altLang="en-US" sz="2400">
                        <a:latin typeface="Times New Roman" panose="02020603050405020304" charset="0"/>
                        <a:cs typeface="Times New Roman" panose="02020603050405020304" charset="0"/>
                      </a:endParaRPr>
                    </a:p>
                  </a:txBody>
                  <a:tcPr anchor="ctr" anchorCtr="0">
                    <a:lnL>
                      <a:noFill/>
                    </a:lnL>
                    <a:lnR>
                      <a:noFill/>
                    </a:lnR>
                    <a:lnT>
                      <a:noFill/>
                    </a:lnT>
                    <a:lnB w="28575">
                      <a:solidFill>
                        <a:schemeClr val="accent1"/>
                      </a:solidFill>
                      <a:prstDash val="solid"/>
                    </a:lnB>
                    <a:lnTlToBr>
                      <a:noFill/>
                    </a:lnTlToBr>
                    <a:lnBlToTr>
                      <a:noFill/>
                    </a:lnBlToTr>
                    <a:solidFill>
                      <a:schemeClr val="accent1">
                        <a:lumMod val="20000"/>
                        <a:lumOff val="80000"/>
                      </a:schemeClr>
                    </a:solidFill>
                  </a:tcPr>
                </a:tc>
                <a:tc>
                  <a:txBody>
                    <a:bodyPr/>
                    <a:p>
                      <a:pPr algn="ctr">
                        <a:buNone/>
                      </a:pPr>
                      <a:r>
                        <a:rPr lang="zh-CN" altLang="en-US" sz="2400">
                          <a:latin typeface="Times New Roman" panose="02020603050405020304" charset="0"/>
                          <a:cs typeface="Times New Roman" panose="02020603050405020304" charset="0"/>
                        </a:rPr>
                        <a:t>5.47 </a:t>
                      </a:r>
                      <a:endParaRPr lang="zh-CN" altLang="en-US" sz="2400">
                        <a:latin typeface="Times New Roman" panose="02020603050405020304" charset="0"/>
                        <a:cs typeface="Times New Roman" panose="02020603050405020304" charset="0"/>
                      </a:endParaRPr>
                    </a:p>
                  </a:txBody>
                  <a:tcPr anchor="ctr" anchorCtr="0">
                    <a:lnL>
                      <a:noFill/>
                    </a:lnL>
                    <a:lnR>
                      <a:noFill/>
                    </a:lnR>
                    <a:lnT>
                      <a:noFill/>
                    </a:lnT>
                    <a:lnB w="28575">
                      <a:solidFill>
                        <a:schemeClr val="accent1"/>
                      </a:solidFill>
                      <a:prstDash val="solid"/>
                    </a:lnB>
                    <a:lnTlToBr>
                      <a:noFill/>
                    </a:lnTlToBr>
                    <a:lnBlToTr>
                      <a:noFill/>
                    </a:lnBlToTr>
                    <a:solidFill>
                      <a:schemeClr val="accent1">
                        <a:lumMod val="20000"/>
                        <a:lumOff val="80000"/>
                      </a:schemeClr>
                    </a:solidFill>
                  </a:tcPr>
                </a:tc>
              </a:tr>
            </a:tbl>
          </a:graphicData>
        </a:graphic>
      </p:graphicFrame>
      <p:sp>
        <p:nvSpPr>
          <p:cNvPr id="64" name="文本框 63"/>
          <p:cNvSpPr txBox="1"/>
          <p:nvPr/>
        </p:nvSpPr>
        <p:spPr>
          <a:xfrm>
            <a:off x="2581910" y="27136090"/>
            <a:ext cx="7588885" cy="801370"/>
          </a:xfrm>
          <a:prstGeom prst="rect">
            <a:avLst/>
          </a:prstGeom>
          <a:noFill/>
        </p:spPr>
        <p:txBody>
          <a:bodyPr wrap="square" rtlCol="0">
            <a:noAutofit/>
          </a:bodyPr>
          <a:p>
            <a:pPr algn="ctr"/>
            <a:r>
              <a:rPr lang="en-US" altLang="zh-CN" sz="4000" b="1">
                <a:latin typeface="Times New Roman" panose="02020603050405020304" charset="0"/>
                <a:cs typeface="Times New Roman" panose="02020603050405020304" charset="0"/>
              </a:rPr>
              <a:t>Table 1. </a:t>
            </a:r>
            <a:r>
              <a:rPr lang="en-US" altLang="zh-CN" sz="4000" kern="100" dirty="0">
                <a:effectLst/>
                <a:latin typeface="Times New Roman" panose="02020603050405020304" charset="0"/>
                <a:ea typeface="等线" panose="02010600030101010101" pitchFamily="2" charset="-122"/>
                <a:cs typeface="Times New Roman" panose="02020603050405020304" charset="0"/>
                <a:sym typeface="+mn-ea"/>
              </a:rPr>
              <a:t>Recovery table of CK</a:t>
            </a:r>
            <a:endParaRPr lang="en-US" altLang="zh-CN" sz="4000">
              <a:latin typeface="Times New Roman" panose="02020603050405020304" charset="0"/>
              <a:cs typeface="Times New Roman" panose="02020603050405020304" charset="0"/>
            </a:endParaRPr>
          </a:p>
        </p:txBody>
      </p:sp>
      <p:sp>
        <p:nvSpPr>
          <p:cNvPr id="65" name="文本框 64"/>
          <p:cNvSpPr txBox="1"/>
          <p:nvPr/>
        </p:nvSpPr>
        <p:spPr>
          <a:xfrm>
            <a:off x="12290425" y="36797615"/>
            <a:ext cx="7818755" cy="706755"/>
          </a:xfrm>
          <a:prstGeom prst="rect">
            <a:avLst/>
          </a:prstGeom>
          <a:noFill/>
        </p:spPr>
        <p:txBody>
          <a:bodyPr wrap="square" rtlCol="0">
            <a:spAutoFit/>
          </a:bodyPr>
          <a:p>
            <a:pPr algn="ctr"/>
            <a:r>
              <a:rPr lang="en-US" altLang="zh-CN" sz="4000" b="1">
                <a:latin typeface="Times New Roman" panose="02020603050405020304" charset="0"/>
                <a:cs typeface="Times New Roman" panose="02020603050405020304" charset="0"/>
              </a:rPr>
              <a:t>Fig 5. </a:t>
            </a:r>
            <a:r>
              <a:rPr lang="en-US" altLang="zh-CN" sz="4000" dirty="0">
                <a:latin typeface="Times New Roman" panose="02020603050405020304" charset="0"/>
                <a:sym typeface="+mn-ea"/>
              </a:rPr>
              <a:t>Result of SDS-PAGE</a:t>
            </a:r>
            <a:endParaRPr lang="en-US" altLang="zh-CN" sz="4000">
              <a:latin typeface="Times New Roman" panose="02020603050405020304" charset="0"/>
              <a:cs typeface="Times New Roman" panose="02020603050405020304" charset="0"/>
            </a:endParaRPr>
          </a:p>
        </p:txBody>
      </p:sp>
      <p:sp>
        <p:nvSpPr>
          <p:cNvPr id="130" name="文本框 129"/>
          <p:cNvSpPr txBox="1"/>
          <p:nvPr/>
        </p:nvSpPr>
        <p:spPr>
          <a:xfrm>
            <a:off x="21134705" y="27136090"/>
            <a:ext cx="9520555" cy="7409180"/>
          </a:xfrm>
          <a:prstGeom prst="rect">
            <a:avLst/>
          </a:prstGeom>
          <a:noFill/>
        </p:spPr>
        <p:txBody>
          <a:bodyPr wrap="square" rtlCol="0">
            <a:noAutofit/>
          </a:bodyPr>
          <a:p>
            <a:pPr algn="just"/>
            <a:r>
              <a:rPr lang="en-US" altLang="zh-CN" sz="4000">
                <a:latin typeface="Times New Roman" panose="02020603050405020304" charset="0"/>
                <a:cs typeface="Times New Roman" panose="02020603050405020304" charset="0"/>
                <a:sym typeface="+mn-ea"/>
              </a:rPr>
              <a:t>As CK goes through purification, the </a:t>
            </a:r>
            <a:r>
              <a:rPr lang="en-US" altLang="zh-CN" sz="4000" b="1">
                <a:latin typeface="Times New Roman" panose="02020603050405020304" charset="0"/>
                <a:cs typeface="Times New Roman" panose="02020603050405020304" charset="0"/>
                <a:sym typeface="+mn-ea"/>
              </a:rPr>
              <a:t>specific activity</a:t>
            </a:r>
            <a:r>
              <a:rPr lang="en-US" altLang="zh-CN" sz="4000">
                <a:latin typeface="Times New Roman" panose="02020603050405020304" charset="0"/>
                <a:cs typeface="Times New Roman" panose="02020603050405020304" charset="0"/>
                <a:sym typeface="+mn-ea"/>
              </a:rPr>
              <a:t> increases significantly, </a:t>
            </a:r>
            <a:r>
              <a:rPr lang="en-US" altLang="zh-CN" sz="4000" b="1">
                <a:latin typeface="Times New Roman" panose="02020603050405020304" charset="0"/>
                <a:cs typeface="Times New Roman" panose="02020603050405020304" charset="0"/>
                <a:sym typeface="+mn-ea"/>
              </a:rPr>
              <a:t>recovery</a:t>
            </a:r>
            <a:r>
              <a:rPr lang="en-US" altLang="zh-CN" sz="4000">
                <a:latin typeface="Times New Roman" panose="02020603050405020304" charset="0"/>
                <a:cs typeface="Times New Roman" panose="02020603050405020304" charset="0"/>
                <a:sym typeface="+mn-ea"/>
              </a:rPr>
              <a:t> decreases constantly. </a:t>
            </a:r>
            <a:r>
              <a:rPr lang="en-US" altLang="zh-CN" sz="4000" b="1">
                <a:latin typeface="Times New Roman" panose="02020603050405020304" charset="0"/>
                <a:cs typeface="Times New Roman" panose="02020603050405020304" charset="0"/>
                <a:sym typeface="+mn-ea"/>
              </a:rPr>
              <a:t>Ammonium Sulfate Precipitation</a:t>
            </a:r>
            <a:r>
              <a:rPr lang="en-US" altLang="zh-CN" sz="4000">
                <a:latin typeface="Times New Roman" panose="02020603050405020304" charset="0"/>
                <a:cs typeface="Times New Roman" panose="02020603050405020304" charset="0"/>
                <a:sym typeface="+mn-ea"/>
              </a:rPr>
              <a:t> has acceptable recovery, but according to SDS-PAGE, it can’t separate proteins with similar MW, which may due to their similar solubility. </a:t>
            </a:r>
            <a:r>
              <a:rPr lang="en-US" altLang="zh-CN" sz="4000" b="1">
                <a:latin typeface="Times New Roman" panose="02020603050405020304" charset="0"/>
                <a:cs typeface="Times New Roman" panose="02020603050405020304" charset="0"/>
                <a:sym typeface="+mn-ea"/>
              </a:rPr>
              <a:t>Purification with Ethanol</a:t>
            </a:r>
            <a:r>
              <a:rPr lang="en-US" altLang="zh-CN" sz="4000">
                <a:latin typeface="Times New Roman" panose="02020603050405020304" charset="0"/>
                <a:cs typeface="Times New Roman" panose="02020603050405020304" charset="0"/>
                <a:sym typeface="+mn-ea"/>
              </a:rPr>
              <a:t> lost a large amount of CK but effectively remove hetero-protein. </a:t>
            </a:r>
            <a:endParaRPr lang="en-US" altLang="zh-CN" sz="4000">
              <a:latin typeface="Times New Roman" panose="02020603050405020304" charset="0"/>
              <a:cs typeface="Times New Roman" panose="02020603050405020304" charset="0"/>
              <a:sym typeface="+mn-ea"/>
            </a:endParaRPr>
          </a:p>
          <a:p>
            <a:pPr algn="just"/>
            <a:r>
              <a:rPr lang="en-US" altLang="zh-CN" sz="4000">
                <a:latin typeface="Times New Roman" panose="02020603050405020304" charset="0"/>
                <a:cs typeface="Times New Roman" panose="02020603050405020304" charset="0"/>
                <a:sym typeface="+mn-ea"/>
              </a:rPr>
              <a:t>In measurement of protein concentration, the calculated protein content became higher with gradient dilution, probably due to inadequate mixing.</a:t>
            </a:r>
            <a:endParaRPr lang="en-US" altLang="zh-CN" sz="4000">
              <a:latin typeface="Times New Roman" panose="02020603050405020304" charset="0"/>
              <a:cs typeface="Times New Roman" panose="02020603050405020304" charset="0"/>
              <a:sym typeface="+mn-ea"/>
            </a:endParaRPr>
          </a:p>
        </p:txBody>
      </p:sp>
      <p:sp>
        <p:nvSpPr>
          <p:cNvPr id="70" name="文本框 69"/>
          <p:cNvSpPr txBox="1"/>
          <p:nvPr/>
        </p:nvSpPr>
        <p:spPr>
          <a:xfrm>
            <a:off x="21134705" y="36195635"/>
            <a:ext cx="9519920" cy="2823845"/>
          </a:xfrm>
          <a:prstGeom prst="rect">
            <a:avLst/>
          </a:prstGeom>
          <a:noFill/>
        </p:spPr>
        <p:txBody>
          <a:bodyPr wrap="square" rtlCol="0">
            <a:noAutofit/>
          </a:bodyPr>
          <a:p>
            <a:pPr algn="just"/>
            <a:r>
              <a:rPr lang="en-US" altLang="zh-CN" sz="4000" kern="100" dirty="0">
                <a:effectLst/>
                <a:latin typeface="Times New Roman" panose="02020603050405020304" charset="0"/>
                <a:ea typeface="等线" panose="02010600030101010101" pitchFamily="2" charset="-122"/>
                <a:cs typeface="Times New Roman" panose="02020603050405020304" charset="0"/>
                <a:sym typeface="+mn-ea"/>
              </a:rPr>
              <a:t>1. Replace ethanol precipitation with affinity chromatography to achieve higher recovery</a:t>
            </a:r>
            <a:endParaRPr lang="en-US" altLang="zh-CN" sz="4000" kern="100" dirty="0">
              <a:effectLst/>
              <a:latin typeface="Times New Roman" panose="02020603050405020304" charset="0"/>
              <a:ea typeface="等线" panose="02010600030101010101" pitchFamily="2" charset="-122"/>
              <a:cs typeface="Times New Roman" panose="02020603050405020304" charset="0"/>
              <a:sym typeface="+mn-ea"/>
            </a:endParaRPr>
          </a:p>
          <a:p>
            <a:pPr algn="just"/>
            <a:r>
              <a:rPr lang="en-US" altLang="zh-CN" sz="4000" kern="100" dirty="0">
                <a:effectLst/>
                <a:latin typeface="Times New Roman" panose="02020603050405020304" charset="0"/>
                <a:ea typeface="等线" panose="02010600030101010101" pitchFamily="2" charset="-122"/>
                <a:cs typeface="Times New Roman" panose="02020603050405020304" charset="0"/>
                <a:sym typeface="+mn-ea"/>
              </a:rPr>
              <a:t>2. Enzymatic activity of the final product can be obtained by measuring the peak activity and curve integration using the elution curve.</a:t>
            </a:r>
            <a:endParaRPr lang="en-US" altLang="zh-CN" sz="4000" kern="100" dirty="0">
              <a:effectLst/>
              <a:latin typeface="Times New Roman" panose="02020603050405020304" charset="0"/>
              <a:ea typeface="等线" panose="02010600030101010101" pitchFamily="2" charset="-122"/>
              <a:cs typeface="Times New Roman" panose="02020603050405020304" charset="0"/>
              <a:sym typeface="+mn-ea"/>
            </a:endParaRPr>
          </a:p>
        </p:txBody>
      </p:sp>
    </p:spTree>
  </p:cSld>
  <p:clrMapOvr>
    <a:masterClrMapping/>
  </p:clrMapOvr>
</p:sld>
</file>

<file path=ppt/tags/tag1.xml><?xml version="1.0" encoding="utf-8"?>
<p:tagLst xmlns:p="http://schemas.openxmlformats.org/presentationml/2006/main">
  <p:tag name="TABLE_ENDDRAG_ORIGIN_RECT" val="735*208"/>
  <p:tag name="TABLE_ENDDRAG_RECT" val="0*187*735*208"/>
</p:tagLst>
</file>

<file path=ppt/tags/tag2.xml><?xml version="1.0" encoding="utf-8"?>
<p:tagLst xmlns:p="http://schemas.openxmlformats.org/presentationml/2006/main">
  <p:tag name="commondata" val="eyJoZGlkIjoiMDE0MWI5YjQzMmQ2NTI5ZGZkOWYyOTU0OTNmYzhhNzY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166B3"/>
        </a:solidFill>
        <a:ln>
          <a:solidFill>
            <a:srgbClr val="0166B3"/>
          </a:solidFill>
        </a:ln>
      </a:spPr>
      <a:bodyPr rtlCol="0" anchor="t" anchorCtr="0"/>
      <a:lstStyle>
        <a:defPPr algn="ctr" fontAlgn="ctr">
          <a:defRPr lang="en-US" altLang="zh-CN" sz="4000">
            <a:latin typeface="Times New Roman" panose="02020603050405020304" charset="0"/>
            <a:cs typeface="Times New Roman" panose="02020603050405020304" charset="0"/>
          </a:defRPr>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3287</Words>
  <Application>WPS 演示</Application>
  <PresentationFormat>自定义</PresentationFormat>
  <Paragraphs>132</Paragraphs>
  <Slides>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vt:i4>
      </vt:variant>
    </vt:vector>
  </HeadingPairs>
  <TitlesOfParts>
    <vt:vector size="12" baseType="lpstr">
      <vt:lpstr>Arial</vt:lpstr>
      <vt:lpstr>宋体</vt:lpstr>
      <vt:lpstr>Wingdings</vt:lpstr>
      <vt:lpstr>Times New Roman</vt:lpstr>
      <vt:lpstr>Arial</vt:lpstr>
      <vt:lpstr>Times New Roman</vt:lpstr>
      <vt:lpstr>微软雅黑</vt:lpstr>
      <vt:lpstr>Arial Unicode MS</vt:lpstr>
      <vt:lpstr>Calibri</vt:lpstr>
      <vt:lpstr>等线</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李哲夫</cp:lastModifiedBy>
  <cp:revision>49</cp:revision>
  <dcterms:created xsi:type="dcterms:W3CDTF">2024-12-26T14:30:00Z</dcterms:created>
  <dcterms:modified xsi:type="dcterms:W3CDTF">2024-12-29T15:03:50Z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2024-12-27T14:29:03Z</vt:filetime>
  </property>
  <property fmtid="{D5CDD505-2E9C-101B-9397-08002B2CF9AE}" pid="4" name="ICV">
    <vt:lpwstr>F56D9B274FAB42A6AFDA833A894000E4_13</vt:lpwstr>
  </property>
  <property fmtid="{D5CDD505-2E9C-101B-9397-08002B2CF9AE}" pid="5" name="KSOProductBuildVer">
    <vt:lpwstr>2052-12.1.0.17857</vt:lpwstr>
  </property>
</Properties>
</file>