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0000"/>
            <a:ext cx="12192119" cy="1080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0" y="162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SubCellSpace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" y="2592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BDDEE"/>
                </a:solidFill>
                <a:latin typeface="Calibri"/>
              </a:defRPr>
            </a:pPr>
            <a:r>
              <a:t>亚细胞分辨率空间转录组学数据平台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3780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数据库构建 · 分析 Pipeline · 交互式可视化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" y="4500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BBDD"/>
                </a:solidFill>
                <a:latin typeface="Calibri"/>
              </a:defRPr>
            </a:pPr>
            <a:r>
              <a:t>2026-06 · 清华大学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119" cy="1152000"/>
          </a:xfrm>
          <a:prstGeom prst="round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08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684000"/>
            <a:ext cx="10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DEE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5" name="Oval 4"/>
          <p:cNvSpPr/>
          <p:nvPr/>
        </p:nvSpPr>
        <p:spPr>
          <a:xfrm>
            <a:off x="1080000" y="1800000"/>
            <a:ext cx="432000" cy="432000"/>
          </a:xfrm>
          <a:prstGeom prst="ellipse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0" y="1854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3E50"/>
                </a:solidFill>
                <a:latin typeface="Calibri"/>
              </a:defRPr>
            </a:pPr>
            <a:r>
              <a:t>项目背景与动机</a:t>
            </a:r>
          </a:p>
        </p:txBody>
      </p:sp>
      <p:sp>
        <p:nvSpPr>
          <p:cNvPr id="7" name="Oval 6"/>
          <p:cNvSpPr/>
          <p:nvPr/>
        </p:nvSpPr>
        <p:spPr>
          <a:xfrm>
            <a:off x="1080000" y="2520000"/>
            <a:ext cx="432000" cy="432000"/>
          </a:xfrm>
          <a:prstGeom prst="ellipse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0000" y="2574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3E50"/>
                </a:solidFill>
                <a:latin typeface="Calibri"/>
              </a:defRPr>
            </a:pPr>
            <a:r>
              <a:t>平台架构 — Pipeline 总览</a:t>
            </a:r>
          </a:p>
        </p:txBody>
      </p:sp>
      <p:sp>
        <p:nvSpPr>
          <p:cNvPr id="9" name="Oval 8"/>
          <p:cNvSpPr/>
          <p:nvPr/>
        </p:nvSpPr>
        <p:spPr>
          <a:xfrm>
            <a:off x="1080000" y="3240000"/>
            <a:ext cx="432000" cy="432000"/>
          </a:xfrm>
          <a:prstGeom prst="ellipse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0000" y="3294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3E50"/>
                </a:solidFill>
                <a:latin typeface="Calibri"/>
              </a:defRPr>
            </a:pPr>
            <a:r>
              <a:t>数据库建设 — 规模与质量</a:t>
            </a:r>
          </a:p>
        </p:txBody>
      </p:sp>
      <p:sp>
        <p:nvSpPr>
          <p:cNvPr id="11" name="Oval 10"/>
          <p:cNvSpPr/>
          <p:nvPr/>
        </p:nvSpPr>
        <p:spPr>
          <a:xfrm>
            <a:off x="1080000" y="3960000"/>
            <a:ext cx="432000" cy="432000"/>
          </a:xfrm>
          <a:prstGeom prst="ellipse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0000" y="4014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3E50"/>
                </a:solidFill>
                <a:latin typeface="Calibri"/>
              </a:defRPr>
            </a:pPr>
            <a:r>
              <a:t>生物学覆盖 — 组织与疾病</a:t>
            </a:r>
          </a:p>
        </p:txBody>
      </p:sp>
      <p:sp>
        <p:nvSpPr>
          <p:cNvPr id="13" name="Oval 12"/>
          <p:cNvSpPr/>
          <p:nvPr/>
        </p:nvSpPr>
        <p:spPr>
          <a:xfrm>
            <a:off x="1080000" y="4680000"/>
            <a:ext cx="432000" cy="432000"/>
          </a:xfrm>
          <a:prstGeom prst="ellipse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0000" y="4734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3E50"/>
                </a:solidFill>
                <a:latin typeface="Calibri"/>
              </a:defRPr>
            </a:pPr>
            <a:r>
              <a:t>案例分析 — 实际数据验证</a:t>
            </a:r>
          </a:p>
        </p:txBody>
      </p:sp>
      <p:sp>
        <p:nvSpPr>
          <p:cNvPr id="15" name="Oval 14"/>
          <p:cNvSpPr/>
          <p:nvPr/>
        </p:nvSpPr>
        <p:spPr>
          <a:xfrm>
            <a:off x="1080000" y="5400000"/>
            <a:ext cx="432000" cy="432000"/>
          </a:xfrm>
          <a:prstGeom prst="ellipse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00000" y="5454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3E50"/>
                </a:solidFill>
                <a:latin typeface="Calibri"/>
              </a:defRPr>
            </a:pPr>
            <a:r>
              <a:t>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119" cy="1152000"/>
          </a:xfrm>
          <a:prstGeom prst="round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08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项目背景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684000"/>
            <a:ext cx="10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DEE"/>
                </a:solidFill>
                <a:latin typeface="Calibri"/>
              </a:defRPr>
            </a:pPr>
            <a: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620000"/>
            <a:ext cx="540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空间转录组学发展迅速，但缺乏统一的数据整理平台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CosMx / Xenium / MERFISH 三大平台数据格式各异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研究人员难以跨平台比较和重用公开数据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现有数据库缺少亚细胞分辨率的统计分析能力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SubCellSpace 旨在填补这一空白</a:t>
            </a:r>
          </a:p>
        </p:txBody>
      </p:sp>
      <p:pic>
        <p:nvPicPr>
          <p:cNvPr id="6" name="Picture 5" descr="fig7_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0000" y="1620000"/>
            <a:ext cx="5040000" cy="48957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119" cy="1152000"/>
          </a:xfrm>
          <a:prstGeom prst="round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08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相关工作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684000"/>
            <a:ext cx="10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DEE"/>
                </a:solidFill>
                <a:latin typeface="Calibri"/>
              </a:defRPr>
            </a:pPr>
            <a:r>
              <a:t>Related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620000"/>
            <a:ext cx="1080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🔴 SpatialDB          — 空间转录组数据库，但更新滞后（2021停止维护）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🔴 CROST              — 综合资源，缺乏统一分析流程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🔴 SOuND              — 空间组学数据库，不支持多平台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🟡 Squidpy / Scanpy   — 分析工具，非数据平台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🟡 GEO 数据库         — 原始数据存储，无标准化处理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✅ SubCellSpace — 数据 + 分析 + 可视化三位一体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119" cy="1152000"/>
          </a:xfrm>
          <a:prstGeom prst="round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08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平台架构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684000"/>
            <a:ext cx="10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DEE"/>
                </a:solidFill>
                <a:latin typeface="Calibri"/>
              </a:defRPr>
            </a:pPr>
            <a:r>
              <a:t>SubCellSpace Pipeline</a:t>
            </a:r>
          </a:p>
        </p:txBody>
      </p:sp>
      <p:pic>
        <p:nvPicPr>
          <p:cNvPr id="5" name="Picture 4" descr="fig4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1440000"/>
            <a:ext cx="11160000" cy="70299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0000" y="5580000"/>
            <a:ext cx="11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Calibri"/>
              </a:defRPr>
            </a:pPr>
            <a:r>
              <a:t>上段：平台搭建（GEO 下载 → 元数据 → LLM 注释 → 完整性检测 → 统计 → 前端 → 报告）</a:t>
            </a:r>
            <a:br/>
            <a:r>
              <a:t>下段：分析 Pipeline（降噪 → 分块 → 分割 → 域识别 → 注释 → 空间分析 → 亚细胞分析）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119" cy="1152000"/>
          </a:xfrm>
          <a:prstGeom prst="round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08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数据库规模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684000"/>
            <a:ext cx="10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DEE"/>
                </a:solidFill>
                <a:latin typeface="Calibri"/>
              </a:defRPr>
            </a:pPr>
            <a:r>
              <a:t>Database Scale</a:t>
            </a:r>
          </a:p>
        </p:txBody>
      </p:sp>
      <p:pic>
        <p:nvPicPr>
          <p:cNvPr id="5" name="Picture 4" descr="fig1A_platform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1620000"/>
            <a:ext cx="5040000" cy="3468545"/>
          </a:xfrm>
          <a:prstGeom prst="rect">
            <a:avLst/>
          </a:prstGeom>
        </p:spPr>
      </p:pic>
      <p:pic>
        <p:nvPicPr>
          <p:cNvPr id="6" name="Picture 5" descr="fig1C_gse_cou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000" y="1620000"/>
            <a:ext cx="5040000" cy="36006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0000" y="1368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F8C8D"/>
                </a:solidFill>
                <a:latin typeface="Calibri"/>
              </a:defRPr>
            </a:pPr>
            <a:r>
              <a:t>数据集数量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0000" y="1368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F8C8D"/>
                </a:solidFill>
                <a:latin typeface="Calibri"/>
              </a:defRPr>
            </a:pPr>
            <a:r>
              <a:t>GSE 系列数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119" cy="1152000"/>
          </a:xfrm>
          <a:prstGeom prst="round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08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数据库增长趋势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684000"/>
            <a:ext cx="10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DEE"/>
                </a:solidFill>
                <a:latin typeface="Calibri"/>
              </a:defRPr>
            </a:pPr>
            <a:r>
              <a:t>Growth Over Time</a:t>
            </a:r>
          </a:p>
        </p:txBody>
      </p:sp>
      <p:pic>
        <p:nvPicPr>
          <p:cNvPr id="5" name="Picture 4" descr="fig1B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" y="1620000"/>
            <a:ext cx="10080000" cy="56091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80000" y="576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F8C8D"/>
                </a:solidFill>
                <a:latin typeface="Calibri"/>
              </a:defRPr>
            </a:pPr>
            <a:r>
              <a:t>总数据集 4,478 条 · 覆盖 269 个 GSE 系列 · 三大平台持续增长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119" cy="1152000"/>
          </a:xfrm>
          <a:prstGeom prst="round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08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数据质量 — 文件覆盖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684000"/>
            <a:ext cx="10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DEE"/>
                </a:solidFill>
                <a:latin typeface="Calibri"/>
              </a:defRPr>
            </a:pPr>
            <a:r>
              <a:t>File Coverage</a:t>
            </a:r>
          </a:p>
        </p:txBody>
      </p:sp>
      <p:pic>
        <p:nvPicPr>
          <p:cNvPr id="5" name="Picture 4" descr="fig2A_file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" y="1620000"/>
            <a:ext cx="10080000" cy="47925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80000" y="558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F8C8D"/>
                </a:solidFill>
                <a:latin typeface="Calibri"/>
              </a:defRPr>
            </a:pPr>
            <a:r>
              <a:t>CosMx 文件完整度最高；Xenium 拥有特有的 Cell/Nucleus Boundary 数据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119" cy="1152000"/>
          </a:xfrm>
          <a:prstGeom prst="round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08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数据质量 — 元数据完整度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684000"/>
            <a:ext cx="10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DEE"/>
                </a:solidFill>
                <a:latin typeface="Calibri"/>
              </a:defRPr>
            </a:pPr>
            <a:r>
              <a:t>Metadata Completeness</a:t>
            </a:r>
          </a:p>
        </p:txBody>
      </p:sp>
      <p:pic>
        <p:nvPicPr>
          <p:cNvPr id="5" name="Picture 4" descr="fig2B_meta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" y="1620000"/>
            <a:ext cx="10080000" cy="82544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80000" y="576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Sort by avg fill rate · 基本字段（GSE/Name/Status）接近 100%；统计字段有待补充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119" cy="1152000"/>
          </a:xfrm>
          <a:prstGeom prst="round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08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数据统计覆盖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684000"/>
            <a:ext cx="10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DEE"/>
                </a:solidFill>
                <a:latin typeface="Calibri"/>
              </a:defRPr>
            </a:pPr>
            <a:r>
              <a:t>Stats Coverage &amp; Distribution</a:t>
            </a:r>
          </a:p>
        </p:txBody>
      </p:sp>
      <p:pic>
        <p:nvPicPr>
          <p:cNvPr id="5" name="Picture 4" descr="fig1D_stats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1620000"/>
            <a:ext cx="5220000" cy="3734613"/>
          </a:xfrm>
          <a:prstGeom prst="rect">
            <a:avLst/>
          </a:prstGeom>
        </p:spPr>
      </p:pic>
      <p:pic>
        <p:nvPicPr>
          <p:cNvPr id="6" name="Picture 5" descr="fig2D_cells_viol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000" y="1620000"/>
            <a:ext cx="5220000" cy="37321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0000" y="1368000"/>
            <a:ext cx="52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7F8C8D"/>
                </a:solidFill>
                <a:latin typeface="Calibri"/>
              </a:defRPr>
            </a:pPr>
            <a:r>
              <a:t>统计覆盖度（Ready 数据集）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0000" y="1368000"/>
            <a:ext cx="52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7F8C8D"/>
                </a:solidFill>
                <a:latin typeface="Calibri"/>
              </a:defRPr>
            </a:pPr>
            <a:r>
              <a:t>细胞数分布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119" cy="1152000"/>
          </a:xfrm>
          <a:prstGeom prst="round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08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生物学覆盖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684000"/>
            <a:ext cx="10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DEE"/>
                </a:solidFill>
                <a:latin typeface="Calibri"/>
              </a:defRPr>
            </a:pPr>
            <a:r>
              <a:t>Tissue &amp; Disease Coverage</a:t>
            </a:r>
          </a:p>
        </p:txBody>
      </p:sp>
      <p:pic>
        <p:nvPicPr>
          <p:cNvPr id="5" name="Picture 4" descr="fig3A_tiss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1620000"/>
            <a:ext cx="5220000" cy="3588886"/>
          </a:xfrm>
          <a:prstGeom prst="rect">
            <a:avLst/>
          </a:prstGeom>
        </p:spPr>
      </p:pic>
      <p:pic>
        <p:nvPicPr>
          <p:cNvPr id="6" name="Picture 5" descr="fig3B_dise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000" y="1620000"/>
            <a:ext cx="5220000" cy="35680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0000" y="1368000"/>
            <a:ext cx="52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F8C8D"/>
                </a:solidFill>
                <a:latin typeface="Calibri"/>
              </a:defRPr>
            </a:pPr>
            <a:r>
              <a:t>组织类型 Top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8000" y="1368000"/>
            <a:ext cx="52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F8C8D"/>
                </a:solidFill>
                <a:latin typeface="Calibri"/>
              </a:defRPr>
            </a:pPr>
            <a:r>
              <a:t>疾病状态 Top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119" cy="1152000"/>
          </a:xfrm>
          <a:prstGeom prst="round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08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平台 × 组织覆盖矩阵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684000"/>
            <a:ext cx="10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DEE"/>
                </a:solidFill>
                <a:latin typeface="Calibri"/>
              </a:defRPr>
            </a:pPr>
            <a:r>
              <a:t>Platform × Tissue Matrix</a:t>
            </a:r>
          </a:p>
        </p:txBody>
      </p:sp>
      <p:pic>
        <p:nvPicPr>
          <p:cNvPr id="5" name="Picture 4" descr="fig3C_platform_tiss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0" y="1620000"/>
            <a:ext cx="9360000" cy="842914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119" cy="1152000"/>
          </a:xfrm>
          <a:prstGeom prst="round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08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案例分析 : GSE263791 AD 小鼠脑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684000"/>
            <a:ext cx="10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DEE"/>
                </a:solidFill>
                <a:latin typeface="Calibri"/>
              </a:defRPr>
            </a:pPr>
            <a:r>
              <a:t>Case Study</a:t>
            </a:r>
          </a:p>
        </p:txBody>
      </p:sp>
      <p:pic>
        <p:nvPicPr>
          <p:cNvPr id="5" name="Picture 4" descr="fig5_case_stu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440000"/>
            <a:ext cx="10800000" cy="96164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0000" y="594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CosMx 平台 · 阿尔茨海默小鼠脑 · （a-b）按转录本着色 （c-d）按聚类着色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119" cy="1152000"/>
          </a:xfrm>
          <a:prstGeom prst="round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08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概念验证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684000"/>
            <a:ext cx="10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DEE"/>
                </a:solidFill>
                <a:latin typeface="Calibri"/>
              </a:defRPr>
            </a:pPr>
            <a:r>
              <a:t>Concept &amp; Outlook</a:t>
            </a:r>
          </a:p>
        </p:txBody>
      </p:sp>
      <p:pic>
        <p:nvPicPr>
          <p:cNvPr id="5" name="Picture 4" descr="fig7_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440000"/>
            <a:ext cx="10800000" cy="1049089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119" cy="1152000"/>
          </a:xfrm>
          <a:prstGeom prst="round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08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684000"/>
            <a:ext cx="10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DEE"/>
                </a:solidFill>
                <a:latin typeface="Calibri"/>
              </a:defRPr>
            </a:pPr>
            <a:r>
              <a:t>Summary &amp; Outlook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1620000"/>
            <a:ext cx="5040000" cy="4320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728000"/>
            <a:ext cx="46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BC9C"/>
                </a:solidFill>
                <a:latin typeface="Calibri"/>
              </a:defRPr>
            </a:pPr>
            <a:r>
              <a:t>✅ 已完成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2160000"/>
            <a:ext cx="468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三平台 GEO 数据库：4,478 条记录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统一的 scverse-native 6 步 Pipeline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交互式前端：数据浏览 + 搜索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7 张海报图 + 5 张大图 + 12 张子图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A0 尺寸海报 + PPT 演示</a:t>
            </a:r>
          </a:p>
        </p:txBody>
      </p:sp>
      <p:sp>
        <p:nvSpPr>
          <p:cNvPr id="8" name="Rectangle 7"/>
          <p:cNvSpPr/>
          <p:nvPr/>
        </p:nvSpPr>
        <p:spPr>
          <a:xfrm>
            <a:off x="6480000" y="1620000"/>
            <a:ext cx="5040000" cy="4320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60000" y="1728000"/>
            <a:ext cx="46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980B9"/>
                </a:solidFill>
                <a:latin typeface="Calibri"/>
              </a:defRPr>
            </a:pPr>
            <a:r>
              <a:t>🔜 进行中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0000" y="2160000"/>
            <a:ext cx="468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Xenium 统计信息补充（272/717 → 591）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CosMx pending 数据集下载（1,761 条）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Pipeline 性能优化（空间分析加速）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Docker 容器化部署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CI/CD 自动化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