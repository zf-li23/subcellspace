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DDFF"/>
                </a:solidFill>
                <a:latin typeface="Microsoft YaHei"/>
              </a:defRPr>
            </a:pPr>
            <a:r>
              <a:t>scverse-native 亚细胞空间转录组学分析平台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BBDD"/>
                </a:solidFill>
                <a:latin typeface="Microsoft YaHei"/>
              </a:defRPr>
            </a:pPr>
            <a:r>
              <a:t>支持 CosMx / Xenium / MERFISH · 统一 6 步分析流程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4C6E"/>
                </a:solidFill>
                <a:latin typeface="Microsoft YaHei"/>
              </a:defRPr>
            </a:pPr>
            <a:r>
              <a:t>李哲夫 · 清华大学 生命科学学院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🧬  亚细胞空间组学兴起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CosMx / Xenium / MERFISH 可在</a:t>
            </a:r>
            <a:br/>
            <a:r>
              <a:t>单细胞级别检测 RNA 空间位置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73152" cy="3474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Microsoft YaHei"/>
              </a:defRPr>
            </a:pPr>
            <a:r>
              <a:t>📊  数据集碎片化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GEO 数据散落数千 GSE 系列，</a:t>
            </a:r>
            <a:br/>
            <a:r>
              <a:t>缺乏统一的质量控制与元数据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280160"/>
            <a:ext cx="73152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BC9C"/>
                </a:solidFill>
                <a:latin typeface="Microsoft YaHei"/>
              </a:defRPr>
            </a:pPr>
            <a:r>
              <a:t>🔧  缺乏统一分析平台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现有工具各有所长但互不兼容，</a:t>
            </a:r>
            <a:br/>
            <a:r>
              <a:t>需统一的数据格式与分析流程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8384D"/>
                </a:solidFill>
                <a:latin typeface="Microsoft YaHei"/>
              </a:defRPr>
            </a:pPr>
            <a:r>
              <a:t>SubCellSpace：数据收集 → 质量控制 → 统计分析 → 可视化 一站式方案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4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474720" cy="2391314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97280"/>
            <a:ext cx="3474720" cy="2482415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97280"/>
            <a:ext cx="4389120" cy="24423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CosMx/Xenium/MERFISH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Microsoft YaHei"/>
              </a:defRPr>
            </a:pPr>
            <a:r>
              <a:t>左：三平台数据集规模 · 中：GSE 系列数 · 右：数据库增长趋势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数据质量与完整度</a:t>
            </a:r>
          </a:p>
        </p:txBody>
      </p:sp>
      <p:pic>
        <p:nvPicPr>
          <p:cNvPr id="4" name="Picture 3" descr="fig2A_fil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669280" cy="2695465"/>
          </a:xfrm>
          <a:prstGeom prst="rect">
            <a:avLst/>
          </a:prstGeom>
        </p:spPr>
      </p:pic>
      <p:pic>
        <p:nvPicPr>
          <p:cNvPr id="5" name="Picture 4" descr="fig1D_stats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3834266" cy="2743200"/>
          </a:xfrm>
          <a:prstGeom prst="rect">
            <a:avLst/>
          </a:prstGeom>
        </p:spPr>
      </p:pic>
      <p:pic>
        <p:nvPicPr>
          <p:cNvPr id="6" name="Picture 5" descr="fig2B_meta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114800"/>
            <a:ext cx="3126568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文件覆盖率热图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统计覆盖度（Ready 数据集中有值的比例）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5303520"/>
            <a:ext cx="11795760" cy="128016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5303520"/>
            <a:ext cx="54864" cy="12801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CosMx 文件最完整：Polygons + Expr Matrix + Cell Metadata + FOV Positions 均 &gt;90%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7150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Xenium 特有 Cell/Nucleus Boundary 文件，但统计覆盖仅 38%（多数文件尚未下载到集群）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MERFISH 基础文件完备，统计覆盖 73%，缺少 Gene Panel 元数据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657600" cy="2615061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3657600" cy="2615061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97280"/>
            <a:ext cx="3657600" cy="2615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4695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500093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📋  涵盖疾病：癌症、纤维化、炎症、神经退行性疾病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案例验证：GSE263791 AD 小鼠脑</a:t>
            </a:r>
          </a:p>
        </p:txBody>
      </p:sp>
      <p:pic>
        <p:nvPicPr>
          <p:cNvPr id="4" name="Picture 3" descr="fig5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564817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阿尔茨海默病小鼠脑 · CosMx · 2.4M tx · 8,726 cells · 999 genes · 30 min 全流程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亚细胞分析概念图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97280"/>
            <a:ext cx="51773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7886"/>
                </a:solidFill>
                <a:latin typeface="Microsoft YaHei"/>
              </a:defRPr>
            </a:pPr>
            <a:r>
              <a:t>(a) SCRIN 基因调控网络 · (b) 亚细胞域识别 · (c) 空间可变基因 · (d) 虚拟细胞模型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4846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Microsoft YaHei"/>
              </a:defRPr>
            </a:pPr>
            <a: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scverse-native 6 步统一分析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CosMx / Xenium / MERFISH 三平台摄入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GEO 数据库：4,478 条记录，269 个 GSE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Touch 完整性检查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React 前端：Browser + Report 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7 张海报图 + 5 张论文大图 + PPT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4846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Microsoft YaHei"/>
              </a:defRPr>
            </a:pPr>
            <a:r>
              <a:t>🔄  待完成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1,761 个 CosMx pending 数据下载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Xenium 统计覆盖提升（当前 38%）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MERFISH 异构数据格式处理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Docker 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性能 Benchmark 与工具对比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Microsoft YaHei"/>
              </a:defRPr>
            </a:pPr>
            <a:r>
              <a:t>github.com/zf-li23/SubCellSpace  ·  263 commits  ·  ~15K lines of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