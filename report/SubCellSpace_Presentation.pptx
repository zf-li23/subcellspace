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SubCellSpace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BDDFF"/>
                </a:solidFill>
                <a:latin typeface="Microsoft YaHei"/>
              </a:defRPr>
            </a:pPr>
            <a:r>
              <a:t>scverse-native 亚细胞空间转录组学分析平台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BBDD"/>
                </a:solidFill>
                <a:latin typeface="Microsoft YaHei"/>
              </a:defRPr>
            </a:pPr>
            <a:r>
              <a:t>支持 CosMx / Xenium / MERFISH · 统一 6 步分析流程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4C6E"/>
                </a:solidFill>
                <a:latin typeface="Microsoft YaHei"/>
              </a:defRPr>
            </a:pPr>
            <a:r>
              <a:t>李哲夫 · 清华大学 生命科学学院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github.com/zf-li23/SubCellSpace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463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19456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2677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86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0906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108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84048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9136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数据质量与生物学覆盖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66344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736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7548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案例验证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548640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5595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5778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3152" cy="347472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4C6E"/>
                </a:solidFill>
                <a:latin typeface="Microsoft YaHei"/>
              </a:defRPr>
            </a:pPr>
            <a:r>
              <a:t>🧬  亚细胞空间组学兴起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CosMx / Xenium / MERFISH 可在</a:t>
            </a:r>
            <a:br/>
            <a:r>
              <a:t>单细胞级别检测 RNA 空间位置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73152" cy="3474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  <a:latin typeface="Microsoft YaHei"/>
              </a:defRPr>
            </a:pPr>
            <a:r>
              <a:t>📊  数据集碎片化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GEO 数据散落数千 GSE 系列，</a:t>
            </a:r>
            <a:br/>
            <a:r>
              <a:t>缺乏统一的质量控制与元数据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280160"/>
            <a:ext cx="73152" cy="34747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BC9C"/>
                </a:solidFill>
                <a:latin typeface="Microsoft YaHei"/>
              </a:defRPr>
            </a:pPr>
            <a:r>
              <a:t>🔧  缺乏统一分析平台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现有工具各有所长但互不兼容，</a:t>
            </a:r>
            <a:br/>
            <a:r>
              <a:t>需统一的数据格式与分析流程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8384D"/>
                </a:solidFill>
                <a:latin typeface="Microsoft YaHei"/>
              </a:defRPr>
            </a:pPr>
            <a:r>
              <a:t>SubCellSpace：数据收集 → 质量控制 → 统计分析 → 可视化 一站式方案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pic>
        <p:nvPicPr>
          <p:cNvPr id="4" name="Picture 3" descr="fig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上：7 步数据平台（GEO 下载 → 元数据 → LLM 注释 → Touch → Stats → 前端 → 报告）</a:t>
            </a:r>
            <a:br/>
            <a:r>
              <a:t>下：7 步 scverse-native 分析管线（降噪 → 分割 → 注释 → 空间 → 亚细胞）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pic>
        <p:nvPicPr>
          <p:cNvPr id="4" name="Picture 3" descr="fig1A_platform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986031" cy="2743200"/>
          </a:xfrm>
          <a:prstGeom prst="rect">
            <a:avLst/>
          </a:prstGeom>
        </p:spPr>
      </p:pic>
      <p:pic>
        <p:nvPicPr>
          <p:cNvPr id="5" name="Picture 4" descr="fig1C_gse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3839749" cy="2743200"/>
          </a:xfrm>
          <a:prstGeom prst="rect">
            <a:avLst/>
          </a:prstGeom>
        </p:spPr>
      </p:pic>
      <p:pic>
        <p:nvPicPr>
          <p:cNvPr id="6" name="Picture 5" descr="fig1B_grow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97280"/>
            <a:ext cx="4929703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4,478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GEO 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269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GSE 系列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3 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CosMx/Xenium/MERFISH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~15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集群数据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7886"/>
                </a:solidFill>
                <a:latin typeface="Microsoft YaHei"/>
              </a:defRPr>
            </a:pPr>
            <a:r>
              <a:t>左：三平台数据集规模（Ready/Pending/Error） · 中：GSE 系列数 · 右：数据库增长趋势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数据质量与完整度</a:t>
            </a:r>
          </a:p>
        </p:txBody>
      </p:sp>
      <p:pic>
        <p:nvPicPr>
          <p:cNvPr id="4" name="Picture 3" descr="fig2A_file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769678" cy="2743200"/>
          </a:xfrm>
          <a:prstGeom prst="rect">
            <a:avLst/>
          </a:prstGeom>
        </p:spPr>
      </p:pic>
      <p:pic>
        <p:nvPicPr>
          <p:cNvPr id="5" name="Picture 4" descr="fig1D_stats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097280"/>
            <a:ext cx="3834266" cy="2743200"/>
          </a:xfrm>
          <a:prstGeom prst="rect">
            <a:avLst/>
          </a:prstGeom>
        </p:spPr>
      </p:pic>
      <p:pic>
        <p:nvPicPr>
          <p:cNvPr id="6" name="Picture 5" descr="fig2B_meta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097280"/>
            <a:ext cx="390821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14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文件覆盖率热图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统计覆盖度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572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元数据完整度热图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7AE60"/>
                </a:solidFill>
                <a:latin typeface="Microsoft YaHei"/>
              </a:defRPr>
            </a:pPr>
            <a:r>
              <a:t>CosMx 99%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7E22"/>
                </a:solidFill>
                <a:latin typeface="Microsoft YaHei"/>
              </a:defRPr>
            </a:pPr>
            <a:r>
              <a:t>Xenium 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48463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ABC9C"/>
                </a:solidFill>
                <a:latin typeface="Microsoft YaHei"/>
              </a:defRPr>
            </a:pPr>
            <a:r>
              <a:t>MERFISH 73%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跨平台统计量分布</a:t>
            </a:r>
          </a:p>
        </p:txBody>
      </p:sp>
      <p:pic>
        <p:nvPicPr>
          <p:cNvPr id="4" name="Picture 3" descr="fig2C_transcripts_vi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836822" cy="2743200"/>
          </a:xfrm>
          <a:prstGeom prst="rect">
            <a:avLst/>
          </a:prstGeom>
        </p:spPr>
      </p:pic>
      <p:pic>
        <p:nvPicPr>
          <p:cNvPr id="5" name="Picture 4" descr="fig2D_cells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97280"/>
            <a:ext cx="3836822" cy="2743200"/>
          </a:xfrm>
          <a:prstGeom prst="rect">
            <a:avLst/>
          </a:prstGeom>
        </p:spPr>
      </p:pic>
      <p:pic>
        <p:nvPicPr>
          <p:cNvPr id="6" name="Picture 5" descr="fig2E_genes_viol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097280"/>
            <a:ext cx="383682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log₁₀(转录本数/数据集)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log₁₀(细胞数/数据集)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931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log₁₀(基因数/数据集)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Xenium 数据集最多（1,525），但中位细胞数低于 CosMx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CosMx 质量最高，统计覆盖 99%，中位转录本 ~5M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MERFISH 单数据集最大（~32M tx, 550K cells），但总数较少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生物学覆盖</a:t>
            </a:r>
          </a:p>
        </p:txBody>
      </p:sp>
      <p:pic>
        <p:nvPicPr>
          <p:cNvPr id="4" name="Picture 3" descr="fig3A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989958" cy="2743200"/>
          </a:xfrm>
          <a:prstGeom prst="rect">
            <a:avLst/>
          </a:prstGeom>
        </p:spPr>
      </p:pic>
      <p:pic>
        <p:nvPicPr>
          <p:cNvPr id="5" name="Picture 4" descr="fig3B_dis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4013262" cy="2743200"/>
          </a:xfrm>
          <a:prstGeom prst="rect">
            <a:avLst/>
          </a:prstGeom>
        </p:spPr>
      </p:pic>
      <p:pic>
        <p:nvPicPr>
          <p:cNvPr id="6" name="Picture 5" descr="fig3C_platform_tiss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97280"/>
            <a:ext cx="355382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组织类型 Top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疾病状态 Top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572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平台×组织覆盖矩阵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🧬  2 个物种：Homo sapiens（~66%）/ Mus musculus（~42%）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🧫  30+ 组织类型：脑、肾脏、肿瘤、结肠等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🩺  涵盖疾病：癌症、纤维化、炎症、神经退行性疾病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案例验证：GSE263791 AD 小鼠脑</a:t>
            </a:r>
          </a:p>
        </p:txBody>
      </p:sp>
      <p:pic>
        <p:nvPicPr>
          <p:cNvPr id="4" name="Picture 3" descr="fig5_case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10014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阿尔茨海默病小鼠脑 · CosMx · 2.4M tx · 8,726 cells · 999 genes · 30 min 全流程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亚细胞分析概念图</a:t>
            </a:r>
          </a:p>
        </p:txBody>
      </p:sp>
      <p:pic>
        <p:nvPicPr>
          <p:cNvPr id="4" name="Picture 3" descr="fig7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51773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7886"/>
                </a:solidFill>
                <a:latin typeface="Microsoft YaHei"/>
              </a:defRPr>
            </a:pPr>
            <a:r>
              <a:t>(a) SCRIN 基因调控网络 · (b) 亚细胞域识别 · (c) 空间可变基因 · (d) 虚拟细胞模型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4846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Microsoft YaHei"/>
              </a:defRPr>
            </a:pPr>
            <a:r>
              <a:t>✅  已完成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scverse-native 6 步统一分析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CosMx / Xenium / MERFISH 三平台摄入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GEO 数据库：4,478 条记录，269 个 GSE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Touch 完整性检查 + 统计流式处理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React 前端：Browser + Report 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7 张海报图 + 5 张论文大图 + PPT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73152" cy="4846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Microsoft YaHei"/>
              </a:defRPr>
            </a:pPr>
            <a:r>
              <a:t>🔄  待完成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1,761 个 CosMx pending 数据下载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Xenium 统计覆盖提升（当前 38%）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MERFISH 异构数据格式处理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Docker 容器化部署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性能 Benchmark 与工具对比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190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DDFF"/>
                </a:solidFill>
                <a:latin typeface="Microsoft YaHei"/>
              </a:defRPr>
            </a:pPr>
            <a:r>
              <a:t>github.com/zf-li23/SubCellSpace  ·  263 commits  ·  ~15K lines of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