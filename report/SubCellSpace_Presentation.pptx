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54864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Microsoft YaHei"/>
              </a:defRPr>
            </a:pPr>
            <a:r>
              <a:t>SubCellSpace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BBDDFF"/>
                </a:solidFill>
                <a:latin typeface="Microsoft YaHei"/>
              </a:defRPr>
            </a:pPr>
            <a:r>
              <a:t>scverse-native 亚细胞空间转录组学分析平台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8BBDD"/>
                </a:solidFill>
                <a:latin typeface="Microsoft YaHei"/>
              </a:defRPr>
            </a:pPr>
            <a:r>
              <a:t>支持 CosMx / Xenium / MERFISH · 统一 6 步分析流程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4C6E"/>
                </a:solidFill>
                <a:latin typeface="Microsoft YaHei"/>
              </a:defRPr>
            </a:pPr>
            <a:r>
              <a:t>李哲夫 · 清华大学 生命科学学院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github.com/zf-li23/SubCellSpace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汇报提纲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548640" cy="54864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4447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4630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项目背景与动机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194560"/>
            <a:ext cx="548640" cy="5486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26771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286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平台架构与 Pipeline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017520"/>
            <a:ext cx="548640" cy="54864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309067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1089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数据库建设成果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840480"/>
            <a:ext cx="548640" cy="5486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9136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93192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数据质量与生物学覆盖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663440"/>
            <a:ext cx="548640" cy="54864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3040" y="473659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7548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案例验证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5486400"/>
            <a:ext cx="548640" cy="54864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55955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55778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6323F"/>
                </a:solidFill>
                <a:latin typeface="Microsoft YaHei"/>
              </a:defRPr>
            </a:pPr>
            <a:r>
              <a:t>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项目背景与动机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3291840" cy="34747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73152" cy="347472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B4C6E"/>
                </a:solidFill>
                <a:latin typeface="Microsoft YaHei"/>
              </a:defRPr>
            </a:pPr>
            <a:r>
              <a:t>🧬  亚细胞空间组学兴起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CosMx / Xenium / MERFISH 可在</a:t>
            </a:r>
            <a:br/>
            <a:r>
              <a:t>单细胞级别检测 RNA 空间位置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280160"/>
            <a:ext cx="3291840" cy="34747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280160"/>
            <a:ext cx="73152" cy="34747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67E22"/>
                </a:solidFill>
                <a:latin typeface="Microsoft YaHei"/>
              </a:defRPr>
            </a:pPr>
            <a:r>
              <a:t>📊  数据集碎片化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945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GEO 数据散落数千 GSE 系列，</a:t>
            </a:r>
            <a:br/>
            <a:r>
              <a:t>缺乏统一的质量控制与元数据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280160"/>
            <a:ext cx="3291840" cy="34747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0" y="1280160"/>
            <a:ext cx="73152" cy="3474720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14630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BC9C"/>
                </a:solidFill>
                <a:latin typeface="Microsoft YaHei"/>
              </a:defRPr>
            </a:pPr>
            <a:r>
              <a:t>🔧  缺乏统一分析平台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1945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现有工具各有所长但互不兼容，</a:t>
            </a:r>
            <a:br/>
            <a:r>
              <a:t>需统一的数据格式与分析流程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8384D"/>
                </a:solidFill>
                <a:latin typeface="Microsoft YaHei"/>
              </a:defRPr>
            </a:pPr>
            <a:r>
              <a:t>SubCellSpace：数据收集 → 质量控制 → 统计分析 → 可视化 一站式方案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平台架构与 Pipeline</a:t>
            </a:r>
          </a:p>
        </p:txBody>
      </p:sp>
      <p:pic>
        <p:nvPicPr>
          <p:cNvPr id="4" name="Picture 3" descr="fig4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54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C7886"/>
                </a:solidFill>
                <a:latin typeface="Microsoft YaHei"/>
              </a:defRPr>
            </a:pPr>
            <a:r>
              <a:t>上：7 步数据平台（GEO 下载 → 元数据 → LLM 注释 → Touch → Stats → 前端 → 报告）</a:t>
            </a:r>
            <a:br/>
            <a:r>
              <a:t>下：7 步 scverse-native 分析管线（降噪 → 分割 → 注释 → 空间 → 亚细胞）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数据库建设成果</a:t>
            </a:r>
          </a:p>
        </p:txBody>
      </p:sp>
      <p:pic>
        <p:nvPicPr>
          <p:cNvPr id="4" name="Picture 3" descr="fig1A_platform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474720" cy="2391314"/>
          </a:xfrm>
          <a:prstGeom prst="rect">
            <a:avLst/>
          </a:prstGeom>
        </p:spPr>
      </p:pic>
      <p:pic>
        <p:nvPicPr>
          <p:cNvPr id="5" name="Picture 4" descr="fig1C_gse_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097280"/>
            <a:ext cx="3474720" cy="2482415"/>
          </a:xfrm>
          <a:prstGeom prst="rect">
            <a:avLst/>
          </a:prstGeom>
        </p:spPr>
      </p:pic>
      <p:pic>
        <p:nvPicPr>
          <p:cNvPr id="6" name="Picture 5" descr="fig1B_grow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097280"/>
            <a:ext cx="4389120" cy="244238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Microsoft YaHei"/>
              </a:defRPr>
            </a:pPr>
            <a:r>
              <a:t>4,478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GEO 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Microsoft YaHei"/>
              </a:defRPr>
            </a:pPr>
            <a:r>
              <a:t>269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GSE 系列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Microsoft YaHei"/>
              </a:defRPr>
            </a:pPr>
            <a:r>
              <a:t>3 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CosMx/Xenium/MERFISH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4114800"/>
            <a:ext cx="2560320" cy="201168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4114800"/>
            <a:ext cx="2011680" cy="54864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43891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B4C6E"/>
                </a:solidFill>
                <a:latin typeface="Microsoft YaHei"/>
              </a:defRPr>
            </a:pPr>
            <a:r>
              <a:t>~15 TB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5212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C7886"/>
                </a:solidFill>
                <a:latin typeface="Microsoft YaHei"/>
              </a:defRPr>
            </a:pPr>
            <a:r>
              <a:t>集群数据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7886"/>
                </a:solidFill>
                <a:latin typeface="Microsoft YaHei"/>
              </a:defRPr>
            </a:pPr>
            <a:r>
              <a:t>左：三平台数据集规模 · 中：GSE 系列数 · 右：数据库增长趋势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数据质量与完整度</a:t>
            </a:r>
          </a:p>
        </p:txBody>
      </p:sp>
      <p:pic>
        <p:nvPicPr>
          <p:cNvPr id="4" name="Picture 3" descr="fig2A_file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5669280" cy="2695465"/>
          </a:xfrm>
          <a:prstGeom prst="rect">
            <a:avLst/>
          </a:prstGeom>
        </p:spPr>
      </p:pic>
      <p:pic>
        <p:nvPicPr>
          <p:cNvPr id="5" name="Picture 4" descr="fig1D_stats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097280"/>
            <a:ext cx="3834266" cy="2743200"/>
          </a:xfrm>
          <a:prstGeom prst="rect">
            <a:avLst/>
          </a:prstGeom>
        </p:spPr>
      </p:pic>
      <p:pic>
        <p:nvPicPr>
          <p:cNvPr id="6" name="Picture 5" descr="fig2B_metada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4114800"/>
            <a:ext cx="3126568" cy="2560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3931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8384D"/>
                </a:solidFill>
                <a:latin typeface="Microsoft YaHei"/>
              </a:defRPr>
            </a:pPr>
            <a:r>
              <a:t>文件覆盖率热图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931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8384D"/>
                </a:solidFill>
                <a:latin typeface="Microsoft YaHei"/>
              </a:defRPr>
            </a:pPr>
            <a:r>
              <a:t>统计覆盖度（Ready 数据集中有值的比例）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5303520"/>
            <a:ext cx="11795760" cy="128016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2880" y="5303520"/>
            <a:ext cx="54864" cy="128016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53949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6323F"/>
                </a:solidFill>
                <a:latin typeface="Microsoft YaHei"/>
              </a:defRPr>
            </a:pPr>
            <a:r>
              <a:t>▸  CosMx 文件最完整：Polygons + Expr Matrix + Cell Metadata + FOV Positions 均 &gt;90%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7150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6323F"/>
                </a:solidFill>
                <a:latin typeface="Microsoft YaHei"/>
              </a:defRPr>
            </a:pPr>
            <a:r>
              <a:t>▸  Xenium 特有 Cell/Nucleus Boundary 文件，但统计覆盖仅 38%（多数文件尚未下载到集群）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0350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6323F"/>
                </a:solidFill>
                <a:latin typeface="Microsoft YaHei"/>
              </a:defRPr>
            </a:pPr>
            <a:r>
              <a:t>▸  MERFISH 基础文件完备，统计覆盖 73%，缺少 Gene Panel 元数据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跨平台统计量分布</a:t>
            </a:r>
          </a:p>
        </p:txBody>
      </p:sp>
      <p:pic>
        <p:nvPicPr>
          <p:cNvPr id="4" name="Picture 3" descr="fig2C_transcripts_viol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657600" cy="2615061"/>
          </a:xfrm>
          <a:prstGeom prst="rect">
            <a:avLst/>
          </a:prstGeom>
        </p:spPr>
      </p:pic>
      <p:pic>
        <p:nvPicPr>
          <p:cNvPr id="5" name="Picture 4" descr="fig2D_cells_viol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097280"/>
            <a:ext cx="3657600" cy="2615061"/>
          </a:xfrm>
          <a:prstGeom prst="rect">
            <a:avLst/>
          </a:prstGeom>
        </p:spPr>
      </p:pic>
      <p:pic>
        <p:nvPicPr>
          <p:cNvPr id="6" name="Picture 5" descr="fig2E_genes_viol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1097280"/>
            <a:ext cx="3657600" cy="26150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39319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log10(转录本数/数据集)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9319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log10(细胞数/数据集)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39319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log10(基因数/数据集)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72000"/>
            <a:ext cx="11247120" cy="16459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572000"/>
            <a:ext cx="11247120" cy="54864"/>
          </a:xfrm>
          <a:prstGeom prst="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548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📌  Xenium 数据集最多（1,525），但中位细胞数低于 CosMx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📌  CosMx 质量最高，统计覆盖 99%，中位转录本 ~5M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692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📌  MERFISH 单数据集最大（~32M tx, 550K cells），但总数较少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生物学覆盖</a:t>
            </a:r>
          </a:p>
        </p:txBody>
      </p:sp>
      <p:pic>
        <p:nvPicPr>
          <p:cNvPr id="4" name="Picture 3" descr="fig3A_tiss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3657600" cy="2514695"/>
          </a:xfrm>
          <a:prstGeom prst="rect">
            <a:avLst/>
          </a:prstGeom>
        </p:spPr>
      </p:pic>
      <p:pic>
        <p:nvPicPr>
          <p:cNvPr id="5" name="Picture 4" descr="fig3B_dise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097280"/>
            <a:ext cx="3657600" cy="2500093"/>
          </a:xfrm>
          <a:prstGeom prst="rect">
            <a:avLst/>
          </a:prstGeom>
        </p:spPr>
      </p:pic>
      <p:pic>
        <p:nvPicPr>
          <p:cNvPr id="6" name="Picture 5" descr="fig3C_platform_tiss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097280"/>
            <a:ext cx="3553829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" y="39319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组织类型 Top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39319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疾病状态 Top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572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8384D"/>
                </a:solidFill>
                <a:latin typeface="Microsoft YaHei"/>
              </a:defRPr>
            </a:pPr>
            <a:r>
              <a:t>平台×组织覆盖矩阵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72000"/>
            <a:ext cx="11247120" cy="16459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572000"/>
            <a:ext cx="11247120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548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🧬  2 个物种：Homo sapiens（~66%）/ Mus musculus（~42%）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🧫  30+ 组织类型：脑、肾脏、肿瘤、结肠等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6692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6323F"/>
                </a:solidFill>
                <a:latin typeface="Microsoft YaHei"/>
              </a:defRPr>
            </a:pPr>
            <a:r>
              <a:t>📋  涵盖疾病：癌症、纤维化、炎症、神经退行性疾病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案例验证：GSE263791 AD 小鼠脑</a:t>
            </a:r>
          </a:p>
        </p:txBody>
      </p:sp>
      <p:pic>
        <p:nvPicPr>
          <p:cNvPr id="4" name="Picture 3" descr="fig5_case_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097280"/>
            <a:ext cx="564817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C7886"/>
                </a:solidFill>
                <a:latin typeface="Microsoft YaHei"/>
              </a:defRPr>
            </a:pPr>
            <a:r>
              <a:t>阿尔茨海默病小鼠脑 · CosMx · 2.4M tx · 8,726 cells · 999 genes · 30 min 全流程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亚细胞分析概念图</a:t>
            </a:r>
          </a:p>
        </p:txBody>
      </p:sp>
      <p:pic>
        <p:nvPicPr>
          <p:cNvPr id="4" name="Picture 3" descr="fig7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097280"/>
            <a:ext cx="517738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C7886"/>
                </a:solidFill>
                <a:latin typeface="Microsoft YaHei"/>
              </a:defRPr>
            </a:pPr>
            <a:r>
              <a:t>(a) SCRIN 基因调控网络 · (b) 亚细胞域识别 · (c) 空间可变基因 · (d) 虚拟细胞模型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总结与展望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486400" cy="48463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73152" cy="4846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7AE60"/>
                </a:solidFill>
                <a:latin typeface="Microsoft YaHei"/>
              </a:defRPr>
            </a:pPr>
            <a:r>
              <a:t>✅  已完成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scverse-native 6 步统一分析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CosMx / Xenium / MERFISH 三平台摄入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GEO 数据库：4,478 条记录，269 个 GSE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Touch 完整性检查 + 统计流式处理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React 前端：Browser + Report 页面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✓  7 张海报图 + 5 张论文大图 + PPT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188720"/>
            <a:ext cx="5486400" cy="484632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73152" cy="4846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67E22"/>
                </a:solidFill>
                <a:latin typeface="Microsoft YaHei"/>
              </a:defRPr>
            </a:pPr>
            <a:r>
              <a:t>🔄  待完成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1,761 个 CosMx pending 数据下载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423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Xenium 统计覆盖提升（当前 38%）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9260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MERFISH 异构数据格式处理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29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Docker 容器化部署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9319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6323F"/>
                </a:solidFill>
                <a:latin typeface="Microsoft YaHei"/>
              </a:defRPr>
            </a:pPr>
            <a:r>
              <a:t>○  性能 Benchmark 与工具对比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83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41908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DDFF"/>
                </a:solidFill>
                <a:latin typeface="Microsoft YaHei"/>
              </a:defRPr>
            </a:pPr>
            <a:r>
              <a:t>github.com/zf-li23/SubCellSpace  ·  263 commits  ·  ~15K lines of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