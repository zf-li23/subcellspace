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77" r:id="rId4"/>
    <p:sldId id="268" r:id="rId5"/>
    <p:sldId id="281" r:id="rId6"/>
    <p:sldId id="280" r:id="rId7"/>
    <p:sldId id="282" r:id="rId8"/>
    <p:sldId id="283" r:id="rId9"/>
    <p:sldId id="269" r:id="rId10"/>
    <p:sldId id="270" r:id="rId11"/>
    <p:sldId id="271" r:id="rId12"/>
    <p:sldId id="272" r:id="rId13"/>
    <p:sldId id="273" r:id="rId14"/>
    <p:sldId id="274" r:id="rId15"/>
    <p:sldId id="284" r:id="rId16"/>
    <p:sldId id="285" r:id="rId17"/>
    <p:sldId id="286" r:id="rId18"/>
    <p:sldId id="278" r:id="rId19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9" Type="http://schemas.openxmlformats.org/officeDocument/2006/relationships/slideLayout" Target="../slideLayouts/slideLayout7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1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20.png"/><Relationship Id="rId3" Type="http://schemas.openxmlformats.org/officeDocument/2006/relationships/tags" Target="../tags/tag20.xml"/><Relationship Id="rId2" Type="http://schemas.openxmlformats.org/officeDocument/2006/relationships/image" Target="../media/image19.png"/><Relationship Id="rId1" Type="http://schemas.openxmlformats.org/officeDocument/2006/relationships/tags" Target="../tags/tag1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54864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SubCellSpace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4685"/>
            <a:ext cx="100584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BBDDFF"/>
                </a:solidFill>
                <a:latin typeface="微软雅黑" panose="020B0503020204020204" charset="-122"/>
              </a:defRPr>
            </a:pPr>
            <a:r>
              <a:rPr lang="zh-CN" altLang="en-US"/>
              <a:t>基于</a:t>
            </a:r>
            <a:r>
              <a:rPr lang="en-US"/>
              <a:t>GEO&amp;</a:t>
            </a:r>
            <a:r>
              <a:rPr>
                <a:sym typeface="+mn-ea"/>
              </a:rPr>
              <a:t>scverse</a:t>
            </a:r>
            <a:r>
              <a:rPr lang="zh-CN">
                <a:sym typeface="+mn-ea"/>
              </a:rPr>
              <a:t>的</a:t>
            </a:r>
            <a:r>
              <a:rPr>
                <a:sym typeface="+mn-ea"/>
              </a:rPr>
              <a:t>亚细胞空间转录组学</a:t>
            </a:r>
            <a:r>
              <a:rPr lang="zh-CN">
                <a:sym typeface="+mn-ea"/>
              </a:rPr>
              <a:t>数据库与</a:t>
            </a:r>
            <a:r>
              <a:rPr>
                <a:sym typeface="+mn-ea"/>
              </a:rPr>
              <a:t>分析平台</a:t>
            </a:r>
            <a:endParaRPr>
              <a:sym typeface="+mn-ea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2976880"/>
            <a:ext cx="100584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8BBDD"/>
                </a:solidFill>
                <a:latin typeface="微软雅黑" panose="020B0503020204020204" charset="-122"/>
              </a:defRPr>
            </a:pPr>
            <a:r>
              <a:t>支持 CosMx / Xenium / MERFISH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100584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4C6E"/>
                </a:solidFill>
                <a:latin typeface="微软雅黑" panose="020B0503020204020204" charset="-122"/>
              </a:defRPr>
            </a:pPr>
            <a:r>
              <a:t>李哲夫 · 清华大学 生命科学学院</a:t>
            </a:r>
            <a:r>
              <a:rPr lang="en-US"/>
              <a:t> </a:t>
            </a:r>
            <a:r>
              <a:rPr lang="zh-CN" altLang="en-US"/>
              <a:t>生</a:t>
            </a:r>
            <a:r>
              <a:rPr lang="en-US" altLang="zh-CN"/>
              <a:t>32 2023011400</a:t>
            </a:r>
            <a:endParaRPr lang="en-US" altLang="zh-CN"/>
          </a:p>
        </p:txBody>
      </p:sp>
      <p:sp>
        <p:nvSpPr>
          <p:cNvPr id="8" name="TextBox 7"/>
          <p:cNvSpPr txBox="1"/>
          <p:nvPr/>
        </p:nvSpPr>
        <p:spPr>
          <a:xfrm>
            <a:off x="73152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C7886"/>
                </a:solidFill>
                <a:latin typeface="微软雅黑" panose="020B0503020204020204" charset="-122"/>
              </a:defRPr>
            </a:pPr>
            <a:r>
              <a:t>github.com/zf-li23/SubCellSpace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05840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C7886"/>
                </a:solidFill>
                <a:latin typeface="微软雅黑" panose="020B0503020204020204" charset="-122"/>
              </a:defRPr>
            </a:pPr>
            <a:r>
              <a:rPr lang="zh-CN"/>
              <a:t>指导老师：杨雪瑞</a:t>
            </a:r>
            <a:endParaRPr 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汇报提纲</a:t>
            </a:r>
          </a:p>
        </p:txBody>
      </p:sp>
      <p:sp>
        <p:nvSpPr>
          <p:cNvPr id="4" name="Rectangle 3"/>
          <p:cNvSpPr/>
          <p:nvPr>
            <p:custDataLst>
              <p:tags r:id="rId1"/>
            </p:custDataLst>
          </p:nvPr>
        </p:nvSpPr>
        <p:spPr>
          <a:xfrm>
            <a:off x="1371600" y="1371600"/>
            <a:ext cx="548640" cy="54864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>
            <p:custDataLst>
              <p:tags r:id="rId2"/>
            </p:custDataLst>
          </p:nvPr>
        </p:nvSpPr>
        <p:spPr>
          <a:xfrm>
            <a:off x="1417320" y="14447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>
            <p:custDataLst>
              <p:tags r:id="rId3"/>
            </p:custDataLst>
          </p:nvPr>
        </p:nvSpPr>
        <p:spPr>
          <a:xfrm>
            <a:off x="2194560" y="14630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项目背景与动机</a:t>
            </a:r>
          </a:p>
        </p:txBody>
      </p:sp>
      <p:sp>
        <p:nvSpPr>
          <p:cNvPr id="7" name="Rectangle 6"/>
          <p:cNvSpPr/>
          <p:nvPr>
            <p:custDataLst>
              <p:tags r:id="rId4"/>
            </p:custDataLst>
          </p:nvPr>
        </p:nvSpPr>
        <p:spPr>
          <a:xfrm>
            <a:off x="1371600" y="2194560"/>
            <a:ext cx="548640" cy="5486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1417320" y="226771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>
            <p:custDataLst>
              <p:tags r:id="rId6"/>
            </p:custDataLst>
          </p:nvPr>
        </p:nvSpPr>
        <p:spPr>
          <a:xfrm>
            <a:off x="2194560" y="2286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平台架构与 Pipeline</a:t>
            </a:r>
          </a:p>
        </p:txBody>
      </p:sp>
      <p:sp>
        <p:nvSpPr>
          <p:cNvPr id="10" name="Rectangle 9"/>
          <p:cNvSpPr/>
          <p:nvPr>
            <p:custDataLst>
              <p:tags r:id="rId7"/>
            </p:custDataLst>
          </p:nvPr>
        </p:nvSpPr>
        <p:spPr>
          <a:xfrm>
            <a:off x="1371600" y="3017520"/>
            <a:ext cx="548640" cy="54864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1417320" y="309067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2194560" y="31089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数据库建设成果</a:t>
            </a:r>
          </a:p>
        </p:txBody>
      </p:sp>
      <p:sp>
        <p:nvSpPr>
          <p:cNvPr id="13" name="Rectangle 12"/>
          <p:cNvSpPr/>
          <p:nvPr>
            <p:custDataLst>
              <p:tags r:id="rId10"/>
            </p:custDataLst>
          </p:nvPr>
        </p:nvSpPr>
        <p:spPr>
          <a:xfrm>
            <a:off x="1371600" y="3840480"/>
            <a:ext cx="548640" cy="5486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>
            <p:custDataLst>
              <p:tags r:id="rId11"/>
            </p:custDataLst>
          </p:nvPr>
        </p:nvSpPr>
        <p:spPr>
          <a:xfrm>
            <a:off x="1417320" y="39136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>
            <p:custDataLst>
              <p:tags r:id="rId12"/>
            </p:custDataLst>
          </p:nvPr>
        </p:nvSpPr>
        <p:spPr>
          <a:xfrm>
            <a:off x="2194560" y="39319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数据质量与生物学覆盖</a:t>
            </a:r>
          </a:p>
        </p:txBody>
      </p:sp>
      <p:sp>
        <p:nvSpPr>
          <p:cNvPr id="16" name="Rectangle 15"/>
          <p:cNvSpPr/>
          <p:nvPr>
            <p:custDataLst>
              <p:tags r:id="rId13"/>
            </p:custDataLst>
          </p:nvPr>
        </p:nvSpPr>
        <p:spPr>
          <a:xfrm>
            <a:off x="1371600" y="4663440"/>
            <a:ext cx="548640" cy="54864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>
            <p:custDataLst>
              <p:tags r:id="rId14"/>
            </p:custDataLst>
          </p:nvPr>
        </p:nvSpPr>
        <p:spPr>
          <a:xfrm>
            <a:off x="1417320" y="473659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>
            <p:custDataLst>
              <p:tags r:id="rId15"/>
            </p:custDataLst>
          </p:nvPr>
        </p:nvSpPr>
        <p:spPr>
          <a:xfrm>
            <a:off x="2194560" y="47548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案例验证</a:t>
            </a:r>
          </a:p>
        </p:txBody>
      </p:sp>
      <p:sp>
        <p:nvSpPr>
          <p:cNvPr id="19" name="Rectangle 18"/>
          <p:cNvSpPr/>
          <p:nvPr>
            <p:custDataLst>
              <p:tags r:id="rId16"/>
            </p:custDataLst>
          </p:nvPr>
        </p:nvSpPr>
        <p:spPr>
          <a:xfrm>
            <a:off x="1371600" y="5486400"/>
            <a:ext cx="548640" cy="5486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>
            <p:custDataLst>
              <p:tags r:id="rId17"/>
            </p:custDataLst>
          </p:nvPr>
        </p:nvSpPr>
        <p:spPr>
          <a:xfrm>
            <a:off x="1417320" y="55595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>
            <p:custDataLst>
              <p:tags r:id="rId18"/>
            </p:custDataLst>
          </p:nvPr>
        </p:nvSpPr>
        <p:spPr>
          <a:xfrm>
            <a:off x="2194560" y="55778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项目背景与动机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78245"/>
            <a:ext cx="1078992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7886"/>
                </a:solidFill>
                <a:latin typeface="微软雅黑" panose="020B0503020204020204" charset="-122"/>
              </a:defRPr>
            </a:pPr>
            <a:r>
              <a:rPr lang="en-US" altLang="zh-CN"/>
              <a:t>Rao, A., Barkley, D., Fran</a:t>
            </a:r>
            <a:r>
              <a:rPr lang="en-US" altLang="en-US"/>
              <a:t>ç</a:t>
            </a:r>
            <a:r>
              <a:rPr lang="en-US" altLang="zh-CN"/>
              <a:t>a, G. S., &amp; Yanai, I. (2021). Exploring tissue architecture using spatial transcriptomics. </a:t>
            </a:r>
            <a:r>
              <a:rPr lang="en-US" altLang="zh-CN" i="1"/>
              <a:t>Nature</a:t>
            </a:r>
            <a:r>
              <a:rPr lang="en-US" altLang="zh-CN"/>
              <a:t>, 596(7871), 211–220.</a:t>
            </a:r>
            <a:endParaRPr lang="en-US" altLang="zh-CN"/>
          </a:p>
        </p:txBody>
      </p:sp>
      <p:pic>
        <p:nvPicPr>
          <p:cNvPr id="19" name="图片 18" descr="41586_2021_3634_Fig1_HTML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7420" y="1214120"/>
            <a:ext cx="10296525" cy="44291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项目背景与动机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3540" y="1266825"/>
            <a:ext cx="11424285" cy="4856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项目背景与动机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78245"/>
            <a:ext cx="1078992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7886"/>
                </a:solidFill>
                <a:latin typeface="微软雅黑" panose="020B0503020204020204" charset="-122"/>
              </a:defRPr>
            </a:pPr>
            <a:r>
              <a:rPr lang="en-US" altLang="zh-CN"/>
              <a:t>Fan, Z., Chen, R., &amp; Chen, X. (2020). SpatialDB: a database for spatially resolved transcriptomes. </a:t>
            </a:r>
            <a:r>
              <a:rPr lang="en-US" altLang="zh-CN" i="1"/>
              <a:t>Nucleic acids research</a:t>
            </a:r>
            <a:r>
              <a:rPr lang="en-US" altLang="zh-CN"/>
              <a:t>, 48(D1), D233–D237.</a:t>
            </a:r>
            <a:endParaRPr lang="en-US" altLang="zh-CN"/>
          </a:p>
          <a:p>
            <a:pPr algn="l">
              <a:defRPr sz="1100" b="0">
                <a:solidFill>
                  <a:srgbClr val="5C7886"/>
                </a:solidFill>
                <a:latin typeface="微软雅黑" panose="020B0503020204020204" charset="-122"/>
              </a:defRPr>
            </a:pPr>
            <a:r>
              <a:rPr lang="en-US" altLang="zh-CN"/>
              <a:t>Wang, G. et al. (2024). CROST: a comprehensive repository of spatial transcriptomics. </a:t>
            </a:r>
            <a:r>
              <a:rPr lang="en-US" altLang="zh-CN" i="1"/>
              <a:t>Nucleic acids research</a:t>
            </a:r>
            <a:r>
              <a:rPr lang="en-US" altLang="zh-CN"/>
              <a:t>, 52(D1), D882–D890.</a:t>
            </a:r>
            <a:endParaRPr lang="en-US" altLang="zh-CN"/>
          </a:p>
        </p:txBody>
      </p:sp>
      <p:pic>
        <p:nvPicPr>
          <p:cNvPr id="4" name="图片 3"/>
          <p:cNvPicPr/>
          <p:nvPr/>
        </p:nvPicPr>
        <p:blipFill>
          <a:blip r:embed="rId1"/>
          <a:stretch>
            <a:fillRect/>
          </a:stretch>
        </p:blipFill>
        <p:spPr>
          <a:xfrm>
            <a:off x="231775" y="1064895"/>
            <a:ext cx="5499100" cy="5169535"/>
          </a:xfrm>
          <a:prstGeom prst="rect">
            <a:avLst/>
          </a:prstGeom>
        </p:spPr>
      </p:pic>
      <p:pic>
        <p:nvPicPr>
          <p:cNvPr id="5" name="图片 4"/>
          <p:cNvPicPr/>
          <p:nvPr/>
        </p:nvPicPr>
        <p:blipFill>
          <a:blip r:embed="rId2"/>
          <a:stretch>
            <a:fillRect/>
          </a:stretch>
        </p:blipFill>
        <p:spPr>
          <a:xfrm>
            <a:off x="5810250" y="1043305"/>
            <a:ext cx="6351905" cy="51060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项目背景与动机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78245"/>
            <a:ext cx="1078992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•  Yang</a:t>
            </a:r>
            <a:r>
              <a:rPr lang="en-US">
                <a:sym typeface="+mn-ea"/>
              </a:rPr>
              <a:t> et al</a:t>
            </a:r>
            <a:r>
              <a:rPr>
                <a:sym typeface="+mn-ea"/>
              </a:rPr>
              <a:t>. Dissection of context-dependent RNA colocalization landscapes from subcellular spatial transcriptomics data. Research Square (preprint), 2025</a:t>
            </a:r>
            <a:endParaRPr lang="en-US" altLang="zh-CN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rcRect b="53769"/>
          <a:stretch>
            <a:fillRect/>
          </a:stretch>
        </p:blipFill>
        <p:spPr>
          <a:xfrm>
            <a:off x="1106805" y="1028065"/>
            <a:ext cx="9673590" cy="525081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项目背景与动机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78245"/>
            <a:ext cx="1078992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7886"/>
                </a:solidFill>
                <a:latin typeface="微软雅黑" panose="020B0503020204020204" charset="-122"/>
              </a:defRPr>
            </a:pPr>
            <a:r>
              <a:rPr lang="en-US" altLang="zh-CN"/>
              <a:t>Blampey, Q.</a:t>
            </a:r>
            <a:r>
              <a:rPr lang="en-US" altLang="zh-CN">
                <a:sym typeface="+mn-ea"/>
              </a:rPr>
              <a:t> et al.</a:t>
            </a:r>
            <a:r>
              <a:rPr lang="en-US" altLang="zh-CN">
                <a:sym typeface="+mn-ea"/>
              </a:rPr>
              <a:t> </a:t>
            </a:r>
            <a:r>
              <a:rPr lang="en-US" altLang="zh-CN"/>
              <a:t>(2024). Sopa: a technology-invariant pipeline for analyses of image-based spatial omics. Nature communications, 15(1), 4981. </a:t>
            </a:r>
            <a:endParaRPr lang="en-US" altLang="zh-CN"/>
          </a:p>
        </p:txBody>
      </p:sp>
      <p:pic>
        <p:nvPicPr>
          <p:cNvPr id="4" name="图片 3" descr="41467_2024_48981_Fig1_HTML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215" y="1016635"/>
            <a:ext cx="7430770" cy="53117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平台架构与 Pipeline</a:t>
            </a:r>
          </a:p>
        </p:txBody>
      </p:sp>
      <p:pic>
        <p:nvPicPr>
          <p:cNvPr id="4" name="Picture 3" descr="fig4_pipelin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983615"/>
            <a:ext cx="8686800" cy="54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C7886"/>
                </a:solidFill>
                <a:latin typeface="微软雅黑" panose="020B0503020204020204" charset="-122"/>
              </a:defRPr>
            </a:pPr>
            <a:r>
              <a:t>上：7 步数据平台（GEO 下载 → 元数据 → LLM 注释 → Touch → Stats → 前端 → 报告）</a:t>
            </a:r>
            <a:br/>
            <a:r>
              <a:t>下：7 步 scverse-native 分析管线（降噪 → 分割 → 注释 → 空间 → 亚细胞）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数据库建设成果</a:t>
            </a:r>
          </a:p>
        </p:txBody>
      </p:sp>
      <p:pic>
        <p:nvPicPr>
          <p:cNvPr id="4" name="Picture 3" descr="fig1A_platform_coun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3474720" cy="2391314"/>
          </a:xfrm>
          <a:prstGeom prst="rect">
            <a:avLst/>
          </a:prstGeom>
        </p:spPr>
      </p:pic>
      <p:pic>
        <p:nvPicPr>
          <p:cNvPr id="5" name="Picture 4" descr="fig1C_gse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097280"/>
            <a:ext cx="3474720" cy="2482415"/>
          </a:xfrm>
          <a:prstGeom prst="rect">
            <a:avLst/>
          </a:prstGeom>
        </p:spPr>
      </p:pic>
      <p:pic>
        <p:nvPicPr>
          <p:cNvPr id="6" name="Picture 5" descr="fig1B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097280"/>
            <a:ext cx="4389120" cy="244238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微软雅黑" panose="020B0503020204020204" charset="-122"/>
              </a:defRPr>
            </a:pPr>
            <a:r>
              <a:t>4,478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微软雅黑" panose="020B0503020204020204" charset="-122"/>
              </a:defRPr>
            </a:pPr>
            <a:r>
              <a:t>GEO 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微软雅黑" panose="020B0503020204020204" charset="-122"/>
              </a:defRPr>
            </a:pPr>
            <a:r>
              <a:t>269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微软雅黑" panose="020B0503020204020204" charset="-122"/>
              </a:defRPr>
            </a:pPr>
            <a:r>
              <a:t>GSE 系列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微软雅黑" panose="020B0503020204020204" charset="-122"/>
              </a:defRPr>
            </a:pPr>
            <a:r>
              <a:t>3 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5212080"/>
            <a:ext cx="256032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微软雅黑" panose="020B0503020204020204" charset="-122"/>
              </a:defRPr>
            </a:pPr>
            <a:r>
              <a:rPr sz="1400"/>
              <a:t>CosMx/Xenium/MERFISH</a:t>
            </a:r>
            <a:endParaRPr sz="1400"/>
          </a:p>
        </p:txBody>
      </p:sp>
      <p:sp>
        <p:nvSpPr>
          <p:cNvPr id="19" name="Rectangle 18"/>
          <p:cNvSpPr/>
          <p:nvPr/>
        </p:nvSpPr>
        <p:spPr>
          <a:xfrm>
            <a:off x="923544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微软雅黑" panose="020B0503020204020204" charset="-122"/>
              </a:defRPr>
            </a:pPr>
            <a:r>
              <a:t>~15 TB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微软雅黑" panose="020B0503020204020204" charset="-122"/>
              </a:defRPr>
            </a:pPr>
            <a:r>
              <a:t>集群数据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7886"/>
                </a:solidFill>
                <a:latin typeface="微软雅黑" panose="020B0503020204020204" charset="-122"/>
              </a:defRPr>
            </a:pPr>
            <a:r>
              <a:t>左：三平台数据集规模 · 中：GSE 系列数 · 右：数据库增长趋势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数据质量与完整度</a:t>
            </a:r>
          </a:p>
        </p:txBody>
      </p:sp>
      <p:pic>
        <p:nvPicPr>
          <p:cNvPr id="14" name="Picture 3" descr="fig2A_file_cover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348740"/>
            <a:ext cx="5669280" cy="2695465"/>
          </a:xfrm>
          <a:prstGeom prst="rect">
            <a:avLst/>
          </a:prstGeom>
        </p:spPr>
      </p:pic>
      <p:pic>
        <p:nvPicPr>
          <p:cNvPr id="15" name="Picture 4" descr="fig1D_stat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8510" y="1348740"/>
            <a:ext cx="3834266" cy="2743200"/>
          </a:xfrm>
          <a:prstGeom prst="rect">
            <a:avLst/>
          </a:prstGeom>
        </p:spPr>
      </p:pic>
      <p:sp>
        <p:nvSpPr>
          <p:cNvPr id="16" name="TextBox 6"/>
          <p:cNvSpPr txBox="1"/>
          <p:nvPr/>
        </p:nvSpPr>
        <p:spPr>
          <a:xfrm>
            <a:off x="182880" y="41833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8384D"/>
                </a:solidFill>
                <a:latin typeface="微软雅黑" panose="020B0503020204020204" charset="-122"/>
              </a:defRPr>
            </a:pPr>
            <a:r>
              <a:t>文件覆盖率热图</a:t>
            </a:r>
          </a:p>
        </p:txBody>
      </p:sp>
      <p:sp>
        <p:nvSpPr>
          <p:cNvPr id="17" name="TextBox 7"/>
          <p:cNvSpPr txBox="1"/>
          <p:nvPr/>
        </p:nvSpPr>
        <p:spPr>
          <a:xfrm>
            <a:off x="6400800" y="41833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8384D"/>
                </a:solidFill>
                <a:latin typeface="微软雅黑" panose="020B0503020204020204" charset="-122"/>
              </a:defRPr>
            </a:pPr>
            <a:r>
              <a:t>统计覆盖度（Ready 数据集中有值的比例）</a:t>
            </a:r>
          </a:p>
        </p:txBody>
      </p:sp>
      <p:sp>
        <p:nvSpPr>
          <p:cNvPr id="18" name="Rectangle 8"/>
          <p:cNvSpPr/>
          <p:nvPr/>
        </p:nvSpPr>
        <p:spPr>
          <a:xfrm>
            <a:off x="182880" y="4966335"/>
            <a:ext cx="11795760" cy="128016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9"/>
          <p:cNvSpPr/>
          <p:nvPr/>
        </p:nvSpPr>
        <p:spPr>
          <a:xfrm>
            <a:off x="182880" y="4966335"/>
            <a:ext cx="54864" cy="128016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0"/>
          <p:cNvSpPr txBox="1"/>
          <p:nvPr/>
        </p:nvSpPr>
        <p:spPr>
          <a:xfrm>
            <a:off x="365760" y="5057775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▸  CosMx 文件最完整：Polygons + Expr Matrix + Cell Metadata + FOV Positions 均 &gt;90%</a:t>
            </a:r>
          </a:p>
        </p:txBody>
      </p:sp>
      <p:sp>
        <p:nvSpPr>
          <p:cNvPr id="21" name="TextBox 11"/>
          <p:cNvSpPr txBox="1"/>
          <p:nvPr/>
        </p:nvSpPr>
        <p:spPr>
          <a:xfrm>
            <a:off x="365760" y="5377815"/>
            <a:ext cx="114300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▸  Xenium 特有 Cell/Nucleus Boundary 文件，但统计覆盖仅 38%（</a:t>
            </a:r>
            <a:r>
              <a:rPr lang="zh-CN"/>
              <a:t>仍需逐个解压</a:t>
            </a:r>
            <a:r>
              <a:t>）</a:t>
            </a:r>
          </a:p>
        </p:txBody>
      </p:sp>
      <p:sp>
        <p:nvSpPr>
          <p:cNvPr id="22" name="TextBox 12"/>
          <p:cNvSpPr txBox="1"/>
          <p:nvPr/>
        </p:nvSpPr>
        <p:spPr>
          <a:xfrm>
            <a:off x="365760" y="5697855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▸  MERFISH 基础文件完备，统计覆盖 73%，缺少 Gene Panel 元数据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跨平台统计量分布</a:t>
            </a:r>
          </a:p>
        </p:txBody>
      </p:sp>
      <p:pic>
        <p:nvPicPr>
          <p:cNvPr id="4" name="Picture 3" descr="fig2C_transcripts_violi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3657600" cy="2615061"/>
          </a:xfrm>
          <a:prstGeom prst="rect">
            <a:avLst/>
          </a:prstGeom>
        </p:spPr>
      </p:pic>
      <p:pic>
        <p:nvPicPr>
          <p:cNvPr id="5" name="Picture 4" descr="fig2D_cells_viol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097280"/>
            <a:ext cx="3657600" cy="2615061"/>
          </a:xfrm>
          <a:prstGeom prst="rect">
            <a:avLst/>
          </a:prstGeom>
        </p:spPr>
      </p:pic>
      <p:pic>
        <p:nvPicPr>
          <p:cNvPr id="6" name="Picture 5" descr="fig2E_genes_viol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097280"/>
            <a:ext cx="3657600" cy="26150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39319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微软雅黑" panose="020B0503020204020204" charset="-122"/>
              </a:defRPr>
            </a:pPr>
            <a:r>
              <a:t>log10(转录本数/数据集)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9319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微软雅黑" panose="020B0503020204020204" charset="-122"/>
              </a:defRPr>
            </a:pPr>
            <a:r>
              <a:t>log10(细胞数/数据集)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39319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微软雅黑" panose="020B0503020204020204" charset="-122"/>
              </a:defRPr>
            </a:pPr>
            <a:r>
              <a:t>log10(基因数/数据集)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72000"/>
            <a:ext cx="11247120" cy="16459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572000"/>
            <a:ext cx="11247120" cy="54864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548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📌  Xenium 数据集最多（1,525），但中位细胞数低于 CosMx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📌  CosMx 质量最高，统计覆盖 99%，中位转录本 ~5M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692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📌  MERFISH 单数据集最大（~32M tx, 550K cells），但总数较少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生物学覆盖</a:t>
            </a:r>
          </a:p>
        </p:txBody>
      </p:sp>
      <p:pic>
        <p:nvPicPr>
          <p:cNvPr id="4" name="Picture 3" descr="fig3A_tissu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97280"/>
            <a:ext cx="3657600" cy="2514695"/>
          </a:xfrm>
          <a:prstGeom prst="rect">
            <a:avLst/>
          </a:prstGeom>
        </p:spPr>
      </p:pic>
      <p:pic>
        <p:nvPicPr>
          <p:cNvPr id="5" name="Picture 4" descr="fig3B_dise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097280"/>
            <a:ext cx="3657600" cy="2500093"/>
          </a:xfrm>
          <a:prstGeom prst="rect">
            <a:avLst/>
          </a:prstGeom>
        </p:spPr>
      </p:pic>
      <p:pic>
        <p:nvPicPr>
          <p:cNvPr id="6" name="Picture 5" descr="fig3C_platform_tiss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0"/>
            <a:ext cx="3553829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39319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微软雅黑" panose="020B0503020204020204" charset="-122"/>
              </a:defRPr>
            </a:pPr>
            <a:r>
              <a:t>组织类型 Top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39319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微软雅黑" panose="020B0503020204020204" charset="-122"/>
              </a:defRPr>
            </a:pPr>
            <a:r>
              <a:t>疾病状态 Top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572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微软雅黑" panose="020B0503020204020204" charset="-122"/>
              </a:defRPr>
            </a:pPr>
            <a:r>
              <a:t>平台×组织覆盖矩阵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72000"/>
            <a:ext cx="11247120" cy="16459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572000"/>
            <a:ext cx="1124712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548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🧬  2 个物种：Homo sapiens（~66%）/ Mus musculus（~42%）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🧫  30+ 组织类型：脑、肾脏、肿瘤、结肠等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692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📋  涵盖疾病：癌症、纤维化、炎症、神经退行性疾病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案例验证：GSE263791 AD 小鼠脑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C7886"/>
                </a:solidFill>
                <a:latin typeface="微软雅黑" panose="020B0503020204020204" charset="-122"/>
              </a:defRPr>
            </a:pPr>
            <a:r>
              <a:t>阿尔茨海默病小鼠脑 · CosMx · 2.4M tx · 8,726 cells · 999 genes · 30 min 全流程</a:t>
            </a: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74320" y="1139190"/>
            <a:ext cx="5614670" cy="499935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100128" y="1148398"/>
            <a:ext cx="5603875" cy="49898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案例验证：GSE263791 AD 小鼠脑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C7886"/>
                </a:solidFill>
                <a:latin typeface="微软雅黑" panose="020B0503020204020204" charset="-122"/>
              </a:defRPr>
            </a:pPr>
            <a:r>
              <a:t>阿尔茨海默病小鼠脑 · CosMx · 2.4M tx · 8,726 cells · 999 genes · 30 min 全流程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48715"/>
            <a:ext cx="5603875" cy="498983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1715" y="1148715"/>
            <a:ext cx="5602605" cy="49891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总结与展望</a:t>
            </a:r>
          </a:p>
        </p:txBody>
      </p:sp>
      <p:pic>
        <p:nvPicPr>
          <p:cNvPr id="4" name="Picture 3" descr="fig7_concep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068705"/>
            <a:ext cx="5392420" cy="523811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5760" y="1188720"/>
            <a:ext cx="5486400" cy="2376805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6200" cy="2376805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7AE60"/>
                </a:solidFill>
                <a:latin typeface="微软雅黑" panose="020B0503020204020204" charset="-122"/>
              </a:defRPr>
            </a:pPr>
            <a:r>
              <a:t>已完成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1645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✓  scverse-native 6 步统一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88845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✓  三平台摄入 + GEO 数据库 (4,478 条)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46045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✓  Touch 完整性 + 统计流式处理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3245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✓  React 前端 + 全套论文图表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94760"/>
            <a:ext cx="5486400" cy="2376805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794760"/>
            <a:ext cx="76200" cy="2376805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886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67E22"/>
                </a:solidFill>
                <a:latin typeface="微软雅黑" panose="020B0503020204020204" charset="-122"/>
              </a:defRPr>
            </a:pPr>
            <a:r>
              <a:t>进行中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60545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○  1,761 个 CosMx pending 数据下载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17745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○  Xenium 统计覆盖提升 (当前 38%)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274945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○  MERFISH 异构数据格式处理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732145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○  Docker + 性能 Benchmark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1908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DDFF"/>
                </a:solidFill>
                <a:latin typeface="微软雅黑" panose="020B0503020204020204" charset="-122"/>
              </a:defRPr>
            </a:pPr>
            <a:r>
              <a:t>github.com/zf-li23/SubCellSpace  ·  263 commits  ·  ~25 万行累计代码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致谢 Acknowledgements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486400" cy="448310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76200" cy="448310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7886"/>
                </a:solidFill>
                <a:latin typeface="微软雅黑" panose="020B0503020204020204" charset="-122"/>
              </a:defRPr>
            </a:pPr>
            <a:r>
              <a:t>课题组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杨雪瑞实验室（Yang Lab）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7886"/>
                </a:solidFill>
                <a:latin typeface="微软雅黑" panose="020B0503020204020204" charset="-122"/>
              </a:defRPr>
            </a:pPr>
            <a:r>
              <a:t>指导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博士生 陈旭 · 博士后 李润泽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7886"/>
                </a:solidFill>
                <a:latin typeface="微软雅黑" panose="020B0503020204020204" charset="-122"/>
              </a:defRPr>
            </a:pPr>
            <a:r>
              <a:t>协作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博士生 曾圆袁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7886"/>
                </a:solidFill>
                <a:latin typeface="微软雅黑" panose="020B0503020204020204" charset="-122"/>
              </a:defRPr>
            </a:pPr>
            <a:r>
              <a:t>项目来源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清华学堂生命科学实验班 · 科研训练课程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754880"/>
            <a:ext cx="5486400" cy="54864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0292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8384D"/>
                </a:solidFill>
                <a:latin typeface="微软雅黑" panose="020B0503020204020204" charset="-122"/>
              </a:defRPr>
            </a:pPr>
            <a:r>
              <a:t>Thanks for listening! 🙏</a:t>
            </a: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52820" y="1280160"/>
            <a:ext cx="5979795" cy="44831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参考文献与参考项目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161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分析工具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•  Palla et al., Squidpy: a scalable framework for spatial omics analysis. Nature Methods, 2022.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568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•  Marconato et al., SpatialData: an open and universal data framework for spatial omics. Nature Methods, 2024.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67712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•  Dries et al., Giotto: a toolbox for integrative analysis and visualization of spatial expression data. Genome Biology, 2021.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7860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•  Stringer et al., Cellpose: a generalist algorithm for cellular segmentation. Nature Methods, 2021.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89504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•  Petukhov et al., Baysor: cell segmentation in imaging-based spatial transcriptomics. Nature Biotechnology, 2022.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337560"/>
            <a:ext cx="11247120" cy="36576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6499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数据库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•  Fan et al., SpatialDB: a database for spatially resolved transcriptomes. Nucleic Acids Research, 2021.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0565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•  Wang et al., CROST: a comprehensive resource of spatial transcriptomics. Nucleic Acids Research, 2024.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16552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•  SOuND: Spatial Omics UNderstanding Database. Nucleic Acids Research, 2025.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7274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•  Han et al., TISCH2: Tumor Immune Single-cell Hub 2. Nucleic Acids Research, 2023.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75504"/>
            <a:ext cx="11247120" cy="36576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202936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本课题组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32704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6323F"/>
                </a:solidFill>
                <a:latin typeface="微软雅黑" panose="020B0503020204020204" charset="-122"/>
              </a:defRPr>
            </a:pPr>
            <a:r>
              <a:t>•  Yang, Chen, Li, Zeng. Dissection of context-dependent RNA colocalization landscapes from subcellular spatial transcriptomics data. Research Square (preprint), 2025. doi:10.21203/rs.3.rs-7463836/v1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67.2,&quot;left&quot;:108,&quot;top&quot;:108,&quot;width&quot;:640.8}"/>
</p:tagLst>
</file>

<file path=ppt/tags/tag2.xml><?xml version="1.0" encoding="utf-8"?>
<p:tagLst xmlns:p="http://schemas.openxmlformats.org/presentationml/2006/main">
  <p:tag name="KSO_WM_DIAGRAM_VIRTUALLY_FRAME" val="{&quot;height&quot;:367.2,&quot;left&quot;:108,&quot;top&quot;:108,&quot;width&quot;:640.8}"/>
</p:tagLst>
</file>

<file path=ppt/tags/tag3.xml><?xml version="1.0" encoding="utf-8"?>
<p:tagLst xmlns:p="http://schemas.openxmlformats.org/presentationml/2006/main">
  <p:tag name="KSO_WM_DIAGRAM_VIRTUALLY_FRAME" val="{&quot;height&quot;:367.2,&quot;left&quot;:108,&quot;top&quot;:108,&quot;width&quot;:640.8}"/>
</p:tagLst>
</file>

<file path=ppt/tags/tag4.xml><?xml version="1.0" encoding="utf-8"?>
<p:tagLst xmlns:p="http://schemas.openxmlformats.org/presentationml/2006/main">
  <p:tag name="KSO_WM_DIAGRAM_VIRTUALLY_FRAME" val="{&quot;height&quot;:367.2,&quot;left&quot;:108,&quot;top&quot;:108,&quot;width&quot;:640.8}"/>
</p:tagLst>
</file>

<file path=ppt/tags/tag5.xml><?xml version="1.0" encoding="utf-8"?>
<p:tagLst xmlns:p="http://schemas.openxmlformats.org/presentationml/2006/main">
  <p:tag name="KSO_WM_DIAGRAM_VIRTUALLY_FRAME" val="{&quot;height&quot;:367.2,&quot;left&quot;:108,&quot;top&quot;:108,&quot;width&quot;:640.8}"/>
</p:tagLst>
</file>

<file path=ppt/tags/tag6.xml><?xml version="1.0" encoding="utf-8"?>
<p:tagLst xmlns:p="http://schemas.openxmlformats.org/presentationml/2006/main">
  <p:tag name="KSO_WM_DIAGRAM_VIRTUALLY_FRAME" val="{&quot;height&quot;:367.2,&quot;left&quot;:108,&quot;top&quot;:108,&quot;width&quot;:640.8}"/>
</p:tagLst>
</file>

<file path=ppt/tags/tag7.xml><?xml version="1.0" encoding="utf-8"?>
<p:tagLst xmlns:p="http://schemas.openxmlformats.org/presentationml/2006/main">
  <p:tag name="KSO_WM_DIAGRAM_VIRTUALLY_FRAME" val="{&quot;height&quot;:367.2,&quot;left&quot;:108,&quot;top&quot;:108,&quot;width&quot;:640.8}"/>
</p:tagLst>
</file>

<file path=ppt/tags/tag8.xml><?xml version="1.0" encoding="utf-8"?>
<p:tagLst xmlns:p="http://schemas.openxmlformats.org/presentationml/2006/main">
  <p:tag name="KSO_WM_DIAGRAM_VIRTUALLY_FRAME" val="{&quot;height&quot;:367.2,&quot;left&quot;:108,&quot;top&quot;:108,&quot;width&quot;:640.8}"/>
</p:tagLst>
</file>

<file path=ppt/tags/tag9.xml><?xml version="1.0" encoding="utf-8"?>
<p:tagLst xmlns:p="http://schemas.openxmlformats.org/presentationml/2006/main">
  <p:tag name="KSO_WM_DIAGRAM_VIRTUALLY_FRAME" val="{&quot;height&quot;:367.2,&quot;left&quot;:108,&quot;top&quot;:108,&quot;width&quot;:640.8}"/>
</p:tagLst>
</file>

<file path=ppt/tags/tag10.xml><?xml version="1.0" encoding="utf-8"?>
<p:tagLst xmlns:p="http://schemas.openxmlformats.org/presentationml/2006/main">
  <p:tag name="KSO_WM_DIAGRAM_VIRTUALLY_FRAME" val="{&quot;height&quot;:367.2,&quot;left&quot;:108,&quot;top&quot;:108,&quot;width&quot;:640.8}"/>
</p:tagLst>
</file>

<file path=ppt/tags/tag11.xml><?xml version="1.0" encoding="utf-8"?>
<p:tagLst xmlns:p="http://schemas.openxmlformats.org/presentationml/2006/main">
  <p:tag name="KSO_WM_DIAGRAM_VIRTUALLY_FRAME" val="{&quot;height&quot;:367.2,&quot;left&quot;:108,&quot;top&quot;:108,&quot;width&quot;:640.8}"/>
</p:tagLst>
</file>

<file path=ppt/tags/tag12.xml><?xml version="1.0" encoding="utf-8"?>
<p:tagLst xmlns:p="http://schemas.openxmlformats.org/presentationml/2006/main">
  <p:tag name="KSO_WM_DIAGRAM_VIRTUALLY_FRAME" val="{&quot;height&quot;:367.2,&quot;left&quot;:108,&quot;top&quot;:108,&quot;width&quot;:640.8}"/>
</p:tagLst>
</file>

<file path=ppt/tags/tag13.xml><?xml version="1.0" encoding="utf-8"?>
<p:tagLst xmlns:p="http://schemas.openxmlformats.org/presentationml/2006/main">
  <p:tag name="KSO_WM_DIAGRAM_VIRTUALLY_FRAME" val="{&quot;height&quot;:367.2,&quot;left&quot;:108,&quot;top&quot;:108,&quot;width&quot;:640.8}"/>
</p:tagLst>
</file>

<file path=ppt/tags/tag14.xml><?xml version="1.0" encoding="utf-8"?>
<p:tagLst xmlns:p="http://schemas.openxmlformats.org/presentationml/2006/main">
  <p:tag name="KSO_WM_DIAGRAM_VIRTUALLY_FRAME" val="{&quot;height&quot;:367.2,&quot;left&quot;:108,&quot;top&quot;:108,&quot;width&quot;:640.8}"/>
</p:tagLst>
</file>

<file path=ppt/tags/tag15.xml><?xml version="1.0" encoding="utf-8"?>
<p:tagLst xmlns:p="http://schemas.openxmlformats.org/presentationml/2006/main">
  <p:tag name="KSO_WM_DIAGRAM_VIRTUALLY_FRAME" val="{&quot;height&quot;:367.2,&quot;left&quot;:108,&quot;top&quot;:108,&quot;width&quot;:640.8}"/>
</p:tagLst>
</file>

<file path=ppt/tags/tag16.xml><?xml version="1.0" encoding="utf-8"?>
<p:tagLst xmlns:p="http://schemas.openxmlformats.org/presentationml/2006/main">
  <p:tag name="KSO_WM_DIAGRAM_VIRTUALLY_FRAME" val="{&quot;height&quot;:367.2,&quot;left&quot;:108,&quot;top&quot;:108,&quot;width&quot;:640.8}"/>
</p:tagLst>
</file>

<file path=ppt/tags/tag17.xml><?xml version="1.0" encoding="utf-8"?>
<p:tagLst xmlns:p="http://schemas.openxmlformats.org/presentationml/2006/main">
  <p:tag name="KSO_WM_DIAGRAM_VIRTUALLY_FRAME" val="{&quot;height&quot;:367.2,&quot;left&quot;:108,&quot;top&quot;:108,&quot;width&quot;:640.8}"/>
</p:tagLst>
</file>

<file path=ppt/tags/tag18.xml><?xml version="1.0" encoding="utf-8"?>
<p:tagLst xmlns:p="http://schemas.openxmlformats.org/presentationml/2006/main">
  <p:tag name="KSO_WM_DIAGRAM_VIRTUALLY_FRAME" val="{&quot;height&quot;:367.2,&quot;left&quot;:108,&quot;top&quot;:108,&quot;width&quot;:640.8}"/>
</p:tagLst>
</file>

<file path=ppt/tags/tag19.xml><?xml version="1.0" encoding="utf-8"?>
<p:tagLst xmlns:p="http://schemas.openxmlformats.org/presentationml/2006/main">
  <p:tag name="KSO_WM_UNIT_PLACING_PICTURE_USER_VIEWPORT" val="{&quot;height&quot;:7873,&quot;width&quot;:8842}"/>
</p:tagLst>
</file>

<file path=ppt/tags/tag20.xml><?xml version="1.0" encoding="utf-8"?>
<p:tagLst xmlns:p="http://schemas.openxmlformats.org/presentationml/2006/main">
  <p:tag name="KSO_WM_UNIT_PLACING_PICTURE_USER_VIEWPORT" val="{&quot;height&quot;:7858,&quot;width&quot;:882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3377</Words>
  <Application>WPS 演示</Application>
  <PresentationFormat>On-screen Show (4:3)</PresentationFormat>
  <Paragraphs>201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5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李哲夫</cp:lastModifiedBy>
  <cp:revision>34</cp:revision>
  <dcterms:created xsi:type="dcterms:W3CDTF">2013-01-27T09:14:00Z</dcterms:created>
  <dcterms:modified xsi:type="dcterms:W3CDTF">2026-06-14T08:35:41Z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BC662783108F42E8A198E83795C94379_12</vt:lpwstr>
  </property>
  <property fmtid="{D5CDD505-2E9C-101B-9397-08002B2CF9AE}" pid="3" name="KSOProductBuildVer">
    <vt:lpwstr>2052-12.1.0.26375</vt:lpwstr>
  </property>
</Properties>
</file>