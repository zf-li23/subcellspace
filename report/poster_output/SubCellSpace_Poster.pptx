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400000" cy="432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400000" cy="3240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32000"/>
            <a:ext cx="32400000" cy="1440000"/>
          </a:xfrm>
          <a:prstGeom prst="rect">
            <a:avLst/>
          </a:prstGeom>
          <a:noFill/>
        </p:spPr>
        <p:txBody>
          <a:bodyPr wrap="square">
            <a:spAutoFit/>
          </a:bodyPr>
          <a:lstStyle/>
          <a:p>
            <a:pPr algn="ctr">
              <a:defRPr sz="7200" b="1">
                <a:solidFill>
                  <a:srgbClr val="FFFFFF"/>
                </a:solidFill>
                <a:latin typeface="Calibri"/>
              </a:defRPr>
            </a:pPr>
            <a:r>
              <a:t>SubCellSpace: A Subcellular Spatial Transcriptomics Database &amp; Analysis Platform</a:t>
            </a:r>
          </a:p>
        </p:txBody>
      </p:sp>
      <p:sp>
        <p:nvSpPr>
          <p:cNvPr id="4" name="TextBox 3"/>
          <p:cNvSpPr txBox="1"/>
          <p:nvPr/>
        </p:nvSpPr>
        <p:spPr>
          <a:xfrm>
            <a:off x="0" y="1980000"/>
            <a:ext cx="32400000" cy="540000"/>
          </a:xfrm>
          <a:prstGeom prst="rect">
            <a:avLst/>
          </a:prstGeom>
          <a:noFill/>
        </p:spPr>
        <p:txBody>
          <a:bodyPr wrap="square">
            <a:spAutoFit/>
          </a:bodyPr>
          <a:lstStyle/>
          <a:p>
            <a:pPr algn="ctr">
              <a:defRPr sz="3200" b="0">
                <a:solidFill>
                  <a:srgbClr val="BDC3C7"/>
                </a:solidFill>
                <a:latin typeface="Calibri"/>
              </a:defRPr>
            </a:pPr>
            <a:r>
              <a:t>Zhefu Li  ·  Supervisor: Xuerui Yang  ·  Tsinghua University  ·  Jun 2026  ·  https://github.com/zf-li23/SubCellSpace</a:t>
            </a:r>
          </a:p>
        </p:txBody>
      </p:sp>
      <p:sp>
        <p:nvSpPr>
          <p:cNvPr id="5" name="Rounded Rectangle 4"/>
          <p:cNvSpPr/>
          <p:nvPr/>
        </p:nvSpPr>
        <p:spPr>
          <a:xfrm>
            <a:off x="1260000" y="3420000"/>
            <a:ext cx="29880000" cy="7200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400" b="1">
                <a:solidFill>
                  <a:srgbClr val="FFFFFF"/>
                </a:solidFill>
                <a:latin typeface="Calibri"/>
              </a:defRPr>
            </a:pPr>
            <a:r>
              <a:t>1  Platform Construction &amp; Analysis Pipeline</a:t>
            </a:r>
          </a:p>
        </p:txBody>
      </p:sp>
      <p:sp>
        <p:nvSpPr>
          <p:cNvPr id="6" name="TextBox 5"/>
          <p:cNvSpPr txBox="1"/>
          <p:nvPr/>
        </p:nvSpPr>
        <p:spPr>
          <a:xfrm>
            <a:off x="1260000" y="4320000"/>
            <a:ext cx="9900000" cy="11206206"/>
          </a:xfrm>
          <a:prstGeom prst="rect">
            <a:avLst/>
          </a:prstGeom>
          <a:noFill/>
        </p:spPr>
        <p:txBody>
          <a:bodyPr wrap="square">
            <a:spAutoFit/>
          </a:bodyPr>
          <a:lstStyle/>
          <a:p>
            <a:pPr algn="just">
              <a:defRPr sz="2800" b="0">
                <a:solidFill>
                  <a:srgbClr val="2C3E50"/>
                </a:solidFill>
                <a:latin typeface="Calibri"/>
              </a:defRPr>
            </a:pPr>
            <a:r>
              <a:t>SubCellSpace is a unified subcellular spatial transcriptomics (SPT) platform that supports CosMx (NanoString), Xenium (10x Genomics), and MERFISH (Vizgen) with a single end-to-end pipeline. The platform integrates three major phases:</a:t>
            </a:r>
            <a:br/>
            <a:br/>
            <a:r>
              <a:t>1. Data Acquisition — GEO metadata curation via NCBI E-utilities (269 GSE series, 4,478 GSM records), LLM-powered tissue/disease annotation (DeepSeek), and automated file integrity checking through the Touch module.</a:t>
            </a:r>
            <a:br/>
            <a:br/>
            <a:r>
              <a:t>2. Data Processing — Zero-I/O streaming statistics (Stats module) for transcript, cell, and gene counting, followed by the core 6-step scverse-native analysis pipeline: Denoising (basic/SPARC) -&gt; Patchify (grid/hex) -&gt; Segmentation (fov_cell_id/cellpose) -&gt; Domain Detection (spatial_leiden/k-means) -&gt; Clustering (Leiden/Louvain) -&gt; Annotation (celltypist + SCRIN subcellular scoring).</a:t>
            </a:r>
            <a:br/>
            <a:br/>
            <a:r>
              <a:t>3. Output &amp; Visualization — React + TypeScript static frontend with platform-tabbed browsing, HTML report generation with publication-quality figures, and Slurm HPC deployment for batch processing.</a:t>
            </a:r>
            <a:br/>
            <a:br/>
            <a:r>
              <a:t>All three platforms share a single pipeline configuration (config/pipeline.yaml), enabling cross-platform comparative analyses at the subcellular level.</a:t>
            </a:r>
          </a:p>
        </p:txBody>
      </p:sp>
      <p:pic>
        <p:nvPicPr>
          <p:cNvPr id="7" name="Picture 6" descr="fig1_platform_pipeline.png"/>
          <p:cNvPicPr>
            <a:picLocks noChangeAspect="1"/>
          </p:cNvPicPr>
          <p:nvPr/>
        </p:nvPicPr>
        <p:blipFill>
          <a:blip r:embed="rId2"/>
          <a:stretch>
            <a:fillRect/>
          </a:stretch>
        </p:blipFill>
        <p:spPr>
          <a:xfrm>
            <a:off x="11520000" y="4320000"/>
            <a:ext cx="19080000" cy="11206206"/>
          </a:xfrm>
          <a:prstGeom prst="rect">
            <a:avLst/>
          </a:prstGeom>
        </p:spPr>
      </p:pic>
      <p:sp>
        <p:nvSpPr>
          <p:cNvPr id="8" name="TextBox 7"/>
          <p:cNvSpPr txBox="1"/>
          <p:nvPr/>
        </p:nvSpPr>
        <p:spPr>
          <a:xfrm>
            <a:off x="11520000" y="15580206"/>
            <a:ext cx="19080000" cy="288000"/>
          </a:xfrm>
          <a:prstGeom prst="rect">
            <a:avLst/>
          </a:prstGeom>
          <a:noFill/>
        </p:spPr>
        <p:txBody>
          <a:bodyPr wrap="square">
            <a:spAutoFit/>
          </a:bodyPr>
          <a:lstStyle/>
          <a:p>
            <a:pPr algn="l">
              <a:defRPr sz="2400" b="0">
                <a:solidFill>
                  <a:srgbClr val="7F8C8D"/>
                </a:solidFill>
                <a:latin typeface="Calibri"/>
              </a:defRPr>
            </a:pPr>
            <a:r>
              <a:t>Fig 1. End-to-end platform construction pipeline (top) and scverse-native 6-step analysis workflow (bottom)</a:t>
            </a:r>
          </a:p>
        </p:txBody>
      </p:sp>
      <p:sp>
        <p:nvSpPr>
          <p:cNvPr id="9" name="Rounded Rectangle 8"/>
          <p:cNvSpPr/>
          <p:nvPr/>
        </p:nvSpPr>
        <p:spPr>
          <a:xfrm>
            <a:off x="1260000" y="16246206"/>
            <a:ext cx="29880000" cy="7200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400" b="1">
                <a:solidFill>
                  <a:srgbClr val="FFFFFF"/>
                </a:solidFill>
                <a:latin typeface="Calibri"/>
              </a:defRPr>
            </a:pPr>
            <a:r>
              <a:t>2  Database Overview: Composition, Coverage, Biology &amp; Quality</a:t>
            </a:r>
          </a:p>
        </p:txBody>
      </p:sp>
      <p:pic>
        <p:nvPicPr>
          <p:cNvPr id="10" name="Picture 9" descr="fig2_platform_counts.png"/>
          <p:cNvPicPr>
            <a:picLocks noChangeAspect="1"/>
          </p:cNvPicPr>
          <p:nvPr/>
        </p:nvPicPr>
        <p:blipFill>
          <a:blip r:embed="rId3"/>
          <a:stretch>
            <a:fillRect/>
          </a:stretch>
        </p:blipFill>
        <p:spPr>
          <a:xfrm>
            <a:off x="1260000" y="17146206"/>
            <a:ext cx="5231011" cy="3599999"/>
          </a:xfrm>
          <a:prstGeom prst="rect">
            <a:avLst/>
          </a:prstGeom>
        </p:spPr>
      </p:pic>
      <p:sp>
        <p:nvSpPr>
          <p:cNvPr id="11" name="TextBox 10"/>
          <p:cNvSpPr txBox="1"/>
          <p:nvPr/>
        </p:nvSpPr>
        <p:spPr>
          <a:xfrm>
            <a:off x="1260000" y="20800205"/>
            <a:ext cx="5231011" cy="288000"/>
          </a:xfrm>
          <a:prstGeom prst="rect">
            <a:avLst/>
          </a:prstGeom>
          <a:noFill/>
        </p:spPr>
        <p:txBody>
          <a:bodyPr wrap="square">
            <a:spAutoFit/>
          </a:bodyPr>
          <a:lstStyle/>
          <a:p>
            <a:pPr algn="l">
              <a:defRPr sz="2400" b="0">
                <a:solidFill>
                  <a:srgbClr val="7F8C8D"/>
                </a:solidFill>
                <a:latin typeface="Calibri"/>
              </a:defRPr>
            </a:pPr>
            <a:r>
              <a:t>Fig 2. Dataset counts</a:t>
            </a:r>
          </a:p>
        </p:txBody>
      </p:sp>
      <p:pic>
        <p:nvPicPr>
          <p:cNvPr id="12" name="Picture 11" descr="fig3_file_coverage.png"/>
          <p:cNvPicPr>
            <a:picLocks noChangeAspect="1"/>
          </p:cNvPicPr>
          <p:nvPr/>
        </p:nvPicPr>
        <p:blipFill>
          <a:blip r:embed="rId4"/>
          <a:stretch>
            <a:fillRect/>
          </a:stretch>
        </p:blipFill>
        <p:spPr>
          <a:xfrm>
            <a:off x="6743010" y="17146206"/>
            <a:ext cx="8205333" cy="3599999"/>
          </a:xfrm>
          <a:prstGeom prst="rect">
            <a:avLst/>
          </a:prstGeom>
        </p:spPr>
      </p:pic>
      <p:sp>
        <p:nvSpPr>
          <p:cNvPr id="13" name="TextBox 12"/>
          <p:cNvSpPr txBox="1"/>
          <p:nvPr/>
        </p:nvSpPr>
        <p:spPr>
          <a:xfrm>
            <a:off x="6743010" y="20800205"/>
            <a:ext cx="8205333" cy="288000"/>
          </a:xfrm>
          <a:prstGeom prst="rect">
            <a:avLst/>
          </a:prstGeom>
          <a:noFill/>
        </p:spPr>
        <p:txBody>
          <a:bodyPr wrap="square">
            <a:spAutoFit/>
          </a:bodyPr>
          <a:lstStyle/>
          <a:p>
            <a:pPr algn="l">
              <a:defRPr sz="2400" b="0">
                <a:solidFill>
                  <a:srgbClr val="7F8C8D"/>
                </a:solidFill>
                <a:latin typeface="Calibri"/>
              </a:defRPr>
            </a:pPr>
            <a:r>
              <a:t>Fig 3. File coverage</a:t>
            </a:r>
          </a:p>
        </p:txBody>
      </p:sp>
      <p:sp>
        <p:nvSpPr>
          <p:cNvPr id="14" name="TextBox 13"/>
          <p:cNvSpPr txBox="1"/>
          <p:nvPr/>
        </p:nvSpPr>
        <p:spPr>
          <a:xfrm>
            <a:off x="15200342" y="17146206"/>
            <a:ext cx="15939658" cy="3888000"/>
          </a:xfrm>
          <a:prstGeom prst="rect">
            <a:avLst/>
          </a:prstGeom>
          <a:noFill/>
        </p:spPr>
        <p:txBody>
          <a:bodyPr wrap="square">
            <a:spAutoFit/>
          </a:bodyPr>
          <a:lstStyle/>
          <a:p>
            <a:pPr algn="just">
              <a:defRPr sz="2800" b="0">
                <a:solidFill>
                  <a:srgbClr val="2C3E50"/>
                </a:solidFill>
                <a:latin typeface="Calibri"/>
              </a:defRPr>
            </a:pPr>
            <a:r>
              <a:t>Our database encompasses 2,410+ GEO entries across three major SPT platforms. Xenium leads with 1,525 entries (717 ready). CosMx contributes 476 entries (186 ready) from targeted panels. MERFISH has 130 entries (116 ready), with the highest ready ratio.</a:t>
            </a:r>
            <a:br/>
            <a:br/>
            <a:r>
              <a:t>File completeness varies: CosMx provides expression matrices (96%), cell metadata (99%), and FOV positions (100%). Xenium uniquely offers cell boundaries (74%), nucleus boundaries (60%), and gene panel metadata (31%). MERFISH excels in expression (97%) and cell metadata (98%). The Touch module auto-normalizes all.</a:t>
            </a:r>
          </a:p>
        </p:txBody>
      </p:sp>
      <p:sp>
        <p:nvSpPr>
          <p:cNvPr id="15" name="TextBox 14"/>
          <p:cNvSpPr txBox="1"/>
          <p:nvPr/>
        </p:nvSpPr>
        <p:spPr>
          <a:xfrm>
            <a:off x="1260000" y="21034206"/>
            <a:ext cx="14993443" cy="2808000"/>
          </a:xfrm>
          <a:prstGeom prst="rect">
            <a:avLst/>
          </a:prstGeom>
          <a:noFill/>
        </p:spPr>
        <p:txBody>
          <a:bodyPr wrap="square">
            <a:spAutoFit/>
          </a:bodyPr>
          <a:lstStyle/>
          <a:p>
            <a:pPr>
              <a:spcAft>
                <a:spcPts val="200"/>
              </a:spcAft>
              <a:defRPr sz="2800">
                <a:solidFill>
                  <a:srgbClr val="2C3E50"/>
                </a:solidFill>
                <a:latin typeface="Calibri"/>
              </a:defRPr>
            </a:pPr>
            <a:r>
              <a:t>The database spans 50+ tissue types and 30+ disease conditions,</a:t>
            </a:r>
          </a:p>
          <a:p>
            <a:pPr>
              <a:spcAft>
                <a:spcPts val="200"/>
              </a:spcAft>
              <a:defRPr sz="2800">
                <a:solidFill>
                  <a:srgbClr val="2C3E50"/>
                </a:solidFill>
                <a:latin typeface="Calibri"/>
              </a:defRPr>
            </a:pPr>
            <a:r>
              <a:t>providing broad biological coverage. Brain, breast, lung, and lymph</a:t>
            </a:r>
          </a:p>
          <a:p>
            <a:pPr>
              <a:spcAft>
                <a:spcPts val="200"/>
              </a:spcAft>
              <a:defRPr sz="2800">
                <a:solidFill>
                  <a:srgbClr val="2C3E50"/>
                </a:solidFill>
                <a:latin typeface="Calibri"/>
              </a:defRPr>
            </a:pPr>
            <a:r>
              <a:t>node are most represented, along with normal tissue, various cancers,</a:t>
            </a:r>
          </a:p>
          <a:p>
            <a:pPr>
              <a:spcAft>
                <a:spcPts val="200"/>
              </a:spcAft>
              <a:defRPr sz="2800">
                <a:solidFill>
                  <a:srgbClr val="2C3E50"/>
                </a:solidFill>
                <a:latin typeface="Calibri"/>
              </a:defRPr>
            </a:pPr>
            <a:r>
              <a:t>and neurodegenerative conditions (Alzheimer's, Parkinson's).</a:t>
            </a:r>
          </a:p>
          <a:p>
            <a:pPr>
              <a:spcAft>
                <a:spcPts val="200"/>
              </a:spcAft>
              <a:defRPr sz="2800">
                <a:solidFill>
                  <a:srgbClr val="2C3E50"/>
                </a:solidFill>
                <a:latin typeface="Calibri"/>
              </a:defRPr>
            </a:pPr>
          </a:p>
          <a:p>
            <a:pPr>
              <a:spcAft>
                <a:spcPts val="200"/>
              </a:spcAft>
              <a:defRPr sz="2800">
                <a:solidFill>
                  <a:srgbClr val="2C3E50"/>
                </a:solidFill>
                <a:latin typeface="Calibri"/>
              </a:defRPr>
            </a:pPr>
            <a:r>
              <a:t>Quality metrics: Xenium achieves the highest transcript counts (181K</a:t>
            </a:r>
          </a:p>
          <a:p>
            <a:pPr>
              <a:spcAft>
                <a:spcPts val="200"/>
              </a:spcAft>
              <a:defRPr sz="2800">
                <a:solidFill>
                  <a:srgbClr val="2C3E50"/>
                </a:solidFill>
                <a:latin typeface="Calibri"/>
              </a:defRPr>
            </a:pPr>
            <a:r>
              <a:t>median) and broadest gene panels (6,522). MERFISH captures the most</a:t>
            </a:r>
          </a:p>
          <a:p>
            <a:pPr>
              <a:spcAft>
                <a:spcPts val="200"/>
              </a:spcAft>
              <a:defRPr sz="2800">
                <a:solidFill>
                  <a:srgbClr val="2C3E50"/>
                </a:solidFill>
                <a:latin typeface="Calibri"/>
              </a:defRPr>
            </a:pPr>
            <a:r>
              <a:t>cells (18K median, 550K max). CosMx offers consistent 960-gene panels</a:t>
            </a:r>
          </a:p>
          <a:p>
            <a:pPr>
              <a:spcAft>
                <a:spcPts val="200"/>
              </a:spcAft>
              <a:defRPr sz="2800">
                <a:solidFill>
                  <a:srgbClr val="2C3E50"/>
                </a:solidFill>
                <a:latin typeface="Calibri"/>
              </a:defRPr>
            </a:pPr>
            <a:r>
              <a:t>with the highest per-cell transcript counts (35,825 median).</a:t>
            </a:r>
          </a:p>
        </p:txBody>
      </p:sp>
      <p:pic>
        <p:nvPicPr>
          <p:cNvPr id="16" name="Picture 15" descr="fig4_tissue_dist.png"/>
          <p:cNvPicPr>
            <a:picLocks noChangeAspect="1"/>
          </p:cNvPicPr>
          <p:nvPr/>
        </p:nvPicPr>
        <p:blipFill>
          <a:blip r:embed="rId5"/>
          <a:stretch>
            <a:fillRect/>
          </a:stretch>
        </p:blipFill>
        <p:spPr>
          <a:xfrm>
            <a:off x="16505442" y="21034206"/>
            <a:ext cx="6584016" cy="2519999"/>
          </a:xfrm>
          <a:prstGeom prst="rect">
            <a:avLst/>
          </a:prstGeom>
        </p:spPr>
      </p:pic>
      <p:sp>
        <p:nvSpPr>
          <p:cNvPr id="17" name="TextBox 16"/>
          <p:cNvSpPr txBox="1"/>
          <p:nvPr/>
        </p:nvSpPr>
        <p:spPr>
          <a:xfrm>
            <a:off x="16505442" y="23608205"/>
            <a:ext cx="6584016" cy="288000"/>
          </a:xfrm>
          <a:prstGeom prst="rect">
            <a:avLst/>
          </a:prstGeom>
          <a:noFill/>
        </p:spPr>
        <p:txBody>
          <a:bodyPr wrap="square">
            <a:spAutoFit/>
          </a:bodyPr>
          <a:lstStyle/>
          <a:p>
            <a:pPr algn="l">
              <a:defRPr sz="2400" b="0">
                <a:solidFill>
                  <a:srgbClr val="7F8C8D"/>
                </a:solidFill>
                <a:latin typeface="Calibri"/>
              </a:defRPr>
            </a:pPr>
            <a:r>
              <a:t>Fig 4. Tissues &amp; diseases</a:t>
            </a:r>
          </a:p>
        </p:txBody>
      </p:sp>
      <p:pic>
        <p:nvPicPr>
          <p:cNvPr id="18" name="Picture 17" descr="fig5_violins.png"/>
          <p:cNvPicPr>
            <a:picLocks noChangeAspect="1"/>
          </p:cNvPicPr>
          <p:nvPr/>
        </p:nvPicPr>
        <p:blipFill>
          <a:blip r:embed="rId6"/>
          <a:stretch>
            <a:fillRect/>
          </a:stretch>
        </p:blipFill>
        <p:spPr>
          <a:xfrm>
            <a:off x="23341457" y="21034206"/>
            <a:ext cx="7798543" cy="2519999"/>
          </a:xfrm>
          <a:prstGeom prst="rect">
            <a:avLst/>
          </a:prstGeom>
        </p:spPr>
      </p:pic>
      <p:sp>
        <p:nvSpPr>
          <p:cNvPr id="19" name="TextBox 18"/>
          <p:cNvSpPr txBox="1"/>
          <p:nvPr/>
        </p:nvSpPr>
        <p:spPr>
          <a:xfrm>
            <a:off x="23341457" y="23608205"/>
            <a:ext cx="7798543" cy="288000"/>
          </a:xfrm>
          <a:prstGeom prst="rect">
            <a:avLst/>
          </a:prstGeom>
          <a:noFill/>
        </p:spPr>
        <p:txBody>
          <a:bodyPr wrap="square">
            <a:spAutoFit/>
          </a:bodyPr>
          <a:lstStyle/>
          <a:p>
            <a:pPr algn="l">
              <a:defRPr sz="2400" b="0">
                <a:solidFill>
                  <a:srgbClr val="7F8C8D"/>
                </a:solidFill>
                <a:latin typeface="Calibri"/>
              </a:defRPr>
            </a:pPr>
            <a:r>
              <a:t>Fig 5. Quality metrics</a:t>
            </a:r>
          </a:p>
        </p:txBody>
      </p:sp>
      <p:sp>
        <p:nvSpPr>
          <p:cNvPr id="20" name="Rounded Rectangle 19"/>
          <p:cNvSpPr/>
          <p:nvPr/>
        </p:nvSpPr>
        <p:spPr>
          <a:xfrm>
            <a:off x="1260000" y="24382206"/>
            <a:ext cx="15480000" cy="720000"/>
          </a:xfrm>
          <a:prstGeom prst="round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400" b="1">
                <a:solidFill>
                  <a:srgbClr val="FFFFFF"/>
                </a:solidFill>
                <a:latin typeface="Calibri"/>
              </a:defRPr>
            </a:pPr>
            <a:r>
              <a:t>3  Case Study: Alzheimer's Mouse Brain</a:t>
            </a:r>
          </a:p>
        </p:txBody>
      </p:sp>
      <p:sp>
        <p:nvSpPr>
          <p:cNvPr id="21" name="Rounded Rectangle 20"/>
          <p:cNvSpPr/>
          <p:nvPr/>
        </p:nvSpPr>
        <p:spPr>
          <a:xfrm>
            <a:off x="17820000" y="24382206"/>
            <a:ext cx="13320000" cy="720000"/>
          </a:xfrm>
          <a:prstGeom prst="round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400" b="1">
                <a:solidFill>
                  <a:srgbClr val="FFFFFF"/>
                </a:solidFill>
                <a:latin typeface="Calibri"/>
              </a:defRPr>
            </a:pPr>
            <a:r>
              <a:t>4  Conclusion &amp; Outlook</a:t>
            </a:r>
          </a:p>
        </p:txBody>
      </p:sp>
      <p:pic>
        <p:nvPicPr>
          <p:cNvPr id="22" name="Picture 21" descr="fig6_example_output.png"/>
          <p:cNvPicPr>
            <a:picLocks noChangeAspect="1"/>
          </p:cNvPicPr>
          <p:nvPr/>
        </p:nvPicPr>
        <p:blipFill>
          <a:blip r:embed="rId7"/>
          <a:stretch>
            <a:fillRect/>
          </a:stretch>
        </p:blipFill>
        <p:spPr>
          <a:xfrm>
            <a:off x="1260000" y="25282206"/>
            <a:ext cx="15480000" cy="13783561"/>
          </a:xfrm>
          <a:prstGeom prst="rect">
            <a:avLst/>
          </a:prstGeom>
        </p:spPr>
      </p:pic>
      <p:sp>
        <p:nvSpPr>
          <p:cNvPr id="23" name="TextBox 22"/>
          <p:cNvSpPr txBox="1"/>
          <p:nvPr/>
        </p:nvSpPr>
        <p:spPr>
          <a:xfrm>
            <a:off x="1260000" y="39119767"/>
            <a:ext cx="15480000" cy="288000"/>
          </a:xfrm>
          <a:prstGeom prst="rect">
            <a:avLst/>
          </a:prstGeom>
          <a:noFill/>
        </p:spPr>
        <p:txBody>
          <a:bodyPr wrap="square">
            <a:spAutoFit/>
          </a:bodyPr>
          <a:lstStyle/>
          <a:p>
            <a:pPr algn="l">
              <a:defRPr sz="2400" b="0">
                <a:solidFill>
                  <a:srgbClr val="7F8C8D"/>
                </a:solidFill>
                <a:latin typeface="Calibri"/>
              </a:defRPr>
            </a:pPr>
            <a:r>
              <a:t>Fig 6. GSE263791 — 5xFAD mouse hippocampus</a:t>
            </a:r>
          </a:p>
        </p:txBody>
      </p:sp>
      <p:sp>
        <p:nvSpPr>
          <p:cNvPr id="24" name="TextBox 23"/>
          <p:cNvSpPr txBox="1"/>
          <p:nvPr/>
        </p:nvSpPr>
        <p:spPr>
          <a:xfrm>
            <a:off x="1260000" y="39281767"/>
            <a:ext cx="15480000" cy="1800000"/>
          </a:xfrm>
          <a:prstGeom prst="rect">
            <a:avLst/>
          </a:prstGeom>
          <a:noFill/>
        </p:spPr>
        <p:txBody>
          <a:bodyPr wrap="square">
            <a:spAutoFit/>
          </a:bodyPr>
          <a:lstStyle/>
          <a:p>
            <a:pPr algn="just">
              <a:defRPr sz="2800" b="0">
                <a:solidFill>
                  <a:srgbClr val="2C3E50"/>
                </a:solidFill>
                <a:latin typeface="Calibri"/>
              </a:defRPr>
            </a:pPr>
            <a:r>
              <a:t>5xFAD Alzheimer's model (821 cells, 41 FOVs, 960 genes). (a) Spatial transcript counts: hippocampal regional differences. (b) UMAP by transcript count. (c) Leiden: 8 cell populations. (d) UMAP cluster validation. Microglia-astrocyte cross-talk in amyloid plaque niches revealed by spatial context.</a:t>
            </a:r>
          </a:p>
        </p:txBody>
      </p:sp>
      <p:sp>
        <p:nvSpPr>
          <p:cNvPr id="25" name="TextBox 24"/>
          <p:cNvSpPr txBox="1"/>
          <p:nvPr/>
        </p:nvSpPr>
        <p:spPr>
          <a:xfrm>
            <a:off x="17820000" y="25282206"/>
            <a:ext cx="13320000" cy="13783561"/>
          </a:xfrm>
          <a:prstGeom prst="rect">
            <a:avLst/>
          </a:prstGeom>
          <a:noFill/>
        </p:spPr>
        <p:txBody>
          <a:bodyPr wrap="square">
            <a:spAutoFit/>
          </a:bodyPr>
          <a:lstStyle/>
          <a:p>
            <a:pPr>
              <a:spcAft>
                <a:spcPts val="200"/>
              </a:spcAft>
              <a:defRPr sz="2800">
                <a:solidFill>
                  <a:srgbClr val="2C3E50"/>
                </a:solidFill>
                <a:latin typeface="Calibri"/>
              </a:defRPr>
            </a:pPr>
            <a:r>
              <a:t>Key Achievements</a:t>
            </a:r>
          </a:p>
          <a:p>
            <a:pPr>
              <a:spcAft>
                <a:spcPts val="200"/>
              </a:spcAft>
              <a:defRPr sz="2800">
                <a:solidFill>
                  <a:srgbClr val="2C3E50"/>
                </a:solidFill>
                <a:latin typeface="Calibri"/>
              </a:defRPr>
            </a:pPr>
          </a:p>
          <a:p>
            <a:pPr>
              <a:spcAft>
                <a:spcPts val="200"/>
              </a:spcAft>
              <a:defRPr sz="2800">
                <a:solidFill>
                  <a:srgbClr val="2C3E50"/>
                </a:solidFill>
                <a:latin typeface="Calibri"/>
              </a:defRPr>
            </a:pPr>
            <a:r>
              <a:t>• Unified platform for CosMx, Xenium,</a:t>
            </a:r>
          </a:p>
          <a:p>
            <a:pPr>
              <a:spcAft>
                <a:spcPts val="200"/>
              </a:spcAft>
              <a:defRPr sz="2800">
                <a:solidFill>
                  <a:srgbClr val="2C3E50"/>
                </a:solidFill>
                <a:latin typeface="Calibri"/>
              </a:defRPr>
            </a:pPr>
            <a:r>
              <a:t>  and MERFISH spatial transcriptomics</a:t>
            </a:r>
          </a:p>
          <a:p>
            <a:pPr>
              <a:spcAft>
                <a:spcPts val="200"/>
              </a:spcAft>
              <a:defRPr sz="2800">
                <a:solidFill>
                  <a:srgbClr val="2C3E50"/>
                </a:solidFill>
                <a:latin typeface="Calibri"/>
              </a:defRPr>
            </a:pPr>
            <a:r>
              <a:t>• 2,410+ GEO datasets curated &amp; processed</a:t>
            </a:r>
          </a:p>
          <a:p>
            <a:pPr>
              <a:spcAft>
                <a:spcPts val="200"/>
              </a:spcAft>
              <a:defRPr sz="2800">
                <a:solidFill>
                  <a:srgbClr val="2C3E50"/>
                </a:solidFill>
                <a:latin typeface="Calibri"/>
              </a:defRPr>
            </a:pPr>
            <a:r>
              <a:t>  (269 GSEs, 4,478 GSM records)</a:t>
            </a:r>
          </a:p>
          <a:p>
            <a:pPr>
              <a:spcAft>
                <a:spcPts val="200"/>
              </a:spcAft>
              <a:defRPr sz="2800">
                <a:solidFill>
                  <a:srgbClr val="2C3E50"/>
                </a:solidFill>
                <a:latin typeface="Calibri"/>
              </a:defRPr>
            </a:pPr>
            <a:r>
              <a:t>• 50+ tissue types, 30+ disease states</a:t>
            </a:r>
          </a:p>
          <a:p>
            <a:pPr>
              <a:spcAft>
                <a:spcPts val="200"/>
              </a:spcAft>
              <a:defRPr sz="2800">
                <a:solidFill>
                  <a:srgbClr val="2C3E50"/>
                </a:solidFill>
                <a:latin typeface="Calibri"/>
              </a:defRPr>
            </a:pPr>
            <a:r>
              <a:t>• Single config drives all 3 platforms</a:t>
            </a:r>
          </a:p>
          <a:p>
            <a:pPr>
              <a:spcAft>
                <a:spcPts val="200"/>
              </a:spcAft>
              <a:defRPr sz="2800">
                <a:solidFill>
                  <a:srgbClr val="2C3E50"/>
                </a:solidFill>
                <a:latin typeface="Calibri"/>
              </a:defRPr>
            </a:pPr>
            <a:r>
              <a:t>• Touch + Stats: data integrity assurance</a:t>
            </a:r>
          </a:p>
          <a:p>
            <a:pPr>
              <a:spcAft>
                <a:spcPts val="200"/>
              </a:spcAft>
              <a:defRPr sz="2800">
                <a:solidFill>
                  <a:srgbClr val="2C3E50"/>
                </a:solidFill>
                <a:latin typeface="Calibri"/>
              </a:defRPr>
            </a:pPr>
            <a:r>
              <a:t>• React static browser, no backend needed</a:t>
            </a:r>
          </a:p>
          <a:p>
            <a:pPr>
              <a:spcAft>
                <a:spcPts val="200"/>
              </a:spcAft>
              <a:defRPr sz="2800">
                <a:solidFill>
                  <a:srgbClr val="2C3E50"/>
                </a:solidFill>
                <a:latin typeface="Calibri"/>
              </a:defRPr>
            </a:pPr>
          </a:p>
          <a:p>
            <a:pPr>
              <a:spcAft>
                <a:spcPts val="200"/>
              </a:spcAft>
              <a:defRPr sz="2800">
                <a:solidFill>
                  <a:srgbClr val="2C3E50"/>
                </a:solidFill>
                <a:latin typeface="Calibri"/>
              </a:defRPr>
            </a:pPr>
            <a:r>
              <a:t>Future Directions</a:t>
            </a:r>
          </a:p>
          <a:p>
            <a:pPr>
              <a:spcAft>
                <a:spcPts val="200"/>
              </a:spcAft>
              <a:defRPr sz="2800">
                <a:solidFill>
                  <a:srgbClr val="2C3E50"/>
                </a:solidFill>
                <a:latin typeface="Calibri"/>
              </a:defRPr>
            </a:pPr>
          </a:p>
          <a:p>
            <a:pPr>
              <a:spcAft>
                <a:spcPts val="200"/>
              </a:spcAft>
              <a:defRPr sz="2800">
                <a:solidFill>
                  <a:srgbClr val="2C3E50"/>
                </a:solidFill>
                <a:latin typeface="Calibri"/>
              </a:defRPr>
            </a:pPr>
            <a:r>
              <a:t>• Process 3,000+ pending GEO datasets</a:t>
            </a:r>
          </a:p>
          <a:p>
            <a:pPr>
              <a:spcAft>
                <a:spcPts val="200"/>
              </a:spcAft>
              <a:defRPr sz="2800">
                <a:solidFill>
                  <a:srgbClr val="2C3E50"/>
                </a:solidFill>
                <a:latin typeface="Calibri"/>
              </a:defRPr>
            </a:pPr>
            <a:r>
              <a:t>• Multi-sample integrative analysis</a:t>
            </a:r>
          </a:p>
          <a:p>
            <a:pPr>
              <a:spcAft>
                <a:spcPts val="200"/>
              </a:spcAft>
              <a:defRPr sz="2800">
                <a:solidFill>
                  <a:srgbClr val="2C3E50"/>
                </a:solidFill>
                <a:latin typeface="Calibri"/>
              </a:defRPr>
            </a:pPr>
            <a:r>
              <a:t>• Spatial multi-omics data support</a:t>
            </a:r>
          </a:p>
          <a:p>
            <a:pPr>
              <a:spcAft>
                <a:spcPts val="200"/>
              </a:spcAft>
              <a:defRPr sz="2800">
                <a:solidFill>
                  <a:srgbClr val="2C3E50"/>
                </a:solidFill>
                <a:latin typeface="Calibri"/>
              </a:defRPr>
            </a:pPr>
            <a:r>
              <a:t>• Cloud-deployed pipeline (Docker/Singularity)</a:t>
            </a:r>
          </a:p>
          <a:p>
            <a:pPr>
              <a:spcAft>
                <a:spcPts val="200"/>
              </a:spcAft>
              <a:defRPr sz="2800">
                <a:solidFill>
                  <a:srgbClr val="2C3E50"/>
                </a:solidFill>
                <a:latin typeface="Calibri"/>
              </a:defRPr>
            </a:pPr>
            <a:r>
              <a:t>• Community dataset registry with DOI</a:t>
            </a:r>
          </a:p>
        </p:txBody>
      </p:sp>
      <p:sp>
        <p:nvSpPr>
          <p:cNvPr id="26" name="Rectangle 25"/>
          <p:cNvSpPr/>
          <p:nvPr/>
        </p:nvSpPr>
        <p:spPr>
          <a:xfrm>
            <a:off x="0" y="42120000"/>
            <a:ext cx="32400000" cy="1080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60000" y="42300000"/>
            <a:ext cx="29880000" cy="432000"/>
          </a:xfrm>
          <a:prstGeom prst="rect">
            <a:avLst/>
          </a:prstGeom>
          <a:noFill/>
        </p:spPr>
        <p:txBody>
          <a:bodyPr wrap="square">
            <a:spAutoFit/>
          </a:bodyPr>
          <a:lstStyle/>
          <a:p>
            <a:pPr algn="ctr">
              <a:defRPr sz="2400" b="0">
                <a:solidFill>
                  <a:srgbClr val="FFFFFF"/>
                </a:solidFill>
                <a:latin typeface="Calibri"/>
              </a:defRPr>
            </a:pPr>
            <a:r>
              <a:t>Data: GEO (NCBI)  ·  Code: github.com/zf-li23/SubCellSpace (MIT)  ·  Tools: scanpy, squidpy, spatialdata, SCRIN, CellTypist  ·  Poster: Tsinghua University SLS Undergraduate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