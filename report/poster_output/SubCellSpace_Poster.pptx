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290206"/>
            <a:ext cx="13252389" cy="4176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898206"/>
            <a:ext cx="10884140" cy="3096000"/>
          </a:xfrm>
          <a:prstGeom prst="rect">
            <a:avLst/>
          </a:prstGeom>
          <a:noFill/>
        </p:spPr>
        <p:txBody>
          <a:bodyPr wrap="square">
            <a:spAutoFit/>
          </a:bodyPr>
          <a:lstStyle/>
          <a:p>
            <a:pPr algn="just">
              <a:defRPr sz="2800" b="0">
                <a:solidFill>
                  <a:srgbClr val="2C3E50"/>
                </a:solidFill>
                <a:latin typeface="Calibri"/>
              </a:defRPr>
            </a:pPr>
            <a:r>
              <a:t>The database spans 50+ tissue types and 30+ disease conditions. Brain, breast, lung, and lymph node are most represented, along with normal tissue, various cancers, and neurodegenerative conditions (Alzheimer's). Xenium achieves the highest transcript counts (181K median) and broadest gene panels (6,522). MERFISH captures the most cells (18K median, 550K max). CosMx offers consistent 960-gene panels with 35,825 per-cell transcript median.</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Alzheimer's disease mouse brain (CosMx)</a:t>
            </a:r>
          </a:p>
        </p:txBody>
      </p:sp>
      <p:sp>
        <p:nvSpPr>
          <p:cNvPr id="24" name="TextBox 23"/>
          <p:cNvSpPr txBox="1"/>
          <p:nvPr/>
        </p:nvSpPr>
        <p:spPr>
          <a:xfrm>
            <a:off x="1260000" y="40865767"/>
            <a:ext cx="15480000" cy="1800000"/>
          </a:xfrm>
          <a:prstGeom prst="rect">
            <a:avLst/>
          </a:prstGeom>
          <a:noFill/>
        </p:spPr>
        <p:txBody>
          <a:bodyPr wrap="square">
            <a:spAutoFit/>
          </a:bodyPr>
          <a:lstStyle/>
          <a:p>
            <a:pPr algn="just">
              <a:defRPr sz="2800" b="0">
                <a:solidFill>
                  <a:srgbClr val="2C3E50"/>
                </a:solidFill>
                <a:latin typeface="Calibri"/>
              </a:defRPr>
            </a:pPr>
            <a:r>
              <a:t>Alzheimer's disease mouse model (GSE263791). 42.6M transcripts, 821 cells, 960 genes, 41 FOVs. Median 35,825 transcripts per cell. (a) Spatial transcript distribution: hippocampal regional differences. (b) UMAP by transcript count. (c) Leiden clustering: 8 cell populations. (d) UMAP cluster validation. Microglia-astrocyte cross-talk in amyloid plaque niches revealed by spatial context.</a:t>
            </a:r>
          </a:p>
        </p:txBody>
      </p:sp>
      <p:sp>
        <p:nvSpPr>
          <p:cNvPr id="25" name="TextBox 24"/>
          <p:cNvSpPr txBox="1"/>
          <p:nvPr/>
        </p:nvSpPr>
        <p:spPr>
          <a:xfrm>
            <a:off x="17820000" y="26866206"/>
            <a:ext cx="13320000" cy="13639561"/>
          </a:xfrm>
          <a:prstGeom prst="rect">
            <a:avLst/>
          </a:prstGeom>
          <a:noFill/>
        </p:spPr>
        <p:txBody>
          <a:bodyPr wrap="square">
            <a:spAutoFit/>
          </a:bodyPr>
          <a:lstStyle/>
          <a:p>
            <a:pPr>
              <a:spcAft>
                <a:spcPts val="200"/>
              </a:spcAft>
              <a:defRPr sz="2800">
                <a:solidFill>
                  <a:srgbClr val="2C3E50"/>
                </a:solidFill>
                <a:latin typeface="Calibri"/>
              </a:defRPr>
            </a:pPr>
            <a:r>
              <a:t>Key Achievements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Unified platform for CosMx, Xenium,</a:t>
            </a:r>
          </a:p>
          <a:p>
            <a:pPr>
              <a:spcAft>
                <a:spcPts val="200"/>
              </a:spcAft>
              <a:defRPr sz="2800">
                <a:solidFill>
                  <a:srgbClr val="2C3E50"/>
                </a:solidFill>
                <a:latin typeface="Calibri"/>
              </a:defRPr>
            </a:pPr>
            <a:r>
              <a:t>  and MERFISH spatial transcriptomics</a:t>
            </a:r>
          </a:p>
          <a:p>
            <a:pPr>
              <a:spcAft>
                <a:spcPts val="200"/>
              </a:spcAft>
              <a:defRPr sz="2800">
                <a:solidFill>
                  <a:srgbClr val="2C3E50"/>
                </a:solidFill>
                <a:latin typeface="Calibri"/>
              </a:defRPr>
            </a:pPr>
            <a:r>
              <a:t>• 2,410+ GEO datasets curated &amp; processed</a:t>
            </a:r>
          </a:p>
          <a:p>
            <a:pPr>
              <a:spcAft>
                <a:spcPts val="200"/>
              </a:spcAft>
              <a:defRPr sz="2800">
                <a:solidFill>
                  <a:srgbClr val="2C3E50"/>
                </a:solidFill>
                <a:latin typeface="Calibri"/>
              </a:defRPr>
            </a:pPr>
            <a:r>
              <a:t>  (269 GSEs, 4,478 GSM records)</a:t>
            </a:r>
          </a:p>
          <a:p>
            <a:pPr>
              <a:spcAft>
                <a:spcPts val="200"/>
              </a:spcAft>
              <a:defRPr sz="2800">
                <a:solidFill>
                  <a:srgbClr val="2C3E50"/>
                </a:solidFill>
                <a:latin typeface="Calibri"/>
              </a:defRPr>
            </a:pPr>
            <a:r>
              <a:t>• 50+ tissue types, 30+ disease states</a:t>
            </a:r>
          </a:p>
          <a:p>
            <a:pPr>
              <a:spcAft>
                <a:spcPts val="200"/>
              </a:spcAft>
              <a:defRPr sz="2800">
                <a:solidFill>
                  <a:srgbClr val="2C3E50"/>
                </a:solidFill>
                <a:latin typeface="Calibri"/>
              </a:defRPr>
            </a:pPr>
            <a:r>
              <a:t>• Single config drives all 3 platforms</a:t>
            </a:r>
          </a:p>
          <a:p>
            <a:pPr>
              <a:spcAft>
                <a:spcPts val="200"/>
              </a:spcAft>
              <a:defRPr sz="2800">
                <a:solidFill>
                  <a:srgbClr val="2C3E50"/>
                </a:solidFill>
                <a:latin typeface="Calibri"/>
              </a:defRPr>
            </a:pPr>
            <a:r>
              <a:t>• Touch + Stats: data integrity assurance</a:t>
            </a:r>
          </a:p>
          <a:p>
            <a:pPr>
              <a:spcAft>
                <a:spcPts val="200"/>
              </a:spcAft>
              <a:defRPr sz="2800">
                <a:solidFill>
                  <a:srgbClr val="2C3E50"/>
                </a:solidFill>
                <a:latin typeface="Calibri"/>
              </a:defRPr>
            </a:pPr>
            <a:r>
              <a:t>• React static browser, no backend needed</a:t>
            </a:r>
          </a:p>
          <a:p>
            <a:pPr>
              <a:spcAft>
                <a:spcPts val="200"/>
              </a:spcAft>
              <a:defRPr sz="2800">
                <a:solidFill>
                  <a:srgbClr val="2C3E50"/>
                </a:solidFill>
                <a:latin typeface="Calibri"/>
              </a:defRPr>
            </a:pPr>
          </a:p>
          <a:p>
            <a:pPr>
              <a:spcAft>
                <a:spcPts val="200"/>
              </a:spcAft>
              <a:defRPr sz="2800">
                <a:solidFill>
                  <a:srgbClr val="2C3E50"/>
                </a:solidFill>
                <a:latin typeface="Calibri"/>
              </a:defRPr>
            </a:pPr>
            <a:r>
              <a:t>Future Directions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Process 3,000+ pending GEO datasets</a:t>
            </a:r>
          </a:p>
          <a:p>
            <a:pPr>
              <a:spcAft>
                <a:spcPts val="200"/>
              </a:spcAft>
              <a:defRPr sz="2800">
                <a:solidFill>
                  <a:srgbClr val="2C3E50"/>
                </a:solidFill>
                <a:latin typeface="Calibri"/>
              </a:defRPr>
            </a:pPr>
            <a:r>
              <a:t>• Multi-sample integrative analysis</a:t>
            </a:r>
          </a:p>
          <a:p>
            <a:pPr>
              <a:spcAft>
                <a:spcPts val="200"/>
              </a:spcAft>
              <a:defRPr sz="2800">
                <a:solidFill>
                  <a:srgbClr val="2C3E50"/>
                </a:solidFill>
                <a:latin typeface="Calibri"/>
              </a:defRPr>
            </a:pPr>
            <a:r>
              <a:t>• Spatial multi-omics data support</a:t>
            </a:r>
          </a:p>
          <a:p>
            <a:pPr>
              <a:spcAft>
                <a:spcPts val="200"/>
              </a:spcAft>
              <a:defRPr sz="2800">
                <a:solidFill>
                  <a:srgbClr val="2C3E50"/>
                </a:solidFill>
                <a:latin typeface="Calibri"/>
              </a:defRPr>
            </a:pPr>
            <a:r>
              <a:t>• Cloud-deployed pipeline (Docker/Singularity)</a:t>
            </a:r>
          </a:p>
          <a:p>
            <a:pPr>
              <a:spcAft>
                <a:spcPts val="200"/>
              </a:spcAft>
              <a:defRPr sz="2800">
                <a:solidFill>
                  <a:srgbClr val="2C3E50"/>
                </a:solidFill>
                <a:latin typeface="Calibri"/>
              </a:defRPr>
            </a:pPr>
            <a:r>
              <a:t>• Community dataset registry with DOI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