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342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648000"/>
            <a:ext cx="298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SubCellSpace: A Unified Platform for</a:t>
            </a:r>
            <a:br/>
            <a:r>
              <a:t>Subcellular Spatial Transcriptomics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2088000"/>
            <a:ext cx="29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DC3C7"/>
                </a:solidFill>
                <a:latin typeface="Calibri"/>
              </a:defRPr>
            </a:pPr>
            <a:r>
              <a:t>Zhefu Li  ·  Tsinghua University, School of Life Sciences  ·  Jun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000" y="27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5A5A6"/>
                </a:solidFill>
                <a:latin typeface="Calibri"/>
              </a:defRPr>
            </a:pPr>
            <a:r>
              <a:t>github.com/zf-li23/SubCellSpace  |  Data: GEO (269 GSEs) + Public Repositories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60000" y="3600000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1  Platform Construction &amp; Analysis Pipeline</a:t>
            </a:r>
          </a:p>
        </p:txBody>
      </p:sp>
      <p:pic>
        <p:nvPicPr>
          <p:cNvPr id="7" name="Picture 6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00" y="4500000"/>
            <a:ext cx="14400000" cy="84575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0000" y="13029514"/>
            <a:ext cx="14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1. End-to-end pipeline: 7-step platform construction +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00000" y="4500000"/>
            <a:ext cx="14940000" cy="8457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SubCellSpace is a unified subcellular spatial transcriptomics platform supporting CosMx, Xenium, and MERFISH with a single 6-step analysis pipeline.</a:t>
            </a:r>
            <a:br/>
            <a:br/>
            <a:r>
              <a:t>Database: 2,410+ GEO entries across 269 GSE series, supplemented by 998 non-GEO public datasets. All data uniformly processed through the same pipeline.</a:t>
            </a:r>
            <a:br/>
            <a:br/>
            <a:r>
              <a:t>Pipeline (top): 7-step platform construction — GEO Download → Metadata Curation (E-utilities GSM expansion) → LLM Annotation (DeepSeek tissue/disease classification) → Touch Integrity Check (automated file normalization) → Stats Streaming (zero-I/O counts) → Frontend Browser (React + TypeScript) → HTML Report.</a:t>
            </a:r>
            <a:br/>
            <a:br/>
            <a:r>
              <a:t>Analysis (bottom): Denoise → Patchify → Segment (fov_cell_id / cellpose) → Domain Detection (spatial_leiden) → Clustering (Leiden) → Annotation (celltypist + SCRIN) → Spatial Autocorrelation (Moran's I / Geary's C). Optional Subcellular module via SCRIN.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" y="13137514"/>
            <a:ext cx="29880000" cy="720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2–5  Database Overview: Composition, Completeness, Biology &amp; Quality</a:t>
            </a:r>
          </a:p>
        </p:txBody>
      </p:sp>
      <p:pic>
        <p:nvPicPr>
          <p:cNvPr id="11" name="Picture 10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4037514"/>
            <a:ext cx="13680000" cy="941462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3524136"/>
            <a:ext cx="136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2. Dataset counts by platform &amp; status</a:t>
            </a:r>
          </a:p>
        </p:txBody>
      </p:sp>
      <p:pic>
        <p:nvPicPr>
          <p:cNvPr id="13" name="Picture 12" descr="fig4_tissue_d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000" y="23740136"/>
            <a:ext cx="13680000" cy="52359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60000" y="29048088"/>
            <a:ext cx="136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4. Top 10 tissues &amp; disease states</a:t>
            </a:r>
          </a:p>
        </p:txBody>
      </p:sp>
      <p:pic>
        <p:nvPicPr>
          <p:cNvPr id="15" name="Picture 14" descr="fig3_file_cove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0000" y="14037514"/>
            <a:ext cx="13680000" cy="60019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460000" y="20111463"/>
            <a:ext cx="136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3. Optional file coverage by platform</a:t>
            </a:r>
          </a:p>
        </p:txBody>
      </p:sp>
      <p:pic>
        <p:nvPicPr>
          <p:cNvPr id="17" name="Picture 16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60000" y="20327463"/>
            <a:ext cx="13680000" cy="442051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460000" y="24819980"/>
            <a:ext cx="136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5. Cross-platform quality (log₁₀ scale)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0000" y="29516088"/>
            <a:ext cx="29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  <a:latin typeface="Calibri"/>
              </a:defRPr>
            </a:pPr>
            <a:r>
              <a:t>2,410+ GEO entries · 269 GSEs · 50+ tissues · 30+ disease states · CosMx: 476 (186 ready) · Xenium: 1,525 (717 ready) · MERFISH: 130 (116 ready) · File availability: expression matrices &gt;95%, cell metadata &gt;98%, Xenium unique: cell/nucleus boundaries + gene panels. Quality: Xenium highest transcripts, MERFISH most cells, CosMx most consistent.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60000" y="30596088"/>
            <a:ext cx="2988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6  Case Study: Alzheimer's Disease Mouse Brain  |  7  Methods &amp; Implementation</a:t>
            </a:r>
          </a:p>
        </p:txBody>
      </p:sp>
      <p:pic>
        <p:nvPicPr>
          <p:cNvPr id="21" name="Picture 20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0000" y="31496088"/>
            <a:ext cx="11520000" cy="1025753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60000" y="41825622"/>
            <a:ext cx="1152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7F8C8D"/>
                </a:solidFill>
                <a:latin typeface="Calibri"/>
              </a:defRPr>
            </a:pPr>
            <a:r>
              <a:t>Fig 6. GSE263791 — 5xFAD mouse hippocampus (821 cells, 41 FOVs, 960 genes)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31496088"/>
            <a:ext cx="17820000" cy="10257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Data Acquisition: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NCBI GEO E-utilities: 269 GSEs, 4,478 GSM records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Public repos: Nanostring, Vizgen, 10x Genomics, Zenodo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Metadata Enrichment: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GSM expansion via esummary (tissue, disease, PMIDs)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LLM annotation: DeepSeek for tissue/disease classification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Touch: automated file integrity &amp; normalization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Stats: zero-I/O streaming (header-only) transcript, cell, gene counts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Analysis (scverse-native):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Denoising: basic / SPARC  |  Segmentation: fov_cell_id / cellpose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Domain: spatial_leiden / k-means  |  Clustering: Leiden / Louvain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Annotation: celltypist (scRNA-seq reference) + SCRIN subcellular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Spatial: Moran's I / Geary's C autocorrelation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Infrastructure: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React + TypeScript static frontend (no API server)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HTML report with publication-quality figures</a:t>
            </a:r>
          </a:p>
          <a:p>
            <a:pPr>
              <a:spcAft>
                <a:spcPts val="300"/>
              </a:spcAft>
              <a:defRPr sz="1700">
                <a:solidFill>
                  <a:srgbClr val="2C3E50"/>
                </a:solidFill>
                <a:latin typeface="Calibri"/>
              </a:defRPr>
            </a:pPr>
            <a:r>
              <a:t>  • Slurm HPC job arrays (10 concurrent tasks)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00" y="42113622"/>
            <a:ext cx="298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3E50"/>
                </a:solidFill>
                <a:latin typeface="Calibri"/>
              </a:defRPr>
            </a:pPr>
            <a:r>
              <a:t>5xFAD Alzheimer's mouse model (GSE263791). (a) Spatial transcript counts: regional differences in hippocampus, higher expression in dentate gyrus. (b) UMAP by transcript count: continuous gradients. (c) Leiden clustering: 8 cell populations with distinct spatial patterns. (d) UMAP cluster validation: neuronal subtypes &amp; glial populations relevant to AD pathology. Microglia-astrocyte cross-talk in amyloid plaque niches revealed by spatial context.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2480000"/>
            <a:ext cx="32400000" cy="72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0000" y="42624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Data: GEO (NCBI)  ·  Code: github.com/zf-li23/SubCellSpace (MIT)  ·  Tools: scanpy, squidpy, spatialdata, SCRIN, CellTypist  ·  Poster: Tsinghua University SLS Undergraduate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