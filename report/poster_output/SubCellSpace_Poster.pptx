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270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648000"/>
            <a:ext cx="28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SubCellSpace: A Unified Subcellular Spatial</a:t>
            </a:r>
            <a:br/>
            <a:r>
              <a:t>Transcriptomics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0000" y="1620000"/>
            <a:ext cx="28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BDC3C7"/>
                </a:solidFill>
                <a:latin typeface="Calibri"/>
              </a:defRPr>
            </a:pPr>
            <a:r>
              <a:t>Zhefu Li¹  ·  Tsinghua University  ·  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36000" y="2592000"/>
            <a:ext cx="25400" cy="1944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336000" y="2592000"/>
            <a:ext cx="25400" cy="1944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60000" y="2880000"/>
            <a:ext cx="9480000" cy="648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Pipeline Overview</a:t>
            </a:r>
          </a:p>
        </p:txBody>
      </p:sp>
      <p:pic>
        <p:nvPicPr>
          <p:cNvPr id="8" name="Picture 7" descr="fig1_platfor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00" y="3780000"/>
            <a:ext cx="9480000" cy="486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60000" y="8712000"/>
            <a:ext cx="9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F8C8D"/>
                </a:solidFill>
                <a:latin typeface="Calibri"/>
              </a:defRPr>
            </a:pPr>
            <a:r>
              <a:t>Fig 1. Platform construction &amp; analysis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0000" y="9000000"/>
            <a:ext cx="94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7-step pipeline from GEO download to HTML report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Three phases: Acquisition, Processing, Output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Bottom: 7-step scverse-native analysis workflow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Single config drives CosMx / Xenium / MERFISH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60000" y="2880000"/>
            <a:ext cx="9480000" cy="6480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Database Overview</a:t>
            </a:r>
          </a:p>
        </p:txBody>
      </p:sp>
      <p:pic>
        <p:nvPicPr>
          <p:cNvPr id="12" name="Picture 11" descr="fig2_platform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0000" y="3780000"/>
            <a:ext cx="9480000" cy="324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460000" y="7092000"/>
            <a:ext cx="9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F8C8D"/>
                </a:solidFill>
                <a:latin typeface="Calibri"/>
              </a:defRPr>
            </a:pPr>
            <a:r>
              <a:t>Fig 2. Dataset counts by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000" y="7380000"/>
            <a:ext cx="94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2,410+ GEO datasets across 3 platforms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1,019 ready for immediate analysis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269 unique GSE series curated</a:t>
            </a:r>
          </a:p>
        </p:txBody>
      </p:sp>
      <p:pic>
        <p:nvPicPr>
          <p:cNvPr id="15" name="Picture 14" descr="fig3_file_cove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0000" y="8640000"/>
            <a:ext cx="9480000" cy="252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60000" y="11232000"/>
            <a:ext cx="9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F8C8D"/>
                </a:solidFill>
                <a:latin typeface="Calibri"/>
              </a:defRPr>
            </a:pPr>
            <a:r>
              <a:t>Fig 3. Optional file coverage by platform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660000" y="2880000"/>
            <a:ext cx="9480000" cy="64800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Biological Coverage</a:t>
            </a:r>
          </a:p>
        </p:txBody>
      </p:sp>
      <p:pic>
        <p:nvPicPr>
          <p:cNvPr id="18" name="Picture 17" descr="fig4_tissue_d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0000" y="3780000"/>
            <a:ext cx="9480000" cy="432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1660000" y="8172000"/>
            <a:ext cx="9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F8C8D"/>
                </a:solidFill>
                <a:latin typeface="Calibri"/>
              </a:defRPr>
            </a:pPr>
            <a:r>
              <a:t>Fig 4. Top 10 tissues &amp; disease states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60000" y="8460000"/>
            <a:ext cx="948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Brain, breast, lung — most studied tissues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Normal, cancer, Alzheimer's — top disease states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Homo sapiens &amp; Mus musculus datasets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Multi-region sampling for brain &amp; tumor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60000" y="12060000"/>
            <a:ext cx="9480000" cy="6480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 Quality</a:t>
            </a:r>
          </a:p>
        </p:txBody>
      </p:sp>
      <p:pic>
        <p:nvPicPr>
          <p:cNvPr id="22" name="Picture 21" descr="fig5_viol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0000" y="12960000"/>
            <a:ext cx="9480000" cy="36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60000" y="16632000"/>
            <a:ext cx="9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F8C8D"/>
                </a:solidFill>
                <a:latin typeface="Calibri"/>
              </a:defRPr>
            </a:pPr>
            <a:r>
              <a:t>Fig 5. Cross-platform quality metrics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0000" y="16920000"/>
            <a:ext cx="948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Xenium: highest median transcripts (6,093)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MERFISH: largest cell counts (550K max)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CosMx: most consistent gene panel sizes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• All platforms &gt; 1,000 median genes per cell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60000" y="12060000"/>
            <a:ext cx="9480000" cy="648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Case Study</a:t>
            </a:r>
          </a:p>
        </p:txBody>
      </p:sp>
      <p:pic>
        <p:nvPicPr>
          <p:cNvPr id="26" name="Picture 25" descr="fig6_example_outp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60000" y="12960000"/>
            <a:ext cx="9480000" cy="468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60000" y="17712000"/>
            <a:ext cx="9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F8C8D"/>
                </a:solidFill>
                <a:latin typeface="Calibri"/>
              </a:defRPr>
            </a:pPr>
            <a:r>
              <a:t>Fig 6. Alzheimer's disease mouse brain (GSE263791)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60000" y="18000000"/>
            <a:ext cx="94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(a) Spatial — tx counts  (b) UMAP — tx counts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(c) Spatial — clusters   (d) UMAP — clusters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  <a:latin typeface="Calibri"/>
              </a:defRPr>
            </a:pPr>
            <a:r>
              <a:t>821 cells · 41 FOVs · 960-gene panel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660000" y="12060000"/>
            <a:ext cx="9480000" cy="648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Methods &amp;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60000" y="12960000"/>
            <a:ext cx="948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Core Pipeline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CosMx / Xenium / MERFISH ingesters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scverse-native (scanpy + squidpy)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Denoising: basic, sparc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Segmentation: fov_cell_id, cellpose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Annotation: celltypist, SCRIN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Data Infrastructure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GEO: 269 GSEs via NCBI E-utilities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Metadata: DeepSeek LLM enrichment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Touch: file integrity scanning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Stats: zero-I/O streaming counts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20340000"/>
            <a:ext cx="32400000" cy="180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60000" y="20520000"/>
            <a:ext cx="28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Data: GEO &amp; Nanostring/Vizgen/10x Genomics  ·  Code: github.com/zf-li23/SubCellSpace  ·  Poster: Tsinghua University SLS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