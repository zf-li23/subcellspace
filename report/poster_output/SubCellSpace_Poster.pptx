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360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540000"/>
            <a:ext cx="2988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SubCellSpace: A Subcellular Spatial Transcriptomics Database &amp; Analysis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60000" y="2160000"/>
            <a:ext cx="29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BDC3C7"/>
                </a:solidFill>
                <a:latin typeface="Calibri"/>
              </a:defRPr>
            </a:pPr>
            <a:r>
              <a:t>Zhefu Li  ·  Supervisor: Xuerui Yang  ·  Tsinghua University  ·  Jun 2026  ·  github.com/zf-li23/SubCellSpace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60000" y="3780000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1  Platform Construction &amp; Analysis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0000" y="4680000"/>
            <a:ext cx="9900000" cy="11206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SubCellSpace is a unified subcellular spatial transcriptomics (SPT) platform that supports CosMx (NanoString), Xenium (10x Genomics), and MERFISH (Vizgen) with a single end-to-end pipeline. The platform integrates three major phases:</a:t>
            </a:r>
            <a:br/>
            <a:br/>
            <a:r>
              <a:t>1. Data Acquisition — GEO metadata curation via NCBI E-utilities (269 GSE series, 4,478 GSM records), LLM-powered tissue/disease annotation (DeepSeek), and automated file integrity checking through the Touch module.</a:t>
            </a:r>
            <a:br/>
            <a:br/>
            <a:r>
              <a:t>2. Data Processing — Zero-I/O streaming statistics (Stats module) for transcript, cell, and gene counting, followed by the core 6-step scverse-native analysis pipeline: Denoising (basic/SPARC) -&gt; Patchify (grid/hex) -&gt; Segmentation (fov_cell_id/cellpose) -&gt; Domain Detection (spatial_leiden/k-means) -&gt; Clustering (Leiden/Louvain) -&gt; Annotation (celltypist + SCRIN subcellular scoring).</a:t>
            </a:r>
            <a:br/>
            <a:br/>
            <a:r>
              <a:t>3. Output &amp; Visualization — React + TypeScript static frontend with platform-tabbed browsing, HTML report generation with publication-quality figures, and Slurm HPC deployment for batch processing.</a:t>
            </a:r>
            <a:br/>
            <a:br/>
            <a:r>
              <a:t>All three platforms share a single pipeline configuration (config/pipeline.yaml), enabling cross-platform comparative analyses at the subcellular level.</a:t>
            </a:r>
          </a:p>
        </p:txBody>
      </p:sp>
      <p:pic>
        <p:nvPicPr>
          <p:cNvPr id="7" name="Picture 6" descr="fig1_platfor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000" y="4680000"/>
            <a:ext cx="19080000" cy="11206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520000" y="15940206"/>
            <a:ext cx="19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1. End-to-end platform construction pipeline (top) and scverse-native 6-step analysis workflow (bottom)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0000" y="16606206"/>
            <a:ext cx="29880000" cy="7200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2  Database Overview: Composition, Coverage, Biology &amp; Quality</a:t>
            </a:r>
          </a:p>
        </p:txBody>
      </p:sp>
      <p:pic>
        <p:nvPicPr>
          <p:cNvPr id="10" name="Picture 9" descr="fig2_platform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000" y="17506206"/>
            <a:ext cx="5231011" cy="359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0000" y="21160205"/>
            <a:ext cx="5231011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2. Dataset counts</a:t>
            </a:r>
          </a:p>
        </p:txBody>
      </p:sp>
      <p:pic>
        <p:nvPicPr>
          <p:cNvPr id="12" name="Picture 11" descr="fig3_file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010" y="17506206"/>
            <a:ext cx="8205333" cy="359999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43010" y="21160205"/>
            <a:ext cx="820533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3. File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00342" y="17506206"/>
            <a:ext cx="15939658" cy="38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2,410+ GEO entries. Xenium: 1,525 (717 ready), CosMx: 476 (186 ready), MERFISH: 130 (116 ready). 269 GSEs, 4,478 GSM records.</a:t>
            </a:r>
            <a:br/>
            <a:br/>
            <a:r>
              <a:t>CosMx: expression 96%, metadata 99%, FOV positions 100%. Xenium: cell boundaries 74%, nucleus boundaries 60%, gene panels 31%. MERFISH: expression 97%, metadata 98%. Touch module auto-normalizes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0000" y="21394206"/>
            <a:ext cx="14993443" cy="2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50+ tissues, 30+ disease states. Brain, breast, lung, lymph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node most represented. Normal, cancers, Alzheimer's, Parkinson's.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Both H. sapiens and M. musculus.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Xenium: highest transcript counts (181K median).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MERFISH: most cells (18K median, max 550K).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CosMx: 960-gene panels, 35,825 per-cell tx median.</a:t>
            </a:r>
          </a:p>
        </p:txBody>
      </p:sp>
      <p:pic>
        <p:nvPicPr>
          <p:cNvPr id="16" name="Picture 15" descr="fig4_tissue_d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05442" y="21394206"/>
            <a:ext cx="6584016" cy="25199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505442" y="23968205"/>
            <a:ext cx="6584016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4. Tissues &amp; diseases</a:t>
            </a:r>
          </a:p>
        </p:txBody>
      </p:sp>
      <p:pic>
        <p:nvPicPr>
          <p:cNvPr id="18" name="Picture 17" descr="fig5_viol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41457" y="21394206"/>
            <a:ext cx="7798543" cy="251999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341457" y="23968205"/>
            <a:ext cx="7798543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5. Quality 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60000" y="24742206"/>
            <a:ext cx="1548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3  Case Study: Alzheimer's Mouse Brain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820000" y="24742206"/>
            <a:ext cx="13320000" cy="7200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4  Conclusion &amp; Outlook</a:t>
            </a:r>
          </a:p>
        </p:txBody>
      </p:sp>
      <p:pic>
        <p:nvPicPr>
          <p:cNvPr id="22" name="Picture 21" descr="fig6_example_outp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0000" y="25642206"/>
            <a:ext cx="15480000" cy="137835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60000" y="39479767"/>
            <a:ext cx="15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7F8C8D"/>
                </a:solidFill>
                <a:latin typeface="Calibri"/>
              </a:defRPr>
            </a:pPr>
            <a:r>
              <a:t>Fig 6. GSE263791 — 5xFAD mouse hippocampus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0000" y="39641767"/>
            <a:ext cx="154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C3E50"/>
                </a:solidFill>
                <a:latin typeface="Calibri"/>
              </a:defRPr>
            </a:pPr>
            <a:r>
              <a:t>5xFAD Alzheimer's model (821 cells, 41 FOVs, 960 genes). (a) Spatial transcript counts: hippocampal regional differences. (b) UMAP by transcript count. (c) Leiden: 8 cell populations. (d) UMAP cluster validation. Microglia-astrocyte cross-talk in amyloid plaque niches revealed by spatial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20000" y="25642206"/>
            <a:ext cx="13320000" cy="13783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Key Achievements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Unified platform for CosMx, Xenium,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  and MERFISH spatial transcriptomics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2,410+ GEO datasets curated &amp; processed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  (269 GSEs, 4,478 GSM records)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50+ tissue types, 30+ disease states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Single config drives all 3 platforms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Touch + Stats: data integrity assurance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React static browser, no backend needed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Future Directions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Process 3,000+ pending GEO datasets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Multi-sample integrative analysis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Spatial multi-omics data support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Cloud-deployed pipeline (Docker/Singularity)</a:t>
            </a:r>
          </a:p>
          <a:p>
            <a:pPr>
              <a:spcAft>
                <a:spcPts val="200"/>
              </a:spcAft>
              <a:defRPr sz="2800">
                <a:solidFill>
                  <a:srgbClr val="2C3E50"/>
                </a:solidFill>
                <a:latin typeface="Calibri"/>
              </a:defRPr>
            </a:pPr>
            <a:r>
              <a:t>• Community dataset registry with DOI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42120000"/>
            <a:ext cx="32400000" cy="1080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60000" y="42300000"/>
            <a:ext cx="29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Data: GEO (NCBI)  ·  Code: github.com/zf-li23/SubCellSpace (MIT)  ·  Tools: scanpy, squidpy, spatialdata, SCRIN, CellTypist  ·  Poster: Tsinghua University SLS Undergraduate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