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42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60000" y="648000"/>
            <a:ext cx="29880000" cy="1260000"/>
          </a:xfrm>
          <a:prstGeom prst="rect">
            <a:avLst/>
          </a:prstGeom>
          <a:noFill/>
        </p:spPr>
        <p:txBody>
          <a:bodyPr wrap="square">
            <a:spAutoFit/>
          </a:bodyPr>
          <a:lstStyle/>
          <a:p>
            <a:pPr algn="ctr">
              <a:defRPr sz="5200" b="1">
                <a:solidFill>
                  <a:srgbClr val="FFFFFF"/>
                </a:solidFill>
                <a:latin typeface="Calibri"/>
              </a:defRPr>
            </a:pPr>
            <a:r>
              <a:t>SubCellSpace: A Unified Platform for</a:t>
            </a:r>
            <a:br/>
            <a:r>
              <a:t>Subcellular Spatial Transcriptomics</a:t>
            </a:r>
          </a:p>
        </p:txBody>
      </p:sp>
      <p:sp>
        <p:nvSpPr>
          <p:cNvPr id="4" name="TextBox 3"/>
          <p:cNvSpPr txBox="1"/>
          <p:nvPr/>
        </p:nvSpPr>
        <p:spPr>
          <a:xfrm>
            <a:off x="1260000" y="2088000"/>
            <a:ext cx="29880000" cy="540000"/>
          </a:xfrm>
          <a:prstGeom prst="rect">
            <a:avLst/>
          </a:prstGeom>
          <a:noFill/>
        </p:spPr>
        <p:txBody>
          <a:bodyPr wrap="square">
            <a:spAutoFit/>
          </a:bodyPr>
          <a:lstStyle/>
          <a:p>
            <a:pPr algn="ctr">
              <a:defRPr sz="2600" b="0">
                <a:solidFill>
                  <a:srgbClr val="BDC3C7"/>
                </a:solidFill>
                <a:latin typeface="Calibri"/>
              </a:defRPr>
            </a:pPr>
            <a:r>
              <a:t>Zhefu Li  ·  Tsinghua University, School of Life Sciences  ·  Jun 2026</a:t>
            </a:r>
          </a:p>
        </p:txBody>
      </p:sp>
      <p:sp>
        <p:nvSpPr>
          <p:cNvPr id="5" name="TextBox 4"/>
          <p:cNvSpPr txBox="1"/>
          <p:nvPr/>
        </p:nvSpPr>
        <p:spPr>
          <a:xfrm>
            <a:off x="1260000" y="2700000"/>
            <a:ext cx="29880000" cy="432000"/>
          </a:xfrm>
          <a:prstGeom prst="rect">
            <a:avLst/>
          </a:prstGeom>
          <a:noFill/>
        </p:spPr>
        <p:txBody>
          <a:bodyPr wrap="square">
            <a:spAutoFit/>
          </a:bodyPr>
          <a:lstStyle/>
          <a:p>
            <a:pPr algn="ctr">
              <a:defRPr sz="1800" b="0">
                <a:solidFill>
                  <a:srgbClr val="95A5A6"/>
                </a:solidFill>
                <a:latin typeface="Calibri"/>
              </a:defRPr>
            </a:pPr>
            <a:r>
              <a:t>github.com/zf-li23/SubCellSpace  |  Data: GEO (269 GSEs) + Public Repositories</a:t>
            </a:r>
          </a:p>
        </p:txBody>
      </p:sp>
      <p:sp>
        <p:nvSpPr>
          <p:cNvPr id="6" name="Rounded Rectangle 5"/>
          <p:cNvSpPr/>
          <p:nvPr/>
        </p:nvSpPr>
        <p:spPr>
          <a:xfrm>
            <a:off x="1260000" y="360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400" b="1">
                <a:solidFill>
                  <a:srgbClr val="FFFFFF"/>
                </a:solidFill>
                <a:latin typeface="Calibri"/>
              </a:defRPr>
            </a:pPr>
            <a:r>
              <a:t>1  Platform Construction &amp; Analysis Pipeline</a:t>
            </a:r>
          </a:p>
        </p:txBody>
      </p:sp>
      <p:sp>
        <p:nvSpPr>
          <p:cNvPr id="7" name="TextBox 6"/>
          <p:cNvSpPr txBox="1"/>
          <p:nvPr/>
        </p:nvSpPr>
        <p:spPr>
          <a:xfrm>
            <a:off x="1260000" y="4500000"/>
            <a:ext cx="14580000" cy="8457514"/>
          </a:xfrm>
          <a:prstGeom prst="rect">
            <a:avLst/>
          </a:prstGeom>
          <a:noFill/>
        </p:spPr>
        <p:txBody>
          <a:bodyPr wrap="square">
            <a:spAutoFit/>
          </a:bodyPr>
          <a:lstStyle/>
          <a:p>
            <a:pPr algn="l">
              <a:defRPr sz="1900" b="0">
                <a:solidFill>
                  <a:srgbClr val="2C3E50"/>
                </a:solidFill>
                <a:latin typeface="Calibri"/>
              </a:defRPr>
            </a:pPr>
            <a:r>
              <a:t>SubCellSpace is a unified subcellular spatial transcriptomics platform supporting CosMx, Xenium, and MERFISH with a single 6-step analysis pipeline.</a:t>
            </a:r>
            <a:br/>
            <a:br/>
            <a:r>
              <a:t>Database: 2,410+ GEO entries (269 GSEs) + 998 non-GEO public datasets, all uniformly processed through the same pipeline.</a:t>
            </a:r>
            <a:br/>
            <a:br/>
            <a:r>
              <a:t>Platform pipeline (top): GEO Download → Metadata Curation (E-utilities GSM) → LLM Annotation (DeepSeek) → Touch Integrity Check → Stats Streaming → Frontend Browser (React) → HTML Report.</a:t>
            </a:r>
            <a:br/>
            <a:br/>
            <a:r>
              <a:t>Analysis pipeline (bottom): Denoise → Patchify → Segment (fov_cell_id/cellpose) → Domain Detection → Leiden Clustering → celltypist/SCRIN Annotation → Spatial Autocorrelation (Moran's I / Geary's C).</a:t>
            </a:r>
          </a:p>
        </p:txBody>
      </p:sp>
      <p:pic>
        <p:nvPicPr>
          <p:cNvPr id="8" name="Picture 7" descr="fig1_platform_pipeline.png"/>
          <p:cNvPicPr>
            <a:picLocks noChangeAspect="1"/>
          </p:cNvPicPr>
          <p:nvPr/>
        </p:nvPicPr>
        <p:blipFill>
          <a:blip r:embed="rId2"/>
          <a:stretch>
            <a:fillRect/>
          </a:stretch>
        </p:blipFill>
        <p:spPr>
          <a:xfrm>
            <a:off x="16200000" y="4500000"/>
            <a:ext cx="14400000" cy="8457514"/>
          </a:xfrm>
          <a:prstGeom prst="rect">
            <a:avLst/>
          </a:prstGeom>
        </p:spPr>
      </p:pic>
      <p:sp>
        <p:nvSpPr>
          <p:cNvPr id="9" name="TextBox 8"/>
          <p:cNvSpPr txBox="1"/>
          <p:nvPr/>
        </p:nvSpPr>
        <p:spPr>
          <a:xfrm>
            <a:off x="16200000" y="13011514"/>
            <a:ext cx="14400000" cy="288000"/>
          </a:xfrm>
          <a:prstGeom prst="rect">
            <a:avLst/>
          </a:prstGeom>
          <a:noFill/>
        </p:spPr>
        <p:txBody>
          <a:bodyPr wrap="square">
            <a:spAutoFit/>
          </a:bodyPr>
          <a:lstStyle/>
          <a:p>
            <a:pPr algn="l">
              <a:defRPr sz="1600" b="0">
                <a:solidFill>
                  <a:srgbClr val="7F8C8D"/>
                </a:solidFill>
                <a:latin typeface="Calibri"/>
              </a:defRPr>
            </a:pPr>
            <a:r>
              <a:t>Fig 1. End-to-end pipeline: construction + analysis</a:t>
            </a:r>
          </a:p>
        </p:txBody>
      </p:sp>
      <p:sp>
        <p:nvSpPr>
          <p:cNvPr id="10" name="Rounded Rectangle 9"/>
          <p:cNvSpPr/>
          <p:nvPr/>
        </p:nvSpPr>
        <p:spPr>
          <a:xfrm>
            <a:off x="1260000" y="13677514"/>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400" b="1">
                <a:solidFill>
                  <a:srgbClr val="FFFFFF"/>
                </a:solidFill>
                <a:latin typeface="Calibri"/>
              </a:defRPr>
            </a:pPr>
            <a:r>
              <a:t>2–5  Database Overview: Composition, Coverage, Biology &amp; Quality</a:t>
            </a:r>
          </a:p>
        </p:txBody>
      </p:sp>
      <p:pic>
        <p:nvPicPr>
          <p:cNvPr id="11" name="Picture 10" descr="fig2_platform_counts.png"/>
          <p:cNvPicPr>
            <a:picLocks noChangeAspect="1"/>
          </p:cNvPicPr>
          <p:nvPr/>
        </p:nvPicPr>
        <p:blipFill>
          <a:blip r:embed="rId3"/>
          <a:stretch>
            <a:fillRect/>
          </a:stretch>
        </p:blipFill>
        <p:spPr>
          <a:xfrm>
            <a:off x="1260000" y="14577514"/>
            <a:ext cx="6800314" cy="4679999"/>
          </a:xfrm>
          <a:prstGeom prst="rect">
            <a:avLst/>
          </a:prstGeom>
        </p:spPr>
      </p:pic>
      <p:sp>
        <p:nvSpPr>
          <p:cNvPr id="12" name="TextBox 11"/>
          <p:cNvSpPr txBox="1"/>
          <p:nvPr/>
        </p:nvSpPr>
        <p:spPr>
          <a:xfrm>
            <a:off x="1260000" y="19311513"/>
            <a:ext cx="6800314" cy="288000"/>
          </a:xfrm>
          <a:prstGeom prst="rect">
            <a:avLst/>
          </a:prstGeom>
          <a:noFill/>
        </p:spPr>
        <p:txBody>
          <a:bodyPr wrap="square">
            <a:spAutoFit/>
          </a:bodyPr>
          <a:lstStyle/>
          <a:p>
            <a:pPr algn="l">
              <a:defRPr sz="1600" b="0">
                <a:solidFill>
                  <a:srgbClr val="7F8C8D"/>
                </a:solidFill>
                <a:latin typeface="Calibri"/>
              </a:defRPr>
            </a:pPr>
            <a:r>
              <a:t>Fig 2. Dataset counts by platform</a:t>
            </a:r>
          </a:p>
        </p:txBody>
      </p:sp>
      <p:pic>
        <p:nvPicPr>
          <p:cNvPr id="13" name="Picture 12" descr="fig3_file_coverage.png"/>
          <p:cNvPicPr>
            <a:picLocks noChangeAspect="1"/>
          </p:cNvPicPr>
          <p:nvPr/>
        </p:nvPicPr>
        <p:blipFill>
          <a:blip r:embed="rId4"/>
          <a:stretch>
            <a:fillRect/>
          </a:stretch>
        </p:blipFill>
        <p:spPr>
          <a:xfrm>
            <a:off x="1260000" y="19437514"/>
            <a:ext cx="10666933" cy="4679999"/>
          </a:xfrm>
          <a:prstGeom prst="rect">
            <a:avLst/>
          </a:prstGeom>
        </p:spPr>
      </p:pic>
      <p:sp>
        <p:nvSpPr>
          <p:cNvPr id="14" name="TextBox 13"/>
          <p:cNvSpPr txBox="1"/>
          <p:nvPr/>
        </p:nvSpPr>
        <p:spPr>
          <a:xfrm>
            <a:off x="1260000" y="24171513"/>
            <a:ext cx="10666933" cy="288000"/>
          </a:xfrm>
          <a:prstGeom prst="rect">
            <a:avLst/>
          </a:prstGeom>
          <a:noFill/>
        </p:spPr>
        <p:txBody>
          <a:bodyPr wrap="square">
            <a:spAutoFit/>
          </a:bodyPr>
          <a:lstStyle/>
          <a:p>
            <a:pPr algn="l">
              <a:defRPr sz="1600" b="0">
                <a:solidFill>
                  <a:srgbClr val="7F8C8D"/>
                </a:solidFill>
                <a:latin typeface="Calibri"/>
              </a:defRPr>
            </a:pPr>
            <a:r>
              <a:t>Fig 3. Optional file coverage</a:t>
            </a:r>
          </a:p>
        </p:txBody>
      </p:sp>
      <p:sp>
        <p:nvSpPr>
          <p:cNvPr id="15" name="TextBox 14"/>
          <p:cNvSpPr txBox="1"/>
          <p:nvPr/>
        </p:nvSpPr>
        <p:spPr>
          <a:xfrm>
            <a:off x="12286933" y="14577514"/>
            <a:ext cx="2473067" cy="9539999"/>
          </a:xfrm>
          <a:prstGeom prst="rect">
            <a:avLst/>
          </a:prstGeom>
          <a:noFill/>
        </p:spPr>
        <p:txBody>
          <a:bodyPr wrap="square">
            <a:spAutoFit/>
          </a:bodyPr>
          <a:lstStyle/>
          <a:p>
            <a:pPr algn="l">
              <a:defRPr sz="1700" b="0">
                <a:solidFill>
                  <a:srgbClr val="2C3E50"/>
                </a:solidFill>
                <a:latin typeface="Calibri"/>
              </a:defRPr>
            </a:pPr>
            <a:r>
              <a:t>2,410+ GEO entries. Xenium: 1,525 (717 ready), CosMx: 476 (186 ready), MERFISH: 130 (116 ready). 269 GSEs, 4,478 GSM records curated.</a:t>
            </a:r>
            <a:br/>
            <a:br/>
            <a:r>
              <a:t>CosMx: expression 96%, metadata 99%, FOV 100%. Xenium: cell boundaries 74%, nucleus 60%, gene panel 31%. MERFISH: expression 97%, metadata 98%.</a:t>
            </a:r>
          </a:p>
        </p:txBody>
      </p:sp>
      <p:sp>
        <p:nvSpPr>
          <p:cNvPr id="16" name="TextBox 15"/>
          <p:cNvSpPr txBox="1"/>
          <p:nvPr/>
        </p:nvSpPr>
        <p:spPr>
          <a:xfrm>
            <a:off x="17460000" y="14577514"/>
            <a:ext cx="3113301" cy="6659999"/>
          </a:xfrm>
          <a:prstGeom prst="rect">
            <a:avLst/>
          </a:prstGeom>
          <a:noFill/>
        </p:spPr>
        <p:txBody>
          <a:bodyPr wrap="square">
            <a:spAutoFit/>
          </a:bodyPr>
          <a:lstStyle/>
          <a:p>
            <a:pPr algn="l">
              <a:defRPr sz="1700" b="0">
                <a:solidFill>
                  <a:srgbClr val="2C3E50"/>
                </a:solidFill>
                <a:latin typeface="Calibri"/>
              </a:defRPr>
            </a:pPr>
            <a:r>
              <a:t>50+ tissues, 30+ disease states. Brain, breast, lung, lymph node most represented. Normal, cancers, Alzheimer's.</a:t>
            </a:r>
            <a:br/>
            <a:br/>
            <a:r>
              <a:t>Xenium: highest transcripts (181K median), 6,522-gene panels. MERFISH: most cells (18K median, 550K max). CosMx: 960-gene panels, 35,825 per-cell transcripts.</a:t>
            </a:r>
          </a:p>
        </p:txBody>
      </p:sp>
      <p:pic>
        <p:nvPicPr>
          <p:cNvPr id="17" name="Picture 16" descr="fig4_tissue_dist.png"/>
          <p:cNvPicPr>
            <a:picLocks noChangeAspect="1"/>
          </p:cNvPicPr>
          <p:nvPr/>
        </p:nvPicPr>
        <p:blipFill>
          <a:blip r:embed="rId5"/>
          <a:stretch>
            <a:fillRect/>
          </a:stretch>
        </p:blipFill>
        <p:spPr>
          <a:xfrm>
            <a:off x="20933301" y="14577514"/>
            <a:ext cx="8465163" cy="3239999"/>
          </a:xfrm>
          <a:prstGeom prst="rect">
            <a:avLst/>
          </a:prstGeom>
        </p:spPr>
      </p:pic>
      <p:sp>
        <p:nvSpPr>
          <p:cNvPr id="18" name="TextBox 17"/>
          <p:cNvSpPr txBox="1"/>
          <p:nvPr/>
        </p:nvSpPr>
        <p:spPr>
          <a:xfrm>
            <a:off x="20933301" y="17871513"/>
            <a:ext cx="8465163" cy="288000"/>
          </a:xfrm>
          <a:prstGeom prst="rect">
            <a:avLst/>
          </a:prstGeom>
          <a:noFill/>
        </p:spPr>
        <p:txBody>
          <a:bodyPr wrap="square">
            <a:spAutoFit/>
          </a:bodyPr>
          <a:lstStyle/>
          <a:p>
            <a:pPr algn="l">
              <a:defRPr sz="1600" b="0">
                <a:solidFill>
                  <a:srgbClr val="7F8C8D"/>
                </a:solidFill>
                <a:latin typeface="Calibri"/>
              </a:defRPr>
            </a:pPr>
            <a:r>
              <a:t>Fig 4. Top 10 tissues &amp; diseases</a:t>
            </a:r>
          </a:p>
        </p:txBody>
      </p:sp>
      <p:pic>
        <p:nvPicPr>
          <p:cNvPr id="19" name="Picture 18" descr="fig5_violins.png"/>
          <p:cNvPicPr>
            <a:picLocks noChangeAspect="1"/>
          </p:cNvPicPr>
          <p:nvPr/>
        </p:nvPicPr>
        <p:blipFill>
          <a:blip r:embed="rId6"/>
          <a:stretch>
            <a:fillRect/>
          </a:stretch>
        </p:blipFill>
        <p:spPr>
          <a:xfrm>
            <a:off x="20933301" y="17997514"/>
            <a:ext cx="10026699" cy="3239999"/>
          </a:xfrm>
          <a:prstGeom prst="rect">
            <a:avLst/>
          </a:prstGeom>
        </p:spPr>
      </p:pic>
      <p:sp>
        <p:nvSpPr>
          <p:cNvPr id="20" name="TextBox 19"/>
          <p:cNvSpPr txBox="1"/>
          <p:nvPr/>
        </p:nvSpPr>
        <p:spPr>
          <a:xfrm>
            <a:off x="20933301" y="21291513"/>
            <a:ext cx="10026699" cy="288000"/>
          </a:xfrm>
          <a:prstGeom prst="rect">
            <a:avLst/>
          </a:prstGeom>
          <a:noFill/>
        </p:spPr>
        <p:txBody>
          <a:bodyPr wrap="square">
            <a:spAutoFit/>
          </a:bodyPr>
          <a:lstStyle/>
          <a:p>
            <a:pPr algn="l">
              <a:defRPr sz="1600" b="0">
                <a:solidFill>
                  <a:srgbClr val="7F8C8D"/>
                </a:solidFill>
                <a:latin typeface="Calibri"/>
              </a:defRPr>
            </a:pPr>
            <a:r>
              <a:t>Fig 5. Cross-platform quality (log₁₀)</a:t>
            </a:r>
          </a:p>
        </p:txBody>
      </p:sp>
      <p:sp>
        <p:nvSpPr>
          <p:cNvPr id="21" name="Rounded Rectangle 20"/>
          <p:cNvSpPr/>
          <p:nvPr/>
        </p:nvSpPr>
        <p:spPr>
          <a:xfrm>
            <a:off x="1260000" y="24837513"/>
            <a:ext cx="298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400" b="1">
                <a:solidFill>
                  <a:srgbClr val="FFFFFF"/>
                </a:solidFill>
                <a:latin typeface="Calibri"/>
              </a:defRPr>
            </a:pPr>
            <a:r>
              <a:t>6  Case Study: Alzheimer's Mouse Brain  |  7  Conclusion &amp; Outlook</a:t>
            </a:r>
          </a:p>
        </p:txBody>
      </p:sp>
      <p:pic>
        <p:nvPicPr>
          <p:cNvPr id="22" name="Picture 21" descr="fig6_example_output.png"/>
          <p:cNvPicPr>
            <a:picLocks noChangeAspect="1"/>
          </p:cNvPicPr>
          <p:nvPr/>
        </p:nvPicPr>
        <p:blipFill>
          <a:blip r:embed="rId7"/>
          <a:stretch>
            <a:fillRect/>
          </a:stretch>
        </p:blipFill>
        <p:spPr>
          <a:xfrm>
            <a:off x="1260000" y="25737513"/>
            <a:ext cx="10800000" cy="9616438"/>
          </a:xfrm>
          <a:prstGeom prst="rect">
            <a:avLst/>
          </a:prstGeom>
        </p:spPr>
      </p:pic>
      <p:sp>
        <p:nvSpPr>
          <p:cNvPr id="23" name="TextBox 22"/>
          <p:cNvSpPr txBox="1"/>
          <p:nvPr/>
        </p:nvSpPr>
        <p:spPr>
          <a:xfrm>
            <a:off x="1260000" y="35407951"/>
            <a:ext cx="10800000" cy="288000"/>
          </a:xfrm>
          <a:prstGeom prst="rect">
            <a:avLst/>
          </a:prstGeom>
          <a:noFill/>
        </p:spPr>
        <p:txBody>
          <a:bodyPr wrap="square">
            <a:spAutoFit/>
          </a:bodyPr>
          <a:lstStyle/>
          <a:p>
            <a:pPr algn="l">
              <a:defRPr sz="1600" b="0">
                <a:solidFill>
                  <a:srgbClr val="7F8C8D"/>
                </a:solidFill>
                <a:latin typeface="Calibri"/>
              </a:defRPr>
            </a:pPr>
            <a:r>
              <a:t>Fig 6. GSE263791 — 5xFAD mouse hippocampus (821 cells, 41 FOVs)</a:t>
            </a:r>
          </a:p>
        </p:txBody>
      </p:sp>
      <p:sp>
        <p:nvSpPr>
          <p:cNvPr id="24" name="TextBox 23"/>
          <p:cNvSpPr txBox="1"/>
          <p:nvPr/>
        </p:nvSpPr>
        <p:spPr>
          <a:xfrm>
            <a:off x="12420000" y="25737513"/>
            <a:ext cx="2880000" cy="9616438"/>
          </a:xfrm>
          <a:prstGeom prst="rect">
            <a:avLst/>
          </a:prstGeom>
          <a:noFill/>
        </p:spPr>
        <p:txBody>
          <a:bodyPr wrap="square">
            <a:spAutoFit/>
          </a:bodyPr>
          <a:lstStyle/>
          <a:p>
            <a:pPr algn="l">
              <a:defRPr sz="1800" b="0">
                <a:solidFill>
                  <a:srgbClr val="2C3E50"/>
                </a:solidFill>
                <a:latin typeface="Calibri"/>
              </a:defRPr>
            </a:pPr>
            <a:r>
              <a:t>(a) Spatial transcript: hippocampal regional differences.</a:t>
            </a:r>
            <a:br/>
            <a:r>
              <a:t>(b) UMAP: continuous expression gradients.</a:t>
            </a:r>
            <a:br/>
            <a:r>
              <a:t>(c) Leiden: 8 cell populations, spatial organization.</a:t>
            </a:r>
            <a:br/>
            <a:r>
              <a:t>(d) UMAP: neuronal &amp; glial subtypes.</a:t>
            </a:r>
            <a:br/>
            <a:br/>
            <a:r>
              <a:t>Microglia-astrocyte cross-talk in amyloid</a:t>
            </a:r>
            <a:br/>
            <a:r>
              <a:t>plaque niches revealed by spatial context.</a:t>
            </a:r>
          </a:p>
        </p:txBody>
      </p:sp>
      <p:sp>
        <p:nvSpPr>
          <p:cNvPr id="25" name="TextBox 24"/>
          <p:cNvSpPr txBox="1"/>
          <p:nvPr/>
        </p:nvSpPr>
        <p:spPr>
          <a:xfrm>
            <a:off x="17100000" y="25737513"/>
            <a:ext cx="14040000" cy="9616438"/>
          </a:xfrm>
          <a:prstGeom prst="rect">
            <a:avLst/>
          </a:prstGeom>
          <a:noFill/>
        </p:spPr>
        <p:txBody>
          <a:bodyPr wrap="square">
            <a:spAutoFit/>
          </a:bodyPr>
          <a:lstStyle/>
          <a:p>
            <a:pPr>
              <a:spcAft>
                <a:spcPts val="200"/>
              </a:spcAft>
              <a:defRPr sz="1800">
                <a:solidFill>
                  <a:srgbClr val="2C3E50"/>
                </a:solidFill>
                <a:latin typeface="Calibri"/>
              </a:defRPr>
            </a:pPr>
            <a:r>
              <a:t>Key Achievements</a:t>
            </a:r>
          </a:p>
          <a:p>
            <a:pPr>
              <a:spcAft>
                <a:spcPts val="200"/>
              </a:spcAft>
              <a:defRPr sz="1800">
                <a:solidFill>
                  <a:srgbClr val="2C3E50"/>
                </a:solidFill>
                <a:latin typeface="Calibri"/>
              </a:defRPr>
            </a:pPr>
          </a:p>
          <a:p>
            <a:pPr>
              <a:spcAft>
                <a:spcPts val="200"/>
              </a:spcAft>
              <a:defRPr sz="1800">
                <a:solidFill>
                  <a:srgbClr val="2C3E50"/>
                </a:solidFill>
                <a:latin typeface="Calibri"/>
              </a:defRPr>
            </a:pPr>
            <a:r>
              <a:t>• Unified platform for 3 major SPT platforms</a:t>
            </a:r>
          </a:p>
          <a:p>
            <a:pPr>
              <a:spcAft>
                <a:spcPts val="200"/>
              </a:spcAft>
              <a:defRPr sz="1800">
                <a:solidFill>
                  <a:srgbClr val="2C3E50"/>
                </a:solidFill>
                <a:latin typeface="Calibri"/>
              </a:defRPr>
            </a:pPr>
            <a:r>
              <a:t>• 2,410+ GEO datasets curated &amp; processed</a:t>
            </a:r>
          </a:p>
          <a:p>
            <a:pPr>
              <a:spcAft>
                <a:spcPts val="200"/>
              </a:spcAft>
              <a:defRPr sz="1800">
                <a:solidFill>
                  <a:srgbClr val="2C3E50"/>
                </a:solidFill>
                <a:latin typeface="Calibri"/>
              </a:defRPr>
            </a:pPr>
            <a:r>
              <a:t>• 50+ tissues, 30+ disease states covered</a:t>
            </a:r>
          </a:p>
          <a:p>
            <a:pPr>
              <a:spcAft>
                <a:spcPts val="200"/>
              </a:spcAft>
              <a:defRPr sz="1800">
                <a:solidFill>
                  <a:srgbClr val="2C3E50"/>
                </a:solidFill>
                <a:latin typeface="Calibri"/>
              </a:defRPr>
            </a:pPr>
            <a:r>
              <a:t>• Single pipeline: CosMx / Xenium / MERFISH</a:t>
            </a:r>
          </a:p>
          <a:p>
            <a:pPr>
              <a:spcAft>
                <a:spcPts val="200"/>
              </a:spcAft>
              <a:defRPr sz="1800">
                <a:solidFill>
                  <a:srgbClr val="2C3E50"/>
                </a:solidFill>
                <a:latin typeface="Calibri"/>
              </a:defRPr>
            </a:pPr>
            <a:r>
              <a:t>• Touch + Stats: data integrity &amp; quality</a:t>
            </a:r>
          </a:p>
          <a:p>
            <a:pPr>
              <a:spcAft>
                <a:spcPts val="200"/>
              </a:spcAft>
              <a:defRPr sz="1800">
                <a:solidFill>
                  <a:srgbClr val="2C3E50"/>
                </a:solidFill>
                <a:latin typeface="Calibri"/>
              </a:defRPr>
            </a:pPr>
            <a:r>
              <a:t>• React static browser (no backend needed)</a:t>
            </a:r>
          </a:p>
          <a:p>
            <a:pPr>
              <a:spcAft>
                <a:spcPts val="200"/>
              </a:spcAft>
              <a:defRPr sz="1800">
                <a:solidFill>
                  <a:srgbClr val="2C3E50"/>
                </a:solidFill>
                <a:latin typeface="Calibri"/>
              </a:defRPr>
            </a:pPr>
          </a:p>
          <a:p>
            <a:pPr>
              <a:spcAft>
                <a:spcPts val="200"/>
              </a:spcAft>
              <a:defRPr sz="1800">
                <a:solidFill>
                  <a:srgbClr val="2C3E50"/>
                </a:solidFill>
                <a:latin typeface="Calibri"/>
              </a:defRPr>
            </a:pPr>
            <a:r>
              <a:t>Future Directions</a:t>
            </a:r>
          </a:p>
          <a:p>
            <a:pPr>
              <a:spcAft>
                <a:spcPts val="200"/>
              </a:spcAft>
              <a:defRPr sz="1800">
                <a:solidFill>
                  <a:srgbClr val="2C3E50"/>
                </a:solidFill>
                <a:latin typeface="Calibri"/>
              </a:defRPr>
            </a:pPr>
          </a:p>
          <a:p>
            <a:pPr>
              <a:spcAft>
                <a:spcPts val="200"/>
              </a:spcAft>
              <a:defRPr sz="1800">
                <a:solidFill>
                  <a:srgbClr val="2C3E50"/>
                </a:solidFill>
                <a:latin typeface="Calibri"/>
              </a:defRPr>
            </a:pPr>
            <a:r>
              <a:t>• Expand pending GEO datasets (3,000+)</a:t>
            </a:r>
          </a:p>
          <a:p>
            <a:pPr>
              <a:spcAft>
                <a:spcPts val="200"/>
              </a:spcAft>
              <a:defRPr sz="1800">
                <a:solidFill>
                  <a:srgbClr val="2C3E50"/>
                </a:solidFill>
                <a:latin typeface="Calibri"/>
              </a:defRPr>
            </a:pPr>
            <a:r>
              <a:t>• Multi-sample integrative analysis</a:t>
            </a:r>
          </a:p>
          <a:p>
            <a:pPr>
              <a:spcAft>
                <a:spcPts val="200"/>
              </a:spcAft>
              <a:defRPr sz="1800">
                <a:solidFill>
                  <a:srgbClr val="2C3E50"/>
                </a:solidFill>
                <a:latin typeface="Calibri"/>
              </a:defRPr>
            </a:pPr>
            <a:r>
              <a:t>• Spatial multi-omics data support</a:t>
            </a:r>
          </a:p>
          <a:p>
            <a:pPr>
              <a:spcAft>
                <a:spcPts val="200"/>
              </a:spcAft>
              <a:defRPr sz="1800">
                <a:solidFill>
                  <a:srgbClr val="2C3E50"/>
                </a:solidFill>
                <a:latin typeface="Calibri"/>
              </a:defRPr>
            </a:pPr>
            <a:r>
              <a:t>• Cloud-deployed analysis pipeline</a:t>
            </a:r>
          </a:p>
          <a:p>
            <a:pPr>
              <a:spcAft>
                <a:spcPts val="200"/>
              </a:spcAft>
              <a:defRPr sz="1800">
                <a:solidFill>
                  <a:srgbClr val="2C3E50"/>
                </a:solidFill>
                <a:latin typeface="Calibri"/>
              </a:defRPr>
            </a:pPr>
            <a:r>
              <a:t>• Community-contributed dataset registry</a:t>
            </a:r>
          </a:p>
        </p:txBody>
      </p:sp>
      <p:sp>
        <p:nvSpPr>
          <p:cNvPr id="26" name="TextBox 25"/>
          <p:cNvSpPr txBox="1"/>
          <p:nvPr/>
        </p:nvSpPr>
        <p:spPr>
          <a:xfrm>
            <a:off x="1260000" y="35713951"/>
            <a:ext cx="29880000" cy="1080000"/>
          </a:xfrm>
          <a:prstGeom prst="rect">
            <a:avLst/>
          </a:prstGeom>
          <a:noFill/>
        </p:spPr>
        <p:txBody>
          <a:bodyPr wrap="square">
            <a:spAutoFit/>
          </a:bodyPr>
          <a:lstStyle/>
          <a:p>
            <a:pPr algn="l">
              <a:defRPr sz="1900" b="0">
                <a:solidFill>
                  <a:srgbClr val="2C3E50"/>
                </a:solidFill>
                <a:latin typeface="Calibri"/>
              </a:defRPr>
            </a:pPr>
            <a:r>
              <a:t>5xFAD Alzheimer's model (GSE263791). The pipeline reveals spatially organized cell populations in the hippocampus, with distinct transcriptomic signatures in dentate gyrus vs. CA regions. Leiden clustering identifies neuronal subtypes and glial populations relevant to Alzheimer's pathology.</a:t>
            </a:r>
          </a:p>
        </p:txBody>
      </p:sp>
      <p:sp>
        <p:nvSpPr>
          <p:cNvPr id="27" name="Rectangle 26"/>
          <p:cNvSpPr/>
          <p:nvPr/>
        </p:nvSpPr>
        <p:spPr>
          <a:xfrm>
            <a:off x="0" y="41400000"/>
            <a:ext cx="32400000" cy="180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60000" y="41580000"/>
            <a:ext cx="29880000" cy="432000"/>
          </a:xfrm>
          <a:prstGeom prst="rect">
            <a:avLst/>
          </a:prstGeom>
          <a:noFill/>
        </p:spPr>
        <p:txBody>
          <a:bodyPr wrap="square">
            <a:spAutoFit/>
          </a:bodyPr>
          <a:lstStyle/>
          <a:p>
            <a:pPr algn="ctr">
              <a:defRPr sz="1600" b="0">
                <a:solidFill>
                  <a:srgbClr val="FFFFFF"/>
                </a:solidFill>
                <a:latin typeface="Calibri"/>
              </a:defRPr>
            </a:pPr>
            <a:r>
              <a:t>Data: GEO (NCBI)  ·  Code: github.com/zf-li23/SubCellSpace (MIT)  ·  Tools: scanpy, squidpy, spatialdata, SCRIN, CellTypist  ·  Poster: Tsinghua University SLS Undergraduate Research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