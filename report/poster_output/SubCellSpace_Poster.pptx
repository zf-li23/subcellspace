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2400000" cy="432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0" cy="3420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60000" y="648000"/>
            <a:ext cx="29880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SubCellSpace: A Unified Platform for</a:t>
            </a:r>
            <a:br/>
            <a:r>
              <a:t>Subcellular Spatial Transcriptomics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60000" y="2088000"/>
            <a:ext cx="298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BDC3C7"/>
                </a:solidFill>
                <a:latin typeface="Calibri"/>
              </a:defRPr>
            </a:pPr>
            <a:r>
              <a:t>Zhefu Li  ·  Tsinghua University, School of Life Sciences  ·  Jun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0000" y="2700000"/>
            <a:ext cx="298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5A5A6"/>
                </a:solidFill>
                <a:latin typeface="Calibri"/>
              </a:defRPr>
            </a:pPr>
            <a:r>
              <a:t>github.com/zf-li23/SubCellSpace  |  Data: GEO (269 GSEs) + Public Repositories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60000" y="3600000"/>
            <a:ext cx="29880000" cy="720000"/>
          </a:xfrm>
          <a:prstGeom prst="round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FFFFFF"/>
                </a:solidFill>
                <a:latin typeface="Calibri"/>
              </a:defRPr>
            </a:pPr>
            <a:r>
              <a:t>1  Platform Construction &amp; Analysis Pipeline</a:t>
            </a:r>
          </a:p>
        </p:txBody>
      </p:sp>
      <p:pic>
        <p:nvPicPr>
          <p:cNvPr id="7" name="Picture 6" descr="fig1_platform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000" y="4500000"/>
            <a:ext cx="14400000" cy="845751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0000" y="13011514"/>
            <a:ext cx="144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F8C8D"/>
                </a:solidFill>
                <a:latin typeface="Calibri"/>
              </a:defRPr>
            </a:pPr>
            <a:r>
              <a:t>Fig 1. End-to-end pipeline: platform construction + analysis workflow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00000" y="4500000"/>
            <a:ext cx="14940000" cy="84575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2C3E50"/>
                </a:solidFill>
                <a:latin typeface="Calibri"/>
              </a:defRPr>
            </a:pPr>
            <a:r>
              <a:t>SubCellSpace is a unified subcellular spatial transcriptomics platform supporting CosMx, Xenium, and MERFISH with a single 6-step analysis pipeline.</a:t>
            </a:r>
            <a:br/>
            <a:br/>
            <a:r>
              <a:t>Database: 2,410+ GEO entries across 269 GSE series, supplemented by 998 non-GEO public datasets. All uniformly processed through the same pipeline.</a:t>
            </a:r>
            <a:br/>
            <a:br/>
            <a:r>
              <a:t>Platform (top): GEO Download → Metadata Curation (E-utilities GSM expansion) → LLM Annotation (DeepSeek) → Touch Integrity Check → Stats Streaming (zero-I/O) → Frontend Browser (React) → HTML Report.</a:t>
            </a:r>
            <a:br/>
            <a:br/>
            <a:r>
              <a:t>Analysis (bottom): Denoise → Patchify → Segment (fov_cell_id / cellpose) → Domain Detection → Leiden Clustering → celltypist/SCRIN Annotation → Spatial Autocorrelation (Moran's I / Geary's C).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60000" y="13245514"/>
            <a:ext cx="29880000" cy="720000"/>
          </a:xfrm>
          <a:prstGeom prst="round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FFFFFF"/>
                </a:solidFill>
                <a:latin typeface="Calibri"/>
              </a:defRPr>
            </a:pPr>
            <a:r>
              <a:t>2–5  Database Overview: Composition, Completeness, Biology &amp; Quality</a:t>
            </a:r>
          </a:p>
        </p:txBody>
      </p:sp>
      <p:pic>
        <p:nvPicPr>
          <p:cNvPr id="11" name="Picture 10" descr="fig2_platform_cou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0000" y="14145514"/>
            <a:ext cx="7323416" cy="503999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60000" y="19239513"/>
            <a:ext cx="7323416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F8C8D"/>
                </a:solidFill>
                <a:latin typeface="Calibri"/>
              </a:defRPr>
            </a:pPr>
            <a:r>
              <a:t>Fig 2. Dataset counts by platform &amp; status</a:t>
            </a:r>
          </a:p>
        </p:txBody>
      </p:sp>
      <p:pic>
        <p:nvPicPr>
          <p:cNvPr id="13" name="Picture 12" descr="fig4_tissue_di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0000" y="19401514"/>
            <a:ext cx="7323416" cy="280300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60000" y="22258515"/>
            <a:ext cx="7323416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F8C8D"/>
                </a:solidFill>
                <a:latin typeface="Calibri"/>
              </a:defRPr>
            </a:pPr>
            <a:r>
              <a:t>Fig 4. Top 10 tissues &amp; disease states</a:t>
            </a:r>
          </a:p>
        </p:txBody>
      </p:sp>
      <p:pic>
        <p:nvPicPr>
          <p:cNvPr id="15" name="Picture 14" descr="fig3_file_cover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3416" y="14145514"/>
            <a:ext cx="11487466" cy="503999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303416" y="19239513"/>
            <a:ext cx="11487466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F8C8D"/>
                </a:solidFill>
                <a:latin typeface="Calibri"/>
              </a:defRPr>
            </a:pPr>
            <a:r>
              <a:t>Fig 3. Optional file coverage by platform</a:t>
            </a:r>
          </a:p>
        </p:txBody>
      </p:sp>
      <p:pic>
        <p:nvPicPr>
          <p:cNvPr id="17" name="Picture 16" descr="fig5_violi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03416" y="19401514"/>
            <a:ext cx="11487466" cy="37120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303416" y="23167542"/>
            <a:ext cx="11487466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F8C8D"/>
                </a:solidFill>
                <a:latin typeface="Calibri"/>
              </a:defRPr>
            </a:pPr>
            <a:r>
              <a:t>Fig 5. Cross-platform quality (log₁₀ scale)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60000" y="23473542"/>
            <a:ext cx="298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C3E50"/>
                </a:solidFill>
                <a:latin typeface="Calibri"/>
              </a:defRPr>
            </a:pPr>
            <a:r>
              <a:t>2,410+ GEO entries · 269 GSEs · 50+ tissues · 30+ disease states · CosMx: 476 (186 ready) · Xenium: 1,525 (717 ready) · MERFISH: 130 (116 ready) · File availability &gt;95% for core types · Xenium unique: dual boundaries + gene panels.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260000" y="24553542"/>
            <a:ext cx="29880000" cy="72000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FFFFFF"/>
                </a:solidFill>
                <a:latin typeface="Calibri"/>
              </a:defRPr>
            </a:pPr>
            <a:r>
              <a:t>6  Case Study: Alzheimer's Disease Mouse Brain  |  7  Methods &amp; Implementation</a:t>
            </a:r>
          </a:p>
        </p:txBody>
      </p:sp>
      <p:pic>
        <p:nvPicPr>
          <p:cNvPr id="21" name="Picture 20" descr="fig6_example_outpu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0000" y="25453542"/>
            <a:ext cx="15120000" cy="13463013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260000" y="38970555"/>
            <a:ext cx="151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F8C8D"/>
                </a:solidFill>
                <a:latin typeface="Calibri"/>
              </a:defRPr>
            </a:pPr>
            <a:r>
              <a:t>Fig 6. GSE263791 — 5xFAD mouse hippocampus (821 cells, 41 FOVs)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20000" y="25453542"/>
            <a:ext cx="14220000" cy="134630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Data Acquisition:</a:t>
            </a:r>
          </a:p>
          <a:p>
            <a:pPr>
              <a:spcAft>
                <a:spcPts val="2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  • NCBI GEO E-utilities: 269 GSEs, 4,478 GSM records</a:t>
            </a:r>
          </a:p>
          <a:p>
            <a:pPr>
              <a:spcAft>
                <a:spcPts val="2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  • Public repos: Nanostring, Vizgen, 10x Genomics, Zenodo</a:t>
            </a:r>
          </a:p>
          <a:p>
            <a:pPr>
              <a:spcAft>
                <a:spcPts val="200"/>
              </a:spcAft>
              <a:defRPr sz="170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Metadata Enrichment:</a:t>
            </a:r>
          </a:p>
          <a:p>
            <a:pPr>
              <a:spcAft>
                <a:spcPts val="2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  • GSM expansion via esummary (tissue, disease, PMIDs)</a:t>
            </a:r>
          </a:p>
          <a:p>
            <a:pPr>
              <a:spcAft>
                <a:spcPts val="2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  • LLM annotation: DeepSeek for tissue/disease classification</a:t>
            </a:r>
          </a:p>
          <a:p>
            <a:pPr>
              <a:spcAft>
                <a:spcPts val="2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  • Touch: automated file integrity &amp; normalization</a:t>
            </a:r>
          </a:p>
          <a:p>
            <a:pPr>
              <a:spcAft>
                <a:spcPts val="2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  • Stats: zero-I/O streaming (header-only) counts</a:t>
            </a:r>
          </a:p>
          <a:p>
            <a:pPr>
              <a:spcAft>
                <a:spcPts val="200"/>
              </a:spcAft>
              <a:defRPr sz="170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Analysis (scverse-native):</a:t>
            </a:r>
          </a:p>
          <a:p>
            <a:pPr>
              <a:spcAft>
                <a:spcPts val="2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  • Denoising: basic / SPARC</a:t>
            </a:r>
          </a:p>
          <a:p>
            <a:pPr>
              <a:spcAft>
                <a:spcPts val="2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  • Segmentation: fov_cell_id / cellpose</a:t>
            </a:r>
          </a:p>
          <a:p>
            <a:pPr>
              <a:spcAft>
                <a:spcPts val="2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  • Domain: spatial_leiden / k-means</a:t>
            </a:r>
          </a:p>
          <a:p>
            <a:pPr>
              <a:spcAft>
                <a:spcPts val="2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  • Clustering: Leiden / Louvain</a:t>
            </a:r>
          </a:p>
          <a:p>
            <a:pPr>
              <a:spcAft>
                <a:spcPts val="2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  • Annotation: celltypist (scRNA-seq ref) + SCRIN</a:t>
            </a:r>
          </a:p>
          <a:p>
            <a:pPr>
              <a:spcAft>
                <a:spcPts val="2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  • Spatial: Moran's I / Geary's C</a:t>
            </a:r>
          </a:p>
          <a:p>
            <a:pPr>
              <a:spcAft>
                <a:spcPts val="200"/>
              </a:spcAft>
              <a:defRPr sz="170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Infrastructure:</a:t>
            </a:r>
          </a:p>
          <a:p>
            <a:pPr>
              <a:spcAft>
                <a:spcPts val="2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  • React + TypeScript static frontend (no backend)</a:t>
            </a:r>
          </a:p>
          <a:p>
            <a:pPr>
              <a:spcAft>
                <a:spcPts val="2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  • HTML report with publication-quality figures</a:t>
            </a:r>
          </a:p>
          <a:p>
            <a:pPr>
              <a:spcAft>
                <a:spcPts val="2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  • Slurm HPC job arrays (10 concurrent tasks)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60000" y="39204555"/>
            <a:ext cx="29880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2C3E50"/>
                </a:solidFill>
                <a:latin typeface="Calibri"/>
              </a:defRPr>
            </a:pPr>
            <a:r>
              <a:t>5xFAD Alzheimer's mouse model (GSE263791). (a) Spatial transcript counts: regional differences in the hippocampal formation, higher expression in dentate gyrus. (b) UMAP by transcript count: continuous gradients across cell types. (c) Leiden clustering: 8 cell populations with distinct spatial organization. (d) UMAP cluster validation: well-separated neuronal subtypes &amp; glial populations. Microglia-astrocyte cross-talk in amyloid plaque niches revealed by spatial context.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40824555"/>
            <a:ext cx="32400000" cy="2375445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60000" y="40968555"/>
            <a:ext cx="298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Data: GEO (NCBI)  ·  Code: github.com/zf-li23/SubCellSpace (MIT)  ·  Tools: scanpy, squidpy, spatialdata, SCRIN, CellTypist  ·  Poster: Tsinghua University SLS Undergraduate Research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