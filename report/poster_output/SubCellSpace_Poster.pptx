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400000" cy="432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0" cy="342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648000"/>
            <a:ext cx="298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SubCellSpace: A Unified Platform for</a:t>
            </a:r>
            <a:br/>
            <a:r>
              <a:t>Subcellular Spatial Transcriptomics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60000" y="2088000"/>
            <a:ext cx="29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BDC3C7"/>
                </a:solidFill>
                <a:latin typeface="Calibri"/>
              </a:defRPr>
            </a:pPr>
            <a:r>
              <a:t>Zhefu Li  ·  Tsinghua University, School of Life Sciences  ·  Jun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0000" y="2700000"/>
            <a:ext cx="298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5A5A6"/>
                </a:solidFill>
                <a:latin typeface="Calibri"/>
              </a:defRPr>
            </a:pPr>
            <a:r>
              <a:t>github.com/zf-li23/SubCellSpace  |  Data: GEO (269 GSEs) + Public Repositories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60000" y="3600000"/>
            <a:ext cx="29880000" cy="7200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1  Platform Construction &amp; Analysis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0000" y="4500000"/>
            <a:ext cx="14580000" cy="8457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2C3E50"/>
                </a:solidFill>
                <a:latin typeface="Calibri"/>
              </a:defRPr>
            </a:pPr>
            <a:r>
              <a:t>SubCellSpace unifies CosMx, Xenium, and MERFISH under one 6-step pipeline.</a:t>
            </a:r>
            <a:br/>
            <a:br/>
            <a:r>
              <a:t>Database: 2,410+ GEO entries (269 GSEs) + 998 non-GEO datasets, uniformly processed.</a:t>
            </a:r>
            <a:br/>
            <a:br/>
            <a:r>
              <a:t>Platform pipeline: GEO Download -&gt; Metadata Curation (E-utilities GSM) -&gt; LLM Annotation (DeepSeek) -&gt; Touch Integrity Check -&gt; Stats Streaming -&gt; Frontend (React) -&gt; HTML Report.</a:t>
            </a:r>
            <a:br/>
            <a:br/>
            <a:r>
              <a:t>Analysis pipeline: Denoise -&gt; Patchify -&gt; Segment (fov_cell_id/cellpose) -&gt; Domain Detection -&gt; Leiden Clustering -&gt; celltypist/SCRIN Annotation -&gt; Spatial Autocorrelation (Moran's I / Geary's C).</a:t>
            </a:r>
          </a:p>
        </p:txBody>
      </p:sp>
      <p:pic>
        <p:nvPicPr>
          <p:cNvPr id="8" name="Picture 7" descr="fig1_platfor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0000" y="4500000"/>
            <a:ext cx="14400000" cy="84575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00000" y="13011514"/>
            <a:ext cx="14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Fig 1. End-to-end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60000" y="13677514"/>
            <a:ext cx="29880000" cy="7200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2–5  Database Overview: Composition, Coverage, Biology &amp; Quality</a:t>
            </a:r>
          </a:p>
        </p:txBody>
      </p:sp>
      <p:pic>
        <p:nvPicPr>
          <p:cNvPr id="11" name="Picture 10" descr="fig2_platform_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000" y="14577514"/>
            <a:ext cx="5231011" cy="35999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0000" y="18231513"/>
            <a:ext cx="5231011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Fig 2. Dataset counts</a:t>
            </a:r>
          </a:p>
        </p:txBody>
      </p:sp>
      <p:pic>
        <p:nvPicPr>
          <p:cNvPr id="13" name="Picture 12" descr="fig3_file_cover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000" y="18357514"/>
            <a:ext cx="8205333" cy="359999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60000" y="22011513"/>
            <a:ext cx="8205333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Fig 3. File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5333" y="14577514"/>
            <a:ext cx="5654667" cy="73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C3E50"/>
                </a:solidFill>
                <a:latin typeface="Calibri"/>
              </a:defRPr>
            </a:pPr>
            <a:r>
              <a:t>2,410+ GEO entries. Xenium: 1,525 (717 ready), CosMx: 476 (186 ready), MERFISH: 130 (116 ready).</a:t>
            </a:r>
            <a:br/>
            <a:br/>
            <a:r>
              <a:t>CosMx: expression 96%, metadata 99%, FOV 100%. Xenium: cell boundaries 74%, nucleus 60%, gene panel 31%. MERFISH: expression 97%, metadata 98%.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40000" y="14577514"/>
            <a:ext cx="6061457" cy="52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50+ tissues, 30+ disease states. Brain, breast,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lung most represented. Normal, cancers, Alzheimer's.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Xenium: highest transcripts (181K median).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MERFISH: most cells (18K median, 550K max).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CosMx: 960-gene panels, 35,825 per-cell tx.</a:t>
            </a:r>
          </a:p>
        </p:txBody>
      </p:sp>
      <p:pic>
        <p:nvPicPr>
          <p:cNvPr id="17" name="Picture 16" descr="fig4_tissue_d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61457" y="14577514"/>
            <a:ext cx="6584016" cy="2519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3161457" y="17151513"/>
            <a:ext cx="6584016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Fig 4. Tissues &amp; diseases</a:t>
            </a:r>
          </a:p>
        </p:txBody>
      </p:sp>
      <p:pic>
        <p:nvPicPr>
          <p:cNvPr id="19" name="Picture 18" descr="fig5_violi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61457" y="17277514"/>
            <a:ext cx="7798543" cy="2519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161457" y="19851513"/>
            <a:ext cx="7798543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Fig 5. Quality metrics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60000" y="22677513"/>
            <a:ext cx="29880000" cy="7200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6  Case Study: Alzheimer's Mouse Brain  |  7  Conclusion &amp; Outlook</a:t>
            </a:r>
          </a:p>
        </p:txBody>
      </p:sp>
      <p:pic>
        <p:nvPicPr>
          <p:cNvPr id="22" name="Picture 21" descr="fig6_example_outpu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0000" y="23577513"/>
            <a:ext cx="16560000" cy="1474520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60000" y="38376718"/>
            <a:ext cx="16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Fig 6. GSE263791 — 5xFAD mouse hippocampus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0000" y="38610718"/>
            <a:ext cx="1656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C3E50"/>
                </a:solidFill>
                <a:latin typeface="Calibri"/>
              </a:defRPr>
            </a:pPr>
            <a:r>
              <a:t>5xFAD Alzheimer's model (821 cells, 41 FOVs, 960 genes). (a) Spatial transcript: hippocampal regional differences. (b) UMAP by transcript count. (c) Leiden: 8 cell populations. (d) UMAP cluster validation. Microglia-astrocyte cross-talk in amyloid plaque niches revealed by spatial context.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540000" y="23577513"/>
            <a:ext cx="12600000" cy="14745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Key Achievements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Unified platform for CosMx, Xenium,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  and MERFISH spatial transcriptomics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2,410+ GEO datasets curated &amp; processed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  (269 GSEs, 4,478 GSM records)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50+ tissue types, 30+ disease states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Single config drives all 3 platforms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Touch + Stats: data integrity assurance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React static browser, no backend needed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Future Directions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Process 3,000+ pending GEO datasets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Multi-sample intergative analysis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Spatial multi-omics data support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Cloud-deployed pipeline (Docker/Singularity)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Community dataset registry with DOI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42120000"/>
            <a:ext cx="32400000" cy="108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60000" y="42300000"/>
            <a:ext cx="298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Data: GEO (NCBI)  ·  Code: github.com/zf-li23/SubCellSpace (MIT)  ·  Tools: scanpy, squidpy, spatialdata, SCRIN, CellTypist  ·  Poster: Tsinghua University SLS Undergraduate Research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