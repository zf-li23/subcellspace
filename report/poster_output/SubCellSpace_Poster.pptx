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32400000" cy="43200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400000" cy="3240000"/>
          </a:xfrm>
          <a:prstGeom prst="rect">
            <a:avLst/>
          </a:prstGeom>
          <a:solidFill>
            <a:srgbClr val="2C3E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0" y="360000"/>
            <a:ext cx="32400000" cy="1440000"/>
          </a:xfrm>
          <a:prstGeom prst="rect">
            <a:avLst/>
          </a:prstGeom>
          <a:noFill/>
        </p:spPr>
        <p:txBody>
          <a:bodyPr wrap="square">
            <a:spAutoFit/>
          </a:bodyPr>
          <a:lstStyle/>
          <a:p>
            <a:pPr algn="ctr">
              <a:defRPr sz="7200" b="1">
                <a:solidFill>
                  <a:srgbClr val="FFFFFF"/>
                </a:solidFill>
                <a:latin typeface="Calibri"/>
              </a:defRPr>
            </a:pPr>
            <a:r>
              <a:t>SubCellSpace: A Subcellular Spatial Transcriptomics Database &amp; Analysis Platform</a:t>
            </a:r>
          </a:p>
        </p:txBody>
      </p:sp>
      <p:sp>
        <p:nvSpPr>
          <p:cNvPr id="4" name="TextBox 3"/>
          <p:cNvSpPr txBox="1"/>
          <p:nvPr/>
        </p:nvSpPr>
        <p:spPr>
          <a:xfrm>
            <a:off x="0" y="1980000"/>
            <a:ext cx="32400000" cy="540000"/>
          </a:xfrm>
          <a:prstGeom prst="rect">
            <a:avLst/>
          </a:prstGeom>
          <a:noFill/>
        </p:spPr>
        <p:txBody>
          <a:bodyPr wrap="square">
            <a:spAutoFit/>
          </a:bodyPr>
          <a:lstStyle/>
          <a:p>
            <a:pPr algn="ctr">
              <a:defRPr sz="3000" b="0">
                <a:solidFill>
                  <a:srgbClr val="BDC3C7"/>
                </a:solidFill>
                <a:latin typeface="Calibri"/>
              </a:defRPr>
            </a:pPr>
            <a:r>
              <a:t>Zhefu Li  ·  Supervisor: Xuerui Yang  ·  Tsinghua University  ·  Jun 2026  ·  zf-li23@mails.tsinghua.edu.cn  ·  github.com/zf-li23/SubCellSpace</a:t>
            </a:r>
          </a:p>
        </p:txBody>
      </p:sp>
      <p:sp>
        <p:nvSpPr>
          <p:cNvPr id="5" name="Rounded Rectangle 4"/>
          <p:cNvSpPr/>
          <p:nvPr/>
        </p:nvSpPr>
        <p:spPr>
          <a:xfrm>
            <a:off x="1260000" y="3420000"/>
            <a:ext cx="29880000" cy="720000"/>
          </a:xfrm>
          <a:prstGeom prst="roundRect">
            <a:avLst/>
          </a:prstGeom>
          <a:solidFill>
            <a:srgbClr val="2980B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4400" b="1">
                <a:solidFill>
                  <a:srgbClr val="FFFFFF"/>
                </a:solidFill>
                <a:latin typeface="Calibri"/>
              </a:defRPr>
            </a:pPr>
            <a:r>
              <a:t>1  Platform Construction &amp; Analysis Pipeline</a:t>
            </a:r>
          </a:p>
        </p:txBody>
      </p:sp>
      <p:sp>
        <p:nvSpPr>
          <p:cNvPr id="6" name="TextBox 5"/>
          <p:cNvSpPr txBox="1"/>
          <p:nvPr/>
        </p:nvSpPr>
        <p:spPr>
          <a:xfrm>
            <a:off x="1260000" y="4320000"/>
            <a:ext cx="9900000" cy="11206206"/>
          </a:xfrm>
          <a:prstGeom prst="rect">
            <a:avLst/>
          </a:prstGeom>
          <a:noFill/>
        </p:spPr>
        <p:txBody>
          <a:bodyPr wrap="square">
            <a:spAutoFit/>
          </a:bodyPr>
          <a:lstStyle/>
          <a:p>
            <a:pPr algn="just">
              <a:defRPr sz="2800" b="0">
                <a:solidFill>
                  <a:srgbClr val="2C3E50"/>
                </a:solidFill>
                <a:latin typeface="Calibri"/>
              </a:defRPr>
            </a:pPr>
            <a:r>
              <a:t>SubCellSpace is a unified subcellular spatial transcriptomics platform that supports CosMx (NanoString), Xenium (10x Genomics), and MERFISH (Vizgen) with a single end-to-end pipeline. The platform integrates three major phases:</a:t>
            </a:r>
            <a:br/>
            <a:br/>
            <a:r>
              <a:t>1. Data Acquisition — GEO metadata curation via NCBI E-utilities (269 GSE series, 4,478 GSM records), LLM-powered tissue/disease annotation (DeepSeek), and automated file integrity checking through the Touch module.</a:t>
            </a:r>
            <a:br/>
            <a:br/>
            <a:r>
              <a:t>2. Data Processing — Zero-I/O streaming statistics (Stats module) for transcript, cell, and gene counting. The 7-step analysis pipeline (illustrated below) is executed via a single configuration file shared across all platforms.</a:t>
            </a:r>
            <a:br/>
            <a:br/>
            <a:r>
              <a:t>3. Output &amp; Visualization — React + TypeScript static frontend with platform-tabbed browsing, HTML report generation with publication-quality figures, and Slurm HPC deployment for batch processing (10 concurrent tasks).</a:t>
            </a:r>
            <a:br/>
            <a:br/>
            <a:r>
              <a:t>Key innovations include the Touch module for automated file integrity normalization across naming inconsistencies (e.g., fov_position vs. fov_positions), and the Stats module for memory-safe streaming statistics with a 50,000-cell threshold. The database encompasses 2,410+ GEO entries across 269 GSE series, supplemented by 998 non-GEO public datasets — all uniformly processed through the same pipeline.</a:t>
            </a:r>
          </a:p>
        </p:txBody>
      </p:sp>
      <p:pic>
        <p:nvPicPr>
          <p:cNvPr id="7" name="Picture 6" descr="fig1_platform_pipeline.png"/>
          <p:cNvPicPr>
            <a:picLocks noChangeAspect="1"/>
          </p:cNvPicPr>
          <p:nvPr/>
        </p:nvPicPr>
        <p:blipFill>
          <a:blip r:embed="rId2"/>
          <a:stretch>
            <a:fillRect/>
          </a:stretch>
        </p:blipFill>
        <p:spPr>
          <a:xfrm>
            <a:off x="11520000" y="4320000"/>
            <a:ext cx="19080000" cy="11206206"/>
          </a:xfrm>
          <a:prstGeom prst="rect">
            <a:avLst/>
          </a:prstGeom>
        </p:spPr>
      </p:pic>
      <p:sp>
        <p:nvSpPr>
          <p:cNvPr id="8" name="TextBox 7"/>
          <p:cNvSpPr txBox="1"/>
          <p:nvPr/>
        </p:nvSpPr>
        <p:spPr>
          <a:xfrm>
            <a:off x="11520000" y="15580206"/>
            <a:ext cx="19080000" cy="288000"/>
          </a:xfrm>
          <a:prstGeom prst="rect">
            <a:avLst/>
          </a:prstGeom>
          <a:noFill/>
        </p:spPr>
        <p:txBody>
          <a:bodyPr wrap="square">
            <a:spAutoFit/>
          </a:bodyPr>
          <a:lstStyle/>
          <a:p>
            <a:pPr algn="l">
              <a:defRPr sz="2400" b="0">
                <a:solidFill>
                  <a:srgbClr val="7F8C8D"/>
                </a:solidFill>
                <a:latin typeface="Calibri"/>
              </a:defRPr>
            </a:pPr>
            <a:r>
              <a:t>Fig 1. End-to-end platform construction pipeline (top) and scverse-native 6-step analysis workflow (bottom)</a:t>
            </a:r>
          </a:p>
        </p:txBody>
      </p:sp>
      <p:sp>
        <p:nvSpPr>
          <p:cNvPr id="9" name="Rounded Rectangle 8"/>
          <p:cNvSpPr/>
          <p:nvPr/>
        </p:nvSpPr>
        <p:spPr>
          <a:xfrm>
            <a:off x="1260000" y="16246206"/>
            <a:ext cx="29880000" cy="720000"/>
          </a:xfrm>
          <a:prstGeom prst="roundRect">
            <a:avLst/>
          </a:prstGeom>
          <a:solidFill>
            <a:srgbClr val="2980B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4400" b="1">
                <a:solidFill>
                  <a:srgbClr val="FFFFFF"/>
                </a:solidFill>
                <a:latin typeface="Calibri"/>
              </a:defRPr>
            </a:pPr>
            <a:r>
              <a:t>2  Database Overview: Composition, Coverage, Biology &amp; Quality</a:t>
            </a:r>
          </a:p>
        </p:txBody>
      </p:sp>
      <p:pic>
        <p:nvPicPr>
          <p:cNvPr id="10" name="Picture 9" descr="fig2_platform_counts.png"/>
          <p:cNvPicPr>
            <a:picLocks noChangeAspect="1"/>
          </p:cNvPicPr>
          <p:nvPr/>
        </p:nvPicPr>
        <p:blipFill>
          <a:blip r:embed="rId3"/>
          <a:stretch>
            <a:fillRect/>
          </a:stretch>
        </p:blipFill>
        <p:spPr>
          <a:xfrm>
            <a:off x="1260000" y="17146206"/>
            <a:ext cx="6277213" cy="4319999"/>
          </a:xfrm>
          <a:prstGeom prst="rect">
            <a:avLst/>
          </a:prstGeom>
        </p:spPr>
      </p:pic>
      <p:sp>
        <p:nvSpPr>
          <p:cNvPr id="11" name="TextBox 10"/>
          <p:cNvSpPr txBox="1"/>
          <p:nvPr/>
        </p:nvSpPr>
        <p:spPr>
          <a:xfrm>
            <a:off x="1260000" y="21520205"/>
            <a:ext cx="6277213" cy="288000"/>
          </a:xfrm>
          <a:prstGeom prst="rect">
            <a:avLst/>
          </a:prstGeom>
          <a:noFill/>
        </p:spPr>
        <p:txBody>
          <a:bodyPr wrap="square">
            <a:spAutoFit/>
          </a:bodyPr>
          <a:lstStyle/>
          <a:p>
            <a:pPr algn="l">
              <a:defRPr sz="2400" b="0">
                <a:solidFill>
                  <a:srgbClr val="7F8C8D"/>
                </a:solidFill>
                <a:latin typeface="Calibri"/>
              </a:defRPr>
            </a:pPr>
            <a:r>
              <a:t>Fig 2. Dataset counts</a:t>
            </a:r>
          </a:p>
        </p:txBody>
      </p:sp>
      <p:pic>
        <p:nvPicPr>
          <p:cNvPr id="12" name="Picture 11" descr="fig3_file_coverage.png"/>
          <p:cNvPicPr>
            <a:picLocks noChangeAspect="1"/>
          </p:cNvPicPr>
          <p:nvPr/>
        </p:nvPicPr>
        <p:blipFill>
          <a:blip r:embed="rId4"/>
          <a:stretch>
            <a:fillRect/>
          </a:stretch>
        </p:blipFill>
        <p:spPr>
          <a:xfrm>
            <a:off x="7789212" y="17146206"/>
            <a:ext cx="9846400" cy="4320000"/>
          </a:xfrm>
          <a:prstGeom prst="rect">
            <a:avLst/>
          </a:prstGeom>
        </p:spPr>
      </p:pic>
      <p:sp>
        <p:nvSpPr>
          <p:cNvPr id="13" name="TextBox 12"/>
          <p:cNvSpPr txBox="1"/>
          <p:nvPr/>
        </p:nvSpPr>
        <p:spPr>
          <a:xfrm>
            <a:off x="7789212" y="21520206"/>
            <a:ext cx="9846400" cy="288000"/>
          </a:xfrm>
          <a:prstGeom prst="rect">
            <a:avLst/>
          </a:prstGeom>
          <a:noFill/>
        </p:spPr>
        <p:txBody>
          <a:bodyPr wrap="square">
            <a:spAutoFit/>
          </a:bodyPr>
          <a:lstStyle/>
          <a:p>
            <a:pPr algn="l">
              <a:defRPr sz="2400" b="0">
                <a:solidFill>
                  <a:srgbClr val="7F8C8D"/>
                </a:solidFill>
                <a:latin typeface="Calibri"/>
              </a:defRPr>
            </a:pPr>
            <a:r>
              <a:t>Fig 3. File coverage</a:t>
            </a:r>
          </a:p>
        </p:txBody>
      </p:sp>
      <p:sp>
        <p:nvSpPr>
          <p:cNvPr id="14" name="TextBox 13"/>
          <p:cNvSpPr txBox="1"/>
          <p:nvPr/>
        </p:nvSpPr>
        <p:spPr>
          <a:xfrm>
            <a:off x="17887611" y="17290206"/>
            <a:ext cx="13252389" cy="4176000"/>
          </a:xfrm>
          <a:prstGeom prst="rect">
            <a:avLst/>
          </a:prstGeom>
          <a:noFill/>
        </p:spPr>
        <p:txBody>
          <a:bodyPr wrap="square">
            <a:spAutoFit/>
          </a:bodyPr>
          <a:lstStyle/>
          <a:p>
            <a:pPr algn="just">
              <a:defRPr sz="2800" b="0">
                <a:solidFill>
                  <a:srgbClr val="2C3E50"/>
                </a:solidFill>
                <a:latin typeface="Calibri"/>
              </a:defRPr>
            </a:pPr>
            <a:r>
              <a:t>Our database encompasses 2,410+ GEO entries across three major SPT platforms. Xenium leads with 1,525 entries (717 ready). CosMx contributes 476 entries (186 ready) from targeted panels. MERFISH has 130 entries (116 ready), with the highest ready ratio.</a:t>
            </a:r>
            <a:br/>
            <a:br/>
            <a:r>
              <a:t>File completeness varies: CosMx provides expression matrices (96%), cell metadata (99%), and FOV positions (100%). Xenium uniquely offers cell boundaries (74%), nucleus boundaries (60%), and gene panel metadata (31%). MERFISH excels in expression (97%) and cell metadata (98%). The Touch module auto-normalizes all.</a:t>
            </a:r>
          </a:p>
        </p:txBody>
      </p:sp>
      <p:sp>
        <p:nvSpPr>
          <p:cNvPr id="15" name="TextBox 14"/>
          <p:cNvSpPr txBox="1"/>
          <p:nvPr/>
        </p:nvSpPr>
        <p:spPr>
          <a:xfrm>
            <a:off x="1260000" y="21898206"/>
            <a:ext cx="10884140" cy="3096000"/>
          </a:xfrm>
          <a:prstGeom prst="rect">
            <a:avLst/>
          </a:prstGeom>
          <a:noFill/>
        </p:spPr>
        <p:txBody>
          <a:bodyPr wrap="square">
            <a:spAutoFit/>
          </a:bodyPr>
          <a:lstStyle/>
          <a:p>
            <a:pPr algn="just">
              <a:defRPr sz="2800" b="0">
                <a:solidFill>
                  <a:srgbClr val="2C3E50"/>
                </a:solidFill>
                <a:latin typeface="Calibri"/>
              </a:defRPr>
            </a:pPr>
            <a:r>
              <a:t>The database spans 50+ tissue types and 30+ disease conditions. Brain, breast, lung, and lymph node are most represented, along with normal tissue, various cancers, and neurodegenerative conditions (Alzheimer's). Xenium achieves the highest transcript counts (181K median) and broadest gene panels (6,522). MERFISH captures the most cells (18K median, 550K max). CosMx offers consistent 960-gene panels with 35,825 per-cell transcript median.</a:t>
            </a:r>
          </a:p>
        </p:txBody>
      </p:sp>
      <p:pic>
        <p:nvPicPr>
          <p:cNvPr id="16" name="Picture 15" descr="fig4_tissue_dist.png"/>
          <p:cNvPicPr>
            <a:picLocks noChangeAspect="1"/>
          </p:cNvPicPr>
          <p:nvPr/>
        </p:nvPicPr>
        <p:blipFill>
          <a:blip r:embed="rId5"/>
          <a:stretch>
            <a:fillRect/>
          </a:stretch>
        </p:blipFill>
        <p:spPr>
          <a:xfrm>
            <a:off x="12396139" y="21754206"/>
            <a:ext cx="8465163" cy="3239999"/>
          </a:xfrm>
          <a:prstGeom prst="rect">
            <a:avLst/>
          </a:prstGeom>
        </p:spPr>
      </p:pic>
      <p:sp>
        <p:nvSpPr>
          <p:cNvPr id="17" name="TextBox 16"/>
          <p:cNvSpPr txBox="1"/>
          <p:nvPr/>
        </p:nvSpPr>
        <p:spPr>
          <a:xfrm>
            <a:off x="12396139" y="25048205"/>
            <a:ext cx="8465163" cy="288000"/>
          </a:xfrm>
          <a:prstGeom prst="rect">
            <a:avLst/>
          </a:prstGeom>
          <a:noFill/>
        </p:spPr>
        <p:txBody>
          <a:bodyPr wrap="square">
            <a:spAutoFit/>
          </a:bodyPr>
          <a:lstStyle/>
          <a:p>
            <a:pPr algn="l">
              <a:defRPr sz="2400" b="0">
                <a:solidFill>
                  <a:srgbClr val="7F8C8D"/>
                </a:solidFill>
                <a:latin typeface="Calibri"/>
              </a:defRPr>
            </a:pPr>
            <a:r>
              <a:t>Fig 4. Tissues &amp; diseases</a:t>
            </a:r>
          </a:p>
        </p:txBody>
      </p:sp>
      <p:pic>
        <p:nvPicPr>
          <p:cNvPr id="18" name="Picture 17" descr="fig5_violins.png"/>
          <p:cNvPicPr>
            <a:picLocks noChangeAspect="1"/>
          </p:cNvPicPr>
          <p:nvPr/>
        </p:nvPicPr>
        <p:blipFill>
          <a:blip r:embed="rId6"/>
          <a:stretch>
            <a:fillRect/>
          </a:stretch>
        </p:blipFill>
        <p:spPr>
          <a:xfrm>
            <a:off x="21113301" y="21754206"/>
            <a:ext cx="10026699" cy="3239999"/>
          </a:xfrm>
          <a:prstGeom prst="rect">
            <a:avLst/>
          </a:prstGeom>
        </p:spPr>
      </p:pic>
      <p:sp>
        <p:nvSpPr>
          <p:cNvPr id="19" name="TextBox 18"/>
          <p:cNvSpPr txBox="1"/>
          <p:nvPr/>
        </p:nvSpPr>
        <p:spPr>
          <a:xfrm>
            <a:off x="21113301" y="25048205"/>
            <a:ext cx="10026699" cy="288000"/>
          </a:xfrm>
          <a:prstGeom prst="rect">
            <a:avLst/>
          </a:prstGeom>
          <a:noFill/>
        </p:spPr>
        <p:txBody>
          <a:bodyPr wrap="square">
            <a:spAutoFit/>
          </a:bodyPr>
          <a:lstStyle/>
          <a:p>
            <a:pPr algn="l">
              <a:defRPr sz="2400" b="0">
                <a:solidFill>
                  <a:srgbClr val="7F8C8D"/>
                </a:solidFill>
                <a:latin typeface="Calibri"/>
              </a:defRPr>
            </a:pPr>
            <a:r>
              <a:t>Fig 5. Quality metrics</a:t>
            </a:r>
          </a:p>
        </p:txBody>
      </p:sp>
      <p:sp>
        <p:nvSpPr>
          <p:cNvPr id="20" name="Rounded Rectangle 19"/>
          <p:cNvSpPr/>
          <p:nvPr/>
        </p:nvSpPr>
        <p:spPr>
          <a:xfrm>
            <a:off x="1260000" y="25822206"/>
            <a:ext cx="15480000" cy="720000"/>
          </a:xfrm>
          <a:prstGeom prst="roundRect">
            <a:avLst/>
          </a:prstGeom>
          <a:solidFill>
            <a:srgbClr val="1ABC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4400" b="1">
                <a:solidFill>
                  <a:srgbClr val="FFFFFF"/>
                </a:solidFill>
                <a:latin typeface="Calibri"/>
              </a:defRPr>
            </a:pPr>
            <a:r>
              <a:t>3  Case Study: Alzheimer's Mouse Brain</a:t>
            </a:r>
          </a:p>
        </p:txBody>
      </p:sp>
      <p:sp>
        <p:nvSpPr>
          <p:cNvPr id="21" name="Rounded Rectangle 20"/>
          <p:cNvSpPr/>
          <p:nvPr/>
        </p:nvSpPr>
        <p:spPr>
          <a:xfrm>
            <a:off x="17820000" y="25822206"/>
            <a:ext cx="13320000" cy="720000"/>
          </a:xfrm>
          <a:prstGeom prst="roundRect">
            <a:avLst/>
          </a:prstGeom>
          <a:solidFill>
            <a:srgbClr val="1ABC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4400" b="1">
                <a:solidFill>
                  <a:srgbClr val="FFFFFF"/>
                </a:solidFill>
                <a:latin typeface="Calibri"/>
              </a:defRPr>
            </a:pPr>
            <a:r>
              <a:t>4  Conclusion &amp; Outlook</a:t>
            </a:r>
          </a:p>
        </p:txBody>
      </p:sp>
      <p:pic>
        <p:nvPicPr>
          <p:cNvPr id="22" name="Picture 21" descr="fig6_example_output.png"/>
          <p:cNvPicPr>
            <a:picLocks noChangeAspect="1"/>
          </p:cNvPicPr>
          <p:nvPr/>
        </p:nvPicPr>
        <p:blipFill>
          <a:blip r:embed="rId7"/>
          <a:stretch>
            <a:fillRect/>
          </a:stretch>
        </p:blipFill>
        <p:spPr>
          <a:xfrm>
            <a:off x="1260000" y="26722206"/>
            <a:ext cx="15480000" cy="13783561"/>
          </a:xfrm>
          <a:prstGeom prst="rect">
            <a:avLst/>
          </a:prstGeom>
        </p:spPr>
      </p:pic>
      <p:sp>
        <p:nvSpPr>
          <p:cNvPr id="23" name="TextBox 22"/>
          <p:cNvSpPr txBox="1"/>
          <p:nvPr/>
        </p:nvSpPr>
        <p:spPr>
          <a:xfrm>
            <a:off x="1260000" y="40559767"/>
            <a:ext cx="15480000" cy="288000"/>
          </a:xfrm>
          <a:prstGeom prst="rect">
            <a:avLst/>
          </a:prstGeom>
          <a:noFill/>
        </p:spPr>
        <p:txBody>
          <a:bodyPr wrap="square">
            <a:spAutoFit/>
          </a:bodyPr>
          <a:lstStyle/>
          <a:p>
            <a:pPr algn="l">
              <a:defRPr sz="2400" b="0">
                <a:solidFill>
                  <a:srgbClr val="7F8C8D"/>
                </a:solidFill>
                <a:latin typeface="Calibri"/>
              </a:defRPr>
            </a:pPr>
            <a:r>
              <a:t>Fig 6. GSE263791 — Alzheimer's disease mouse brain (CosMx)</a:t>
            </a:r>
          </a:p>
        </p:txBody>
      </p:sp>
      <p:sp>
        <p:nvSpPr>
          <p:cNvPr id="24" name="TextBox 23"/>
          <p:cNvSpPr txBox="1"/>
          <p:nvPr/>
        </p:nvSpPr>
        <p:spPr>
          <a:xfrm>
            <a:off x="1260000" y="40865767"/>
            <a:ext cx="15480000" cy="1800000"/>
          </a:xfrm>
          <a:prstGeom prst="rect">
            <a:avLst/>
          </a:prstGeom>
          <a:noFill/>
        </p:spPr>
        <p:txBody>
          <a:bodyPr wrap="square">
            <a:spAutoFit/>
          </a:bodyPr>
          <a:lstStyle/>
          <a:p>
            <a:pPr algn="just">
              <a:defRPr sz="2800" b="0">
                <a:solidFill>
                  <a:srgbClr val="2C3E50"/>
                </a:solidFill>
                <a:latin typeface="Calibri"/>
              </a:defRPr>
            </a:pPr>
            <a:r>
              <a:t>Alzheimer's disease mouse model (GSE263791). 42.6M transcripts, 821 cells, 960 genes, 41 FOVs. Median 35,825 transcripts per cell. (a) Spatial transcript distribution: hippocampal regional differences. (b) UMAP by transcript count. (c) Leiden clustering: 8 cell populations. (d) UMAP cluster validation. Microglia-astrocyte cross-talk in amyloid plaque niches revealed by spatial context.</a:t>
            </a:r>
          </a:p>
        </p:txBody>
      </p:sp>
      <p:pic>
        <p:nvPicPr>
          <p:cNvPr id="25" name="Picture 24" descr="fig7_concept.png"/>
          <p:cNvPicPr>
            <a:picLocks noChangeAspect="1"/>
          </p:cNvPicPr>
          <p:nvPr/>
        </p:nvPicPr>
        <p:blipFill>
          <a:blip r:embed="rId8"/>
          <a:stretch>
            <a:fillRect/>
          </a:stretch>
        </p:blipFill>
        <p:spPr>
          <a:xfrm>
            <a:off x="19620000" y="26866206"/>
            <a:ext cx="9720000" cy="9720000"/>
          </a:xfrm>
          <a:prstGeom prst="rect">
            <a:avLst/>
          </a:prstGeom>
        </p:spPr>
      </p:pic>
      <p:sp>
        <p:nvSpPr>
          <p:cNvPr id="26" name="TextBox 25"/>
          <p:cNvSpPr txBox="1"/>
          <p:nvPr/>
        </p:nvSpPr>
        <p:spPr>
          <a:xfrm>
            <a:off x="17820000" y="36766206"/>
            <a:ext cx="13320000" cy="3739561"/>
          </a:xfrm>
          <a:prstGeom prst="rect">
            <a:avLst/>
          </a:prstGeom>
          <a:noFill/>
        </p:spPr>
        <p:txBody>
          <a:bodyPr wrap="square">
            <a:spAutoFit/>
          </a:bodyPr>
          <a:lstStyle/>
          <a:p>
            <a:pPr algn="just">
              <a:defRPr sz="2800" b="0">
                <a:solidFill>
                  <a:srgbClr val="2C3E50"/>
                </a:solidFill>
                <a:latin typeface="Calibri"/>
              </a:defRPr>
            </a:pPr>
            <a:r>
              <a:t>SubCellSpace delivers a unified database and analysis platform covering 2,410+ GEO entries across CosMx, Xenium, and MERFISH platforms. The database spans 50+ tissue types and 30+ disease states. The single-configuration pipeline enables cross-platform subcellular analysis through denoising, segmentation, domain detection, clustering, and annotation modules, complemented by SCRIN for gene regulatory network inference and spatial autocorrelation statistics. Future work will integrate spatial multi-omics data, deploy cloud-based analysis pipelines, and establish a community-contributed dataset registry with persistent identifiers to accelerate subcellular spatial transcriptomics research.</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