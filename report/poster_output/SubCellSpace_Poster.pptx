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400000" cy="432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0" cy="342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648000"/>
            <a:ext cx="298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SubCellSpace: A Unified Platform for</a:t>
            </a:r>
            <a:br/>
            <a:r>
              <a:t>Subcellular Spatial Transcriptomics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60000" y="2088000"/>
            <a:ext cx="29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BDC3C7"/>
                </a:solidFill>
                <a:latin typeface="Calibri"/>
              </a:defRPr>
            </a:pPr>
            <a:r>
              <a:t>Zhefu Li  ·  Tsinghua University · Jun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0000" y="2700000"/>
            <a:ext cx="29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5A5A6"/>
                </a:solidFill>
                <a:latin typeface="Calibri"/>
              </a:defRPr>
            </a:pPr>
            <a:r>
              <a:t>github.com/zf-li23/SubCellSpace  |  Data: GEO (269 GSEs) + Public Repositories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60000" y="3600000"/>
            <a:ext cx="29880000" cy="72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1  Platform Construction &amp; Analysis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0000" y="4500000"/>
            <a:ext cx="10980000" cy="10571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3E50"/>
                </a:solidFill>
                <a:latin typeface="Calibri"/>
              </a:defRPr>
            </a:pPr>
            <a:r>
              <a:t>SubCellSpace unifies CosMx, Xenium, MERFISH under one pipeline.</a:t>
            </a:r>
            <a:br/>
            <a:br/>
            <a:r>
              <a:t>Database: 2,410+ GEO entries (269 GSEs) + 998 non-GEO datasets.</a:t>
            </a:r>
            <a:br/>
            <a:br/>
            <a:r>
              <a:t>Platform: GEO Download -&gt; Metadata Curation -&gt; LLM Annotation -&gt; Touch Check -&gt; Stats Streaming -&gt; Frontend -&gt; HTML Report.</a:t>
            </a:r>
            <a:br/>
            <a:br/>
            <a:r>
              <a:t>Analysis: Denoise -&gt; Patchify -&gt; Segment -&gt; Domain Detection -&gt; Leiden Clustering -&gt; celltypist/SCRIN Annotation -&gt; Spatial Autocorrelation (Moran's I / Geary's C).</a:t>
            </a:r>
          </a:p>
        </p:txBody>
      </p:sp>
      <p:pic>
        <p:nvPicPr>
          <p:cNvPr id="8" name="Picture 7" descr="fig1_platfor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000" y="4500000"/>
            <a:ext cx="18000000" cy="105718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600000" y="15125892"/>
            <a:ext cx="180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1. End-to-end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60000" y="15791892"/>
            <a:ext cx="29880000" cy="72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2–5  Database Overview: Composition, Coverage, Biology &amp; Quality</a:t>
            </a:r>
          </a:p>
        </p:txBody>
      </p:sp>
      <p:pic>
        <p:nvPicPr>
          <p:cNvPr id="11" name="Picture 10" descr="fig2_platform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000" y="16691892"/>
            <a:ext cx="5231011" cy="35999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0000" y="20345891"/>
            <a:ext cx="5231011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2. Dataset counts</a:t>
            </a:r>
          </a:p>
        </p:txBody>
      </p:sp>
      <p:pic>
        <p:nvPicPr>
          <p:cNvPr id="13" name="Picture 12" descr="fig3_file_cover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010" y="16691892"/>
            <a:ext cx="8205333" cy="35999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43010" y="20345891"/>
            <a:ext cx="8205333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3. File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342" y="16691892"/>
            <a:ext cx="15939658" cy="38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C3E50"/>
                </a:solidFill>
                <a:latin typeface="Calibri"/>
              </a:defRPr>
            </a:pPr>
            <a:r>
              <a:t>2,410+ GEO entries. Xenium: 1,525 (717 ready), CosMx: 476 (186 ready), MERFISH: 130 (116 ready). 269 GSEs, 4,478 GSM records.</a:t>
            </a:r>
            <a:br/>
            <a:br/>
            <a:r>
              <a:t>CosMx: expression 96%, metadata 99%, FOV positions 100%. Xenium: cell boundaries 74%, nucleus boundaries 60%, gene panels 31%. MERFISH: expression 97%, metadata 98%. Touch module auto-normalizes 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0000" y="20579892"/>
            <a:ext cx="14993443" cy="2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50+ tissues, 30+ disease states. Brain, breast, lung, lymph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node most represented. Normal, cancers, Alzheimer's, Parkinson's.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Both H. sapiens and M. musculus.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Xenium: highest transcript counts (181K median).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MERFISH: most cells (18K median, max 550K).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CosMx: 960-gene panels, 35,825 per-cell tx median.</a:t>
            </a:r>
          </a:p>
        </p:txBody>
      </p:sp>
      <p:pic>
        <p:nvPicPr>
          <p:cNvPr id="17" name="Picture 16" descr="fig4_tissue_d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05442" y="20579892"/>
            <a:ext cx="6584016" cy="2519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505442" y="23153891"/>
            <a:ext cx="6584016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4. Tissues &amp; diseases</a:t>
            </a:r>
          </a:p>
        </p:txBody>
      </p:sp>
      <p:pic>
        <p:nvPicPr>
          <p:cNvPr id="19" name="Picture 18" descr="fig5_violi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41457" y="20579892"/>
            <a:ext cx="7798543" cy="2519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41457" y="23153891"/>
            <a:ext cx="7798543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5. Quality metrics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60000" y="23927892"/>
            <a:ext cx="15480000" cy="7200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6  Case Study: Alzheimer's Mouse Brain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820000" y="23927892"/>
            <a:ext cx="13320000" cy="7200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7  Conclusion &amp; Outlook</a:t>
            </a:r>
          </a:p>
        </p:txBody>
      </p:sp>
      <p:pic>
        <p:nvPicPr>
          <p:cNvPr id="23" name="Picture 22" descr="fig6_example_outp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0000" y="24827892"/>
            <a:ext cx="15480000" cy="1378356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60000" y="38665453"/>
            <a:ext cx="15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6. GSE263791 — 5xFAD mouse hippocampus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0000" y="38827453"/>
            <a:ext cx="1548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  <a:latin typeface="Calibri"/>
              </a:defRPr>
            </a:pPr>
            <a:r>
              <a:t>5xFAD Alzheimer's model (821 cells, 41 FOVs, 960 genes). (a) Spatial transcript counts: hippocampal regional differences. (b) UMAP by transcript count. (c) Leiden: 8 cell populations. (d) UMAP cluster validation. Microglia-astrocyte cross-talk in amyloid plaque niches revealed by spatial context.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20000" y="24827892"/>
            <a:ext cx="13320000" cy="137835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Key Achievements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Unified platform for CosMx, Xenium,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  and MERFISH spatial transcriptomics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2,410+ GEO datasets curated &amp; processed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  (269 GSEs, 4,478 GSM records)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50+ tissue types, 30+ disease states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Single config drives all 3 platforms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Touch + Stats: data integrity assurance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React static browser, no backend needed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Future Directions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Process 3,000+ pending GEO datasets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Multi-sample integrative analysis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Spatial multi-omics data support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Cloud-deployed pipeline (Docker/Singularity)</a:t>
            </a:r>
          </a:p>
          <a:p>
            <a:pPr>
              <a:spcAft>
                <a:spcPts val="200"/>
              </a:spcAft>
              <a:defRPr sz="1800">
                <a:solidFill>
                  <a:srgbClr val="2C3E50"/>
                </a:solidFill>
                <a:latin typeface="Calibri"/>
              </a:defRPr>
            </a:pPr>
            <a:r>
              <a:t>• Community dataset registry with DOI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42120000"/>
            <a:ext cx="32400000" cy="108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60000" y="42300000"/>
            <a:ext cx="29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Data: GEO (NCBI)  ·  Code: github.com/zf-li23/SubCellSpace (MIT)  ·  Tools: scanpy, squidpy, spatialdata, SCRIN, CellTypist  ·  Poster: Tsinghua University SLS Undergraduate 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