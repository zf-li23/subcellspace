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4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648000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SubCellSpace: A Unified Platform for</a:t>
            </a:r>
            <a:br/>
            <a:r>
              <a:t>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088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DC3C7"/>
                </a:solidFill>
                <a:latin typeface="Calibri"/>
              </a:defRPr>
            </a:pPr>
            <a:r>
              <a:t>Zhefu Li  ·  Tsinghua University, School of Life Sciences  ·  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27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5A5A6"/>
                </a:solidFill>
                <a:latin typeface="Calibri"/>
              </a:defRPr>
            </a:pPr>
            <a:r>
              <a:t>github.com/zf-li23/SubCellSpace  |  Data: GEO (269 GSEs) + Public Repositories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0000" y="360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pic>
        <p:nvPicPr>
          <p:cNvPr id="7" name="Picture 6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" y="4500000"/>
            <a:ext cx="18000000" cy="10571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0000" y="15143892"/>
            <a:ext cx="180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1. End-to-end pipeline: platform construction (top) + scverse-native analysis (bottom)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0000" y="15179892"/>
            <a:ext cx="29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Three phases drive 7 platform-building steps (Acquisition → Processing → Output). The unified 7-step analysis pipeline (Denoise → Patchify → Segment → Domain → Annotate → Spatial → Subcellular) is shared across CosMx, Xenium, and MERFISH.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16331892"/>
            <a:ext cx="14616000" cy="720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2  Database Composition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24000" y="16331892"/>
            <a:ext cx="14616000" cy="7200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3  File Completeness</a:t>
            </a:r>
          </a:p>
        </p:txBody>
      </p:sp>
      <p:pic>
        <p:nvPicPr>
          <p:cNvPr id="12" name="Picture 11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7231892"/>
            <a:ext cx="9360000" cy="64415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60000" y="23745475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2. Dataset counts by platform &amp;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0000" y="24033475"/>
            <a:ext cx="14616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2,410+ GEO entries across 3 platforms (1,019 ready). Xenium: 1,525 entries (717 ready), CosMx: 476 (186 ready), MERFISH: 130 (116 ready). Plus 998 non-GEO public datasets. 269 unique GSE series curated via NCBI E-utilities.</a:t>
            </a:r>
          </a:p>
        </p:txBody>
      </p:sp>
      <p:pic>
        <p:nvPicPr>
          <p:cNvPr id="15" name="Picture 14" descr="fig3_file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4000" y="17231892"/>
            <a:ext cx="9360000" cy="41065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524000" y="21410489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3. Optional file coverage by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24000" y="21698489"/>
            <a:ext cx="14616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CosMx: expression (96%), metadata (99%), FOV positions (100%). Xenium: cell boundaries (74%), nucleus boundaries (60%), gene panels (31%). MERFISH: expression (97%), metadata (98%). Touch module auto-normalizes all file types including naming inconsistencies.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0000" y="26193475"/>
            <a:ext cx="14616000" cy="7200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4  Biological 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524000" y="26193475"/>
            <a:ext cx="14616000" cy="720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5  Data Quality Metrics</a:t>
            </a:r>
          </a:p>
        </p:txBody>
      </p:sp>
      <p:pic>
        <p:nvPicPr>
          <p:cNvPr id="20" name="Picture 19" descr="fig4_tissue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27093475"/>
            <a:ext cx="10800000" cy="41336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60000" y="31299122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4. Top 10 tissues &amp; disease states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0000" y="31587122"/>
            <a:ext cx="1461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50+ tissue types, 30+ disease conditions. Brain, breast, lung, lymph node most represented. Normal, various cancers, Alzheimer's, Parkinson's. Both H. sapiens and M. musculus. Multi-region sampling for brain and tumor.</a:t>
            </a:r>
          </a:p>
        </p:txBody>
      </p:sp>
      <p:pic>
        <p:nvPicPr>
          <p:cNvPr id="23" name="Picture 22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24000" y="27093475"/>
            <a:ext cx="10800000" cy="348988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524000" y="30655357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5. Cross-platform quality (log₁₀ scale)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24000" y="30943357"/>
            <a:ext cx="1461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Xenium: highest transcripts/dataset (median 181K), 6,522-gene panels. MERFISH: most cells/experiment (median 18K, max 550K). CosMx: consistent 960-gene panels, highest per-cell transcripts (35,825). Platform-specific strengths inform experimental design.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60000" y="33927122"/>
            <a:ext cx="14616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6  Case Study: Alzheimer's Mouse Brain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524000" y="33927122"/>
            <a:ext cx="14616000" cy="720000"/>
          </a:xfrm>
          <a:prstGeom prst="round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7  Methods &amp; Implementation</a:t>
            </a:r>
          </a:p>
        </p:txBody>
      </p:sp>
      <p:pic>
        <p:nvPicPr>
          <p:cNvPr id="28" name="Picture 27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34827122"/>
            <a:ext cx="6480000" cy="576986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60000" y="40668985"/>
            <a:ext cx="64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 (821 cells, 960 genes)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0000" y="40956985"/>
            <a:ext cx="14616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(a) Spatial transcript counts: regional hippocampal differences. (b) UMAP by transcript count: continuous expression gradients. (c) Leiden clustering: 8 cell populations with spatial organization. (d) UMAP by cluster: neuronal &amp; glial subtypes in Alzheimer's model.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524000" y="34827122"/>
            <a:ext cx="14616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Data Acquisition: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NCBI GEO E-utilities: 269 GSEs, 4,478 GSM records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Public repos: Nanostring, Vizgen, 10x Genomics, Zenodo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Metadata: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GSM expansion via esummary (tissue, disease, PMIDs)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LLM annotation: DeepSeek for tissue/disease classification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Touch: automated file integrity &amp; normalization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Stats: zero-I/O streaming counts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Analysis (scverse-native):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Denoising: basic / SPARC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Segmentation: fov_cell_id / cellpose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Clustering: Leiden + spatial domain detection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Annotation: celltypist + SCRIN subcellular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Spatial: Moran's I / Geary's C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Frontend &amp; Reporting: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React + TypeScript static browser (no backend)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HTML report with publication-quality figures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Slurm HPC: job arrays, 10 concurrent tasks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2480000"/>
            <a:ext cx="32400000" cy="7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60000" y="42624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